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72" r:id="rId9"/>
    <p:sldId id="273" r:id="rId10"/>
    <p:sldId id="274" r:id="rId11"/>
    <p:sldId id="275" r:id="rId12"/>
    <p:sldId id="276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SAP O2C</a:t>
            </a:r>
            <a:br/>
            <a:r>
              <a:t>AI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9BDE"/>
                </a:solidFill>
                <a:latin typeface="Calibri"/>
              </a:defRPr>
            </a:pPr>
            <a:r>
              <a:t>From 17 Power Automate Flows to 4 Python Classes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AABB"/>
                </a:solidFill>
                <a:latin typeface="Calibri"/>
              </a:defRPr>
            </a:pPr>
            <a:r>
              <a:t>Open-source multi-agent system built on</a:t>
            </a:r>
            <a:br/>
            <a:r>
              <a:t>Google ADK + Gemini + MCP + SAP OData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FA5"/>
                </a:solidFill>
                <a:latin typeface="Calibri"/>
              </a:defRPr>
            </a:pPr>
            <a:r>
              <a:t>github.com/shekerkamma/SAP-O2C-Automation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AABB"/>
                </a:solidFill>
                <a:latin typeface="Calibri"/>
              </a:defRPr>
            </a:pPr>
            <a:r>
              <a:t>May 2026  |  Zero Cost  |  Production Ready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371600"/>
            <a:ext cx="2103120" cy="118872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0" y="1371600"/>
            <a:ext cx="210312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0" y="1554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9BDE"/>
                </a:solidFill>
                <a:latin typeface="Calibri"/>
              </a:defRPr>
            </a:pPr>
            <a:r>
              <a:t>17 →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148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AABB"/>
                </a:solidFill>
                <a:latin typeface="Calibri"/>
              </a:defRPr>
            </a:pPr>
            <a:r>
              <a:t>Flows to Classes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1371600"/>
            <a:ext cx="2103120" cy="118872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326880" y="1371600"/>
            <a:ext cx="210312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09760" y="1554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9BDE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148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AABB"/>
                </a:solidFill>
                <a:latin typeface="Calibri"/>
              </a:defRPr>
            </a:pPr>
            <a:r>
              <a:t>Sub-Agents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926080"/>
            <a:ext cx="2103120" cy="118872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0" y="2926080"/>
            <a:ext cx="210312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0" y="31089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9BDE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703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AABB"/>
                </a:solidFill>
                <a:latin typeface="Calibri"/>
              </a:defRPr>
            </a:pPr>
            <a:r>
              <a:t>MCP Tools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2926080"/>
            <a:ext cx="2103120" cy="118872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26880" y="2926080"/>
            <a:ext cx="210312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9760" y="31089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9BDE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703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AABB"/>
                </a:solidFill>
                <a:latin typeface="Calibri"/>
              </a:defRPr>
            </a:pPr>
            <a:r>
              <a:t>Total Cost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 — WHAT WE BUILT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8EEF4"/>
                </a:solidFill>
                <a:latin typeface="Calibri"/>
              </a:defRPr>
            </a:pPr>
            <a:r>
              <a:t>The enterprise Microsoft stack worked — but the complexity was in the tooling, not 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502920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ENTERPRISE STACK (Before)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EF4"/>
                </a:solidFill>
                <a:latin typeface="Calibri"/>
              </a:defRPr>
            </a:pPr>
            <a:r>
              <a:t>▸  MS Teams — user interface</a:t>
            </a:r>
          </a:p>
          <a:p>
            <a:pPr>
              <a:spcAft>
                <a:spcPts val="800"/>
              </a:spcAft>
              <a:defRPr sz="1500">
                <a:solidFill>
                  <a:srgbClr val="E8EEF4"/>
                </a:solidFill>
                <a:latin typeface="Calibri"/>
              </a:defRPr>
            </a:pPr>
            <a:r>
              <a:t>▸  Copilot Studio — conversation management</a:t>
            </a:r>
          </a:p>
          <a:p>
            <a:pPr>
              <a:spcAft>
                <a:spcPts val="800"/>
              </a:spcAft>
              <a:defRPr sz="1500">
                <a:solidFill>
                  <a:srgbClr val="E8EEF4"/>
                </a:solidFill>
                <a:latin typeface="Calibri"/>
              </a:defRPr>
            </a:pPr>
            <a:r>
              <a:t>▸  Power Automate — 17 flows for orchestration</a:t>
            </a:r>
          </a:p>
          <a:p>
            <a:pPr>
              <a:spcAft>
                <a:spcPts val="800"/>
              </a:spcAft>
              <a:defRPr sz="1500">
                <a:solidFill>
                  <a:srgbClr val="E8EEF4"/>
                </a:solidFill>
                <a:latin typeface="Calibri"/>
              </a:defRPr>
            </a:pPr>
            <a:r>
              <a:t>▸  Azure OpenAI — LLM layer</a:t>
            </a:r>
          </a:p>
          <a:p>
            <a:pPr>
              <a:spcAft>
                <a:spcPts val="800"/>
              </a:spcAft>
              <a:defRPr sz="1500">
                <a:solidFill>
                  <a:srgbClr val="E8EEF4"/>
                </a:solidFill>
                <a:latin typeface="Calibri"/>
              </a:defRPr>
            </a:pPr>
            <a:r>
              <a:t>▸  SAP OData APIs — business data</a:t>
            </a:r>
          </a:p>
          <a:p>
            <a:pPr>
              <a:spcAft>
                <a:spcPts val="800"/>
              </a:spcAft>
              <a:defRPr sz="1500">
                <a:solidFill>
                  <a:srgbClr val="E8EEF4"/>
                </a:solidFill>
                <a:latin typeface="Calibri"/>
              </a:defRPr>
            </a:pPr>
            <a:r>
              <a:t>▸  Adaptive Cards — rich responses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1206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AABB"/>
                </a:solidFill>
                <a:latin typeface="Calibri"/>
              </a:defRPr>
            </a:pPr>
            <a:r>
              <a:t>Each Power Automate flow manually constructed</a:t>
            </a:r>
            <a:br/>
            <a:r>
              <a:t>HTTP requests, parsed OData, handled pagination,</a:t>
            </a:r>
            <a:br/>
            <a:r>
              <a:t>managed auth tokens. Most "development" was</a:t>
            </a:r>
            <a:br/>
            <a:r>
              <a:t>clicking through the PA designer, not writing code.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011680"/>
            <a:ext cx="5212080" cy="41148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2011680"/>
            <a:ext cx="5212080" cy="54864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7C20"/>
                </a:solidFill>
                <a:latin typeface="Calibri"/>
              </a:defRPr>
            </a:pPr>
            <a:r>
              <a:t>PAIN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7C20"/>
                </a:solidFill>
                <a:latin typeface="Calibri"/>
              </a:defRPr>
            </a:pPr>
            <a:r>
              <a:t>17 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83464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Each SAP operation (get order, create delivery,</a:t>
            </a:r>
            <a:br/>
            <a:r>
              <a:t>check stock) needed its own Power Automate flow</a:t>
            </a:r>
            <a:br/>
            <a:r>
              <a:t>with its own error handling, auth, and retry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7C20"/>
                </a:solidFill>
                <a:latin typeface="Calibri"/>
              </a:defRPr>
            </a:pPr>
            <a:r>
              <a:t>Vendor Lock-in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70332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Copilot Studio + Power Automate + Azure OpenAI</a:t>
            </a:r>
            <a:br/>
            <a:r>
              <a:t>= $$$$ monthly licensing per 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7C20"/>
                </a:solidFill>
                <a:latin typeface="Calibri"/>
              </a:defRPr>
            </a:pPr>
            <a:r>
              <a:t>Fragile Glue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57200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Conditional routing between flows broke on</a:t>
            </a:r>
            <a:br/>
            <a:r>
              <a:t>SAP upgrades; no cross-entity 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4406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7C20"/>
                </a:solidFill>
                <a:latin typeface="Calibri"/>
              </a:defRPr>
            </a:pPr>
            <a:r>
              <a:t>No Code Ownership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440679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Click-to-configure designer — can't version</a:t>
            </a:r>
            <a:br/>
            <a:r>
              <a:t>control, can't test, can't refactor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SOLUTION — WHAT WE REBUILT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BDE"/>
                </a:solidFill>
                <a:latin typeface="Calibri"/>
              </a:defRPr>
            </a:pPr>
            <a:r>
              <a:t>Same functionality. 4 Python classes. Zero cost. Open source.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2560320" cy="22860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256032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BDE"/>
                </a:solidFill>
                <a:latin typeface="Calibri"/>
              </a:defRPr>
            </a:pPr>
            <a:r>
              <a:t>product_agent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AABB"/>
                </a:solidFill>
                <a:latin typeface="Calibri"/>
              </a:defRPr>
            </a:pPr>
            <a:r>
              <a:t>~40 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Product catalog lookups,</a:t>
            </a:r>
            <a:br/>
            <a:r>
              <a:t>material master data,</a:t>
            </a:r>
            <a:br/>
            <a:r>
              <a:t>weights &amp; dimensions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40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agent/sub_agents/product/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2011680"/>
            <a:ext cx="2560320" cy="22860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66160" y="2011680"/>
            <a:ext cx="2560320" cy="5486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0332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5"/>
                </a:solidFill>
                <a:latin typeface="Calibri"/>
              </a:defRPr>
            </a:pPr>
            <a:r>
              <a:t>inventory_agent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AABB"/>
                </a:solidFill>
                <a:latin typeface="Calibri"/>
              </a:defRPr>
            </a:pPr>
            <a:r>
              <a:t>~40 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9260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Stock level checks,</a:t>
            </a:r>
            <a:br/>
            <a:r>
              <a:t>material availability,</a:t>
            </a:r>
            <a:br/>
            <a:r>
              <a:t>ATP by plant/storage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840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agent/sub_agents/inventory/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011680"/>
            <a:ext cx="2560320" cy="22860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2011680"/>
            <a:ext cx="25603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sales_order_agent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AABB"/>
                </a:solidFill>
                <a:latin typeface="Calibri"/>
              </a:defRPr>
            </a:pPr>
            <a:r>
              <a:t>~40 lines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9260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Sales order CRUD,</a:t>
            </a:r>
            <a:br/>
            <a:r>
              <a:t>line items, status,</a:t>
            </a:r>
            <a:br/>
            <a:r>
              <a:t>customer filtering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840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agent/sub_agents/sales_order/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2011680"/>
            <a:ext cx="2560320" cy="22860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235440" y="2011680"/>
            <a:ext cx="2560320" cy="54864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7260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7C20"/>
                </a:solidFill>
                <a:latin typeface="Calibri"/>
              </a:defRPr>
            </a:pPr>
            <a:r>
              <a:t>delivery_agent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AABB"/>
                </a:solidFill>
                <a:latin typeface="Calibri"/>
              </a:defRPr>
            </a:pPr>
            <a:r>
              <a:t>~40 lines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9260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Outbound delivery,</a:t>
            </a:r>
            <a:br/>
            <a:r>
              <a:t>picking, goods issue,</a:t>
            </a:r>
            <a:br/>
            <a:r>
              <a:t>shipment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840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agent/sub_agents/outbound_delivery/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BDE"/>
                </a:solidFill>
                <a:latin typeface="Calibri"/>
              </a:defRPr>
            </a:pPr>
            <a:r>
              <a:t>PLUS 3 ANALYSIS AGENTS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029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FA5"/>
                </a:solidFill>
                <a:latin typeface="Calibri"/>
              </a:defRPr>
            </a:pPr>
            <a:r>
              <a:t>charts_agent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0292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Visual analytics — branded bar/pie/line charts from SAP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486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FA5"/>
                </a:solidFill>
                <a:latin typeface="Calibri"/>
              </a:defRPr>
            </a:pPr>
            <a:r>
              <a:t>cross_entity_analyst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4864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Multi-entity synthesis — orders + stock + deliveries combined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943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FA5"/>
                </a:solidFill>
                <a:latin typeface="Calibri"/>
              </a:defRPr>
            </a:pPr>
            <a:r>
              <a:t>single_entity_analyst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9436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Single-entity deep dives — filtered queries on one SAP object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572000"/>
            <a:ext cx="4572000" cy="164592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858000" y="4572000"/>
            <a:ext cx="54864" cy="1645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32320" y="4709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59B6"/>
                </a:solidFill>
                <a:latin typeface="Calibri"/>
              </a:defRPr>
            </a:pPr>
            <a:r>
              <a:t>root_agent (coordinator)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507492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35 lines of Python. Counts entity types in the</a:t>
            </a:r>
            <a:br/>
            <a:r>
              <a:t>user's question to route: 1 entity → single analyst,</a:t>
            </a:r>
            <a:br/>
            <a:r>
              <a:t>2+ entities → cross analyst, CRUD → specialist,</a:t>
            </a:r>
            <a:br/>
            <a:r>
              <a:t>charts → visual analyst. LLM IS the router.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IT WORKS — REAL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74980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4864" cy="749808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444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BDE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4447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adk web on port 8080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7373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Browser chat UI built into ADK — agent dropdown, conversation 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57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9BDE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40280"/>
            <a:ext cx="10698480" cy="74980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240280"/>
            <a:ext cx="54864" cy="7498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3134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FA5"/>
                </a:solidFill>
                <a:latin typeface="Calibri"/>
              </a:defRPr>
            </a:pPr>
            <a:r>
              <a:t>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3134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agent/ — 7 Python sub-agents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6060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Coordinator routes to specialists via transfer_to_agent(). Each ~40 lines.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926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FA5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108960"/>
            <a:ext cx="10698480" cy="74980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108960"/>
            <a:ext cx="54864" cy="749808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1821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20"/>
                </a:solidFill>
                <a:latin typeface="Calibri"/>
              </a:defRPr>
            </a:pPr>
            <a:r>
              <a:t>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1821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Gemini 2.5 Flash (AI Studio)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4747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Free tier: 10 RPM, 250 req/day. No credit card. 1M token context.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94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7C20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977639"/>
            <a:ext cx="10698480" cy="74980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3977639"/>
            <a:ext cx="54864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05079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MCP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05079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mcp-server/ — 11 OData 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34339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Node.js subprocess via stdio. Generic tools: connect, query, CRUD, metadata.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66343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AE60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846320"/>
            <a:ext cx="10698480" cy="74980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1520" y="4846320"/>
            <a:ext cx="54864" cy="74980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49194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59B6"/>
                </a:solidFill>
                <a:latin typeface="Calibri"/>
              </a:defRPr>
            </a:pPr>
            <a:r>
              <a:t>GATEWAY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919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SAP BTP API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52120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Holds all SAP credentials in encrypted Named Values. Spike arrest, SSL enforcement.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532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B59B6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715000"/>
            <a:ext cx="10698480" cy="74980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31520" y="5715000"/>
            <a:ext cx="54864" cy="7498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5840" y="57881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SAP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57881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 backend modes, zero code changes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6080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Mock (APIM built-in) → POC (api.sap.com sandbox) → Real (S/4HANA). One URL swap.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MCP SERVER — 11 GENERIC SAP ODATA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EF4"/>
                </a:solidFill>
                <a:latin typeface="Calibri"/>
              </a:defRPr>
            </a:pPr>
            <a:r>
              <a:t>mcp-server/src/tool-definitions.ts — one server replaces 17 Power Automate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212080" cy="6400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4864" cy="640080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BDE"/>
                </a:solidFill>
                <a:latin typeface="Calibri"/>
              </a:defRPr>
            </a:pPr>
            <a:r>
              <a:t>sap_connect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Connect to SAP OData service (Basic Auth / API Key)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5212080" cy="6400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560320"/>
            <a:ext cx="54864" cy="64008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FA5"/>
                </a:solidFill>
                <a:latin typeface="Calibri"/>
              </a:defRPr>
            </a:pPr>
            <a:r>
              <a:t>sap_get_services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80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Discover available OData services via Gateway catalog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91840"/>
            <a:ext cx="5212080" cy="6400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291840"/>
            <a:ext cx="54864" cy="64008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337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FA5"/>
                </a:solidFill>
                <a:latin typeface="Calibri"/>
              </a:defRPr>
            </a:pPr>
            <a:r>
              <a:t>sap_get_service_metadata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Read $metadata — entity sets, properties, keys, nav props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5212080" cy="6400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4023360"/>
            <a:ext cx="54864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sap_query_entity_set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Query with $filter, $orderby, $top, $skip, $expand, $select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754880"/>
            <a:ext cx="5212080" cy="6400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4754880"/>
            <a:ext cx="54864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4800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sap_get_entity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Get single entity by key values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486400"/>
            <a:ext cx="5212080" cy="6400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" y="5486400"/>
            <a:ext cx="54864" cy="640080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5532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20"/>
                </a:solidFill>
                <a:latin typeface="Calibri"/>
              </a:defRPr>
            </a:pPr>
            <a:r>
              <a:t>sap_create_entity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806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Create new entity (POST)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828800"/>
            <a:ext cx="5212080" cy="6400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1828800"/>
            <a:ext cx="54864" cy="640080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1874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20"/>
                </a:solidFill>
                <a:latin typeface="Calibri"/>
              </a:defRPr>
            </a:pPr>
            <a:r>
              <a:t>sap_update_entity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Update entity (PATCH/PUT)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560320"/>
            <a:ext cx="5212080" cy="6400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0" y="2560320"/>
            <a:ext cx="54864" cy="640080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20"/>
                </a:solidFill>
                <a:latin typeface="Calibri"/>
              </a:defRPr>
            </a:pPr>
            <a:r>
              <a:t>sap_delete_entity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2880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Delete entity (DELETE)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291840"/>
            <a:ext cx="5212080" cy="6400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17920" y="3291840"/>
            <a:ext cx="54864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92240" y="3337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sap_get_count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Count entities with optional filter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023360"/>
            <a:ext cx="5212080" cy="6400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17920" y="4023360"/>
            <a:ext cx="54864" cy="6400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9224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59B6"/>
                </a:solidFill>
                <a:latin typeface="Calibri"/>
              </a:defRPr>
            </a:pPr>
            <a:r>
              <a:t>sap_call_function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Call SAP function imports (BAPIs)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754880"/>
            <a:ext cx="5212080" cy="6400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217920" y="4754880"/>
            <a:ext cx="54864" cy="6400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92240" y="4800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sap_batch_request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Execute multiple operations in a single batch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31520" y="5669280"/>
            <a:ext cx="1069848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05840" y="5806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KEY INSIGHT: These 11 generic tools work with ANY SAP OData service — no per-entity coding needed.</a:t>
            </a:r>
            <a:br/>
            <a:r>
              <a:t>MCP replaced all the glue code. Each agent just declares which tools it can 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USE CASES — WHAT THE AGENTS ACTUALLY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EF4"/>
                </a:solidFill>
                <a:latin typeface="Calibri"/>
              </a:defRPr>
            </a:pPr>
            <a:r>
              <a:t>Real queries the system handles today — routed by the coordinator's entity-counting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394960" cy="150876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39496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Product Lookup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8562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9BDE"/>
                </a:solidFill>
                <a:latin typeface="Calibri"/>
              </a:defRPr>
            </a:pPr>
            <a:r>
              <a:t>product_specialist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BDE"/>
                </a:solidFill>
                <a:latin typeface="Calibri"/>
              </a:defRPr>
            </a:pPr>
            <a:r>
              <a:t>"List our finished goods with weights"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14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Coordinator → product_specialist → sap_query_entity_set (API_PRODUCT_SRV/A_Product) → formatted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803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9BDE"/>
                </a:solidFill>
                <a:latin typeface="Calibri"/>
              </a:defRPr>
            </a:pPr>
            <a:r>
              <a:t>SAP: API_PRODUCT_SRV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737360"/>
            <a:ext cx="5394960" cy="150876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394960" cy="5486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Stock Check &amp; ATP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8562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0BFA5"/>
                </a:solidFill>
                <a:latin typeface="Calibri"/>
              </a:defRPr>
            </a:pPr>
            <a:r>
              <a:t>inventory_manager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194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BDE"/>
                </a:solidFill>
                <a:latin typeface="Calibri"/>
              </a:defRPr>
            </a:pPr>
            <a:r>
              <a:t>"Check stock for LAPTOP-01 in plant 1000"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514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Coordinator → inventory_manager → sap_query_entity_set (API_MATERIAL_STOCK_SRV) → availability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8803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BFA5"/>
                </a:solidFill>
                <a:latin typeface="Calibri"/>
              </a:defRPr>
            </a:pPr>
            <a:r>
              <a:t>SAP: API_MATERIAL_STOCK_SRV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383280"/>
            <a:ext cx="5394960" cy="150876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383280"/>
            <a:ext cx="53949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Order Creation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502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7AE60"/>
                </a:solidFill>
                <a:latin typeface="Calibri"/>
              </a:defRPr>
            </a:pPr>
            <a:r>
              <a:t>sales_order_manager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840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BDE"/>
                </a:solidFill>
                <a:latin typeface="Calibri"/>
              </a:defRPr>
            </a:pPr>
            <a:r>
              <a:t>"Create a sales order for 500 units of MAT-1001, customer 17100001"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160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Coordinator → sales_order_manager → sap_create_entity (API_SALES_ORDER_SRV/A_SalesOrder) → order confirmation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52628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7AE60"/>
                </a:solidFill>
                <a:latin typeface="Calibri"/>
              </a:defRPr>
            </a:pPr>
            <a:r>
              <a:t>SAP: API_SALES_ORDER_SRV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383280"/>
            <a:ext cx="5394960" cy="150876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0" y="3383280"/>
            <a:ext cx="5394960" cy="54864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Delivery &amp; Goods Issue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3502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57C20"/>
                </a:solidFill>
                <a:latin typeface="Calibri"/>
              </a:defRPr>
            </a:pPr>
            <a:r>
              <a:t>delivery_specialist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840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BDE"/>
                </a:solidFill>
                <a:latin typeface="Calibri"/>
              </a:defRPr>
            </a:pPr>
            <a:r>
              <a:t>"Create outbound delivery for order 14, confirm picking, post goods issue"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160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Coordinator → delivery_specialist → sap_create_entity + sap_update_entity (API_OUTBOUND_DELIVERY_SRV) → delivery doc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52628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7C20"/>
                </a:solidFill>
                <a:latin typeface="Calibri"/>
              </a:defRPr>
            </a:pPr>
            <a:r>
              <a:t>SAP: API_OUTBOUND_DELIVERY_SRV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029200"/>
            <a:ext cx="5394960" cy="150876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31520" y="5029200"/>
            <a:ext cx="539496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5120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Fulfillment Check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5148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9B59B6"/>
                </a:solidFill>
                <a:latin typeface="Calibri"/>
              </a:defRPr>
            </a:pPr>
            <a:r>
              <a:t>cross_entity_analyst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486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BDE"/>
                </a:solidFill>
                <a:latin typeface="Calibri"/>
              </a:defRPr>
            </a:pPr>
            <a:r>
              <a:t>"Can we fulfill order 10?" (2+ entities: orders + inventory + deliveries)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806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Coordinator → cross_entity_analyst → queries 3 SAP services → synthesized yes/no with stock gaps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6172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B59B6"/>
                </a:solidFill>
                <a:latin typeface="Calibri"/>
              </a:defRPr>
            </a:pPr>
            <a:r>
              <a:t>SAP: Multiple OData services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5029200"/>
            <a:ext cx="5394960" cy="150876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400800" y="5029200"/>
            <a:ext cx="539496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37960" y="5120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Visual 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5148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74C3C"/>
                </a:solidFill>
                <a:latin typeface="Calibri"/>
              </a:defRPr>
            </a:pPr>
            <a:r>
              <a:t>visual_analyst (charts)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5486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9BDE"/>
                </a:solidFill>
                <a:latin typeface="Calibri"/>
              </a:defRPr>
            </a:pPr>
            <a:r>
              <a:t>"Show me an order value breakdown chart by customer"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5806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Coordinator → visual_analyst → queries order data → generates branded chart artifact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6172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74C3C"/>
                </a:solidFill>
                <a:latin typeface="Calibri"/>
              </a:defRPr>
            </a:pPr>
            <a:r>
              <a:t>SAP: API_SALES_ORDER_SRV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USE CASE 1: PRODUCT CATALOG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9BDE"/>
                </a:solidFill>
                <a:latin typeface="Calibri"/>
              </a:defRPr>
            </a:pPr>
            <a:r>
              <a:t>product_specialist  ·  agent/sub_agents/product/  ·  API_PRODUCT_SRV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303520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30352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BDE"/>
                </a:solidFill>
                <a:latin typeface="Calibri"/>
              </a:defRPr>
            </a:pPr>
            <a:r>
              <a:t>USER SAYS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"List our finished goods with weights"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"Get details for product LAPTOP-01"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"Create a new product master record for MAT-2000"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120640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120640" cy="5486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FA5"/>
                </a:solidFill>
                <a:latin typeface="Calibri"/>
              </a:defRPr>
            </a:pPr>
            <a:r>
              <a:t>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7451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Coordinator counts 1 entity type (products) → single_entity_analyst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For CRUD operations → routes directly to product_specialist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743200"/>
            <a:ext cx="5303520" cy="36576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54864" cy="3657600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2880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BDE"/>
                </a:solidFill>
                <a:latin typeface="Calibri"/>
              </a:defRPr>
            </a:pPr>
            <a:r>
              <a:t>AGENT: product_specialist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291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AABB"/>
                </a:solidFill>
                <a:latin typeface="Calibri"/>
              </a:defRPr>
            </a:pPr>
            <a:r>
              <a:t>File: agent/sub_agents/product/agent.py (~40 lines)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57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FA5"/>
                </a:solidFill>
                <a:latin typeface="Calibri"/>
              </a:defRPr>
            </a:pPr>
            <a:r>
              <a:t>SAP OData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9319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Service: API_PRODUCT_SRV</a:t>
            </a:r>
          </a:p>
          <a:p>
            <a:pPr>
              <a:spcAft>
                <a:spcPts val="3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Entity Set: A_Product</a:t>
            </a:r>
          </a:p>
          <a:p>
            <a:pPr>
              <a:spcAft>
                <a:spcPts val="3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Fields: Product, ProductType, ProductGroup, GrossWeight,</a:t>
            </a:r>
          </a:p>
          <a:p>
            <a:pPr>
              <a:spcAft>
                <a:spcPts val="3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         NetWeight, WeightUnit, BaseUnit, ProductDescription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9377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FA5"/>
                </a:solidFill>
                <a:latin typeface="Calibri"/>
              </a:defRPr>
            </a:pPr>
            <a:r>
              <a:t>MCP Tool Calls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2120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9AABB"/>
                </a:solidFill>
                <a:latin typeface="Calibri"/>
              </a:defRPr>
            </a:pPr>
            <a:r>
              <a:t>sap_query_entity_set(serviceName="API_PRODUCT_SRV",</a:t>
            </a:r>
          </a:p>
          <a:p>
            <a:pPr>
              <a:spcAft>
                <a:spcPts val="200"/>
              </a:spcAft>
              <a:defRPr sz="1100">
                <a:solidFill>
                  <a:srgbClr val="99AABB"/>
                </a:solidFill>
                <a:latin typeface="Calibri"/>
              </a:defRPr>
            </a:pPr>
            <a:r>
              <a:t>    entitySet="A_Product")</a:t>
            </a:r>
          </a:p>
          <a:p>
            <a:pPr>
              <a:spcAft>
                <a:spcPts val="200"/>
              </a:spcAft>
              <a:defRPr sz="1100">
                <a:solidFill>
                  <a:srgbClr val="99AABB"/>
                </a:solidFill>
                <a:latin typeface="Calibri"/>
              </a:defRPr>
            </a:pPr>
            <a:r>
              <a:t>sap_get_entity(serviceName="API_PRODUCT_SRV",</a:t>
            </a:r>
          </a:p>
          <a:p>
            <a:pPr>
              <a:spcAft>
                <a:spcPts val="200"/>
              </a:spcAft>
              <a:defRPr sz="1100">
                <a:solidFill>
                  <a:srgbClr val="99AABB"/>
                </a:solidFill>
                <a:latin typeface="Calibri"/>
              </a:defRPr>
            </a:pPr>
            <a:r>
              <a:t>    entitySet="A_Product", keyValues={"Product": "LAPTOP-01"})</a:t>
            </a:r>
          </a:p>
          <a:p>
            <a:pPr>
              <a:spcAft>
                <a:spcPts val="200"/>
              </a:spcAft>
              <a:defRPr sz="1100">
                <a:solidFill>
                  <a:srgbClr val="99AABB"/>
                </a:solidFill>
                <a:latin typeface="Calibri"/>
              </a:defRPr>
            </a:pPr>
            <a:r>
              <a:t>sap_create_entity(serviceName="API_PRODUCT_SRV",</a:t>
            </a:r>
          </a:p>
          <a:p>
            <a:pPr>
              <a:spcAft>
                <a:spcPts val="200"/>
              </a:spcAft>
              <a:defRPr sz="1100">
                <a:solidFill>
                  <a:srgbClr val="99AABB"/>
                </a:solidFill>
                <a:latin typeface="Calibri"/>
              </a:defRPr>
            </a:pPr>
            <a:r>
              <a:t>    entitySet="A_Product", data={...})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743200"/>
            <a:ext cx="5120640" cy="36576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2743200"/>
            <a:ext cx="54864" cy="3657600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7C20"/>
                </a:solidFill>
                <a:latin typeface="Calibri"/>
              </a:defRPr>
            </a:pPr>
            <a:r>
              <a:t>CAPABILITIES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291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Search &amp; Retrieve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291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Full product catalog queries with filtering</a:t>
            </a:r>
            <a:br/>
            <a:r>
              <a:t>by type (FERT=finished goods), group, weight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9502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Multi-Language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95020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Product descriptions in multiple languages</a:t>
            </a:r>
            <a:br/>
            <a:r>
              <a:t>via A_ProductDescription navigation property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6085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Plant-Specific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60857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Retrieve plant assignments and configurations</a:t>
            </a:r>
            <a:br/>
            <a:r>
              <a:t>for material planning per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2669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CRUD Operations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26694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Create, update, delete product master records</a:t>
            </a:r>
            <a:br/>
            <a:r>
              <a:t>when authorized by the user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9253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O2C 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592531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Feeds product data to inventory checks,</a:t>
            </a:r>
            <a:br/>
            <a:r>
              <a:t>order validation, and delivery planning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USE CASE 2: INVENTORY &amp; STOCK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BFA5"/>
                </a:solidFill>
                <a:latin typeface="Calibri"/>
              </a:defRPr>
            </a:pPr>
            <a:r>
              <a:t>inventory_manager  ·  agent/sub_agents/inventory/  ·  API_MATERIAL_STOCK_SRV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303520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303520" cy="5486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FA5"/>
                </a:solidFill>
                <a:latin typeface="Calibri"/>
              </a:defRPr>
            </a:pPr>
            <a:r>
              <a:t>USER SAYS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"Check stock for LAPTOP-01 in plant 1000"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"Show me all inventory levels across warehouses"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"Do we have 500 units of MAT-1001 available?"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120640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12064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BDE"/>
                </a:solidFill>
                <a:latin typeface="Calibri"/>
              </a:defRPr>
            </a:pPr>
            <a:r>
              <a:t>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7451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Coordinator counts 1 entity type (inventory) → single_entity_analyst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BEHAVIOUR: Never asks 'shall I proceed?' — queries immediately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743200"/>
            <a:ext cx="5303520" cy="36576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54864" cy="36576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2880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5"/>
                </a:solidFill>
                <a:latin typeface="Calibri"/>
              </a:defRPr>
            </a:pPr>
            <a:r>
              <a:t>AGENT: inventory_manager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291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AABB"/>
                </a:solidFill>
                <a:latin typeface="Calibri"/>
              </a:defRPr>
            </a:pPr>
            <a:r>
              <a:t>File: agent/sub_agents/inventory/agent.py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57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BDE"/>
                </a:solidFill>
                <a:latin typeface="Calibri"/>
              </a:defRPr>
            </a:pPr>
            <a:r>
              <a:t>SAP OData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9319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Service: API_MATERIAL_STOCK_SRV</a:t>
            </a:r>
          </a:p>
          <a:p>
            <a:pPr>
              <a:spcAft>
                <a:spcPts val="3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Entity Set: A_MatlStkInAcctMod</a:t>
            </a:r>
          </a:p>
          <a:p>
            <a:pPr>
              <a:spcAft>
                <a:spcPts val="3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Fields: Material, Plant, StorageLocation,</a:t>
            </a:r>
          </a:p>
          <a:p>
            <a:pPr>
              <a:spcAft>
                <a:spcPts val="3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         MatlWrhsStkQtyInMatlBaseUnit (unrestricted stock)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548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BDE"/>
                </a:solidFill>
                <a:latin typeface="Calibri"/>
              </a:defRPr>
            </a:pPr>
            <a:r>
              <a:t>Stock Type Awareness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29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▸ Unrestricted Stock — available for customer orders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▸ Restricted Stock — quality inspection or blocked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▸ Blocked Stock — not available for use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▸ Filters finished goods by type FERT automatically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743200"/>
            <a:ext cx="5120640" cy="36576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2743200"/>
            <a:ext cx="54864" cy="3657600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7C20"/>
                </a:solidFill>
                <a:latin typeface="Calibri"/>
              </a:defRPr>
            </a:pPr>
            <a:r>
              <a:t>KEY BEHAVIOURS (from prompt.py)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337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Immediate Execution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337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When given a list of materials and quantities,</a:t>
            </a:r>
            <a:br/>
            <a:r>
              <a:t>immediately calls sap_query_entity_set for each</a:t>
            </a:r>
            <a:br/>
            <a:r>
              <a:t>material — never asks for confirmation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9959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Sufficiency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99592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Fetches stock → compares to required quantity →</a:t>
            </a:r>
            <a:br/>
            <a:r>
              <a:t>states clearly if sufficient or insufficient.</a:t>
            </a:r>
            <a:br/>
            <a:r>
              <a:t>All in one response, no back-and-forth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6542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Multi-Location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65429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Checks across plants and storage locations.</a:t>
            </a:r>
            <a:br/>
            <a:r>
              <a:t>Provides plant/storage breakdown in 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3126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Alternative Suggestions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31266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If stock insufficient, provides partial</a:t>
            </a:r>
            <a:br/>
            <a:r>
              <a:t>availability options and suggests alternatives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97103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MCP Tool Example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5971031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sap_query_entity_set(</a:t>
            </a:r>
            <a:br/>
            <a:r>
              <a:t>  serviceName="API_MATERIAL_STOCK_SRV",</a:t>
            </a:r>
            <a:br/>
            <a:r>
              <a:t>  entitySet="A_MatlStkInAcctMod",</a:t>
            </a:r>
            <a:br/>
            <a:r>
              <a:t>  filter="Material eq 'LAPTOP-01'")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USE CASE 3: SALES ORDER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7AE60"/>
                </a:solidFill>
                <a:latin typeface="Calibri"/>
              </a:defRPr>
            </a:pPr>
            <a:r>
              <a:t>sales_order_manager  ·  agent/sub_agents/sales_order/  ·  API_SALES_ORDER_SRV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303520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3035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USER SAYS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"Show me all open orders"  (status A = Open, B = Partial, C = Complete)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"Create a sales order: 500 units MAT-1001, customer 17100001"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"What is the status of order 14?"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120640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12064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BDE"/>
                </a:solidFill>
                <a:latin typeface="Calibri"/>
              </a:defRPr>
            </a:pPr>
            <a:r>
              <a:t>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7451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Read queries → single_entity_analyst (uses build_sales_order_query QB tool)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CRUD operations → sales_order_manager (direct routing by coordinator)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743200"/>
            <a:ext cx="5303520" cy="36576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54864" cy="3657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2880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SAP OData: API_SALES_ORDER_SRV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337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BDE"/>
                </a:solidFill>
                <a:latin typeface="Calibri"/>
              </a:defRPr>
            </a:pPr>
            <a:r>
              <a:t>Entity Sets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118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8EEF4"/>
                </a:solidFill>
                <a:latin typeface="Calibri"/>
              </a:defRPr>
            </a:pPr>
            <a:r>
              <a:t>A_SalesOrder — header: SalesOrder, SalesOrderType, SoldToParty,</a:t>
            </a:r>
          </a:p>
          <a:p>
            <a:pPr>
              <a:spcAft>
                <a:spcPts val="200"/>
              </a:spcAft>
              <a:defRPr sz="1100">
                <a:solidFill>
                  <a:srgbClr val="E8EEF4"/>
                </a:solidFill>
                <a:latin typeface="Calibri"/>
              </a:defRPr>
            </a:pPr>
            <a:r>
              <a:t>    TotalNetAmount, OverallDeliveryStatus, OverallSDProcessStatus</a:t>
            </a:r>
          </a:p>
          <a:p>
            <a:pPr>
              <a:spcAft>
                <a:spcPts val="200"/>
              </a:spcAft>
              <a:defRPr sz="1100">
                <a:solidFill>
                  <a:srgbClr val="E8EEF4"/>
                </a:solidFill>
                <a:latin typeface="Calibri"/>
              </a:defRPr>
            </a:pPr>
            <a:r>
              <a:t>A_SalesOrderItem — line items: Material, OrderQuantity,</a:t>
            </a:r>
          </a:p>
          <a:p>
            <a:pPr>
              <a:spcAft>
                <a:spcPts val="200"/>
              </a:spcAft>
              <a:defRPr sz="1100">
                <a:solidFill>
                  <a:srgbClr val="E8EEF4"/>
                </a:solidFill>
                <a:latin typeface="Calibri"/>
              </a:defRPr>
            </a:pPr>
            <a:r>
              <a:t>    RequestedQuantity, NetAmount, TransactionCurrency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80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BDE"/>
                </a:solidFill>
                <a:latin typeface="Calibri"/>
              </a:defRPr>
            </a:pPr>
            <a:r>
              <a:t>Status Codes (from prompt.py)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548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A = Open/In Process    B = Partially Delivered    C = Completed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Order Types: OR (Standard), RO (Rush), CO (Consignment), RE (Returns)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94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BDE"/>
                </a:solidFill>
                <a:latin typeface="Calibri"/>
              </a:defRPr>
            </a:pPr>
            <a:r>
              <a:t>Mock Data (from mock-server.js)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6692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8EEF4"/>
                </a:solidFill>
                <a:latin typeface="Calibri"/>
              </a:defRPr>
            </a:pPr>
            <a:r>
              <a:t>50+ sales orders from SAP API Business Hub sandbox</a:t>
            </a:r>
          </a:p>
          <a:p>
            <a:pPr>
              <a:spcAft>
                <a:spcPts val="300"/>
              </a:spcAft>
              <a:defRPr sz="1100">
                <a:solidFill>
                  <a:srgbClr val="E8EEF4"/>
                </a:solidFill>
                <a:latin typeface="Calibri"/>
              </a:defRPr>
            </a:pPr>
            <a:r>
              <a:t>Orders range from $35.10 to $70,200.00 across 10+ customers</a:t>
            </a:r>
          </a:p>
          <a:p>
            <a:pPr>
              <a:spcAft>
                <a:spcPts val="300"/>
              </a:spcAft>
              <a:defRPr sz="1100">
                <a:solidFill>
                  <a:srgbClr val="E8EEF4"/>
                </a:solidFill>
                <a:latin typeface="Calibri"/>
              </a:defRPr>
            </a:pPr>
            <a:r>
              <a:t>Mix of open (A), partial (B), and completed (C) statuses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743200"/>
            <a:ext cx="5120640" cy="36576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9360" y="2743200"/>
            <a:ext cx="54864" cy="3657600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7C20"/>
                </a:solidFill>
                <a:latin typeface="Calibri"/>
              </a:defRPr>
            </a:pPr>
            <a:r>
              <a:t>KEY BEHAVIOURS (from prompt.py)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291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Never Asks to Proceed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2918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Multi-step tasks execute in one go.</a:t>
            </a:r>
            <a:br/>
            <a:r>
              <a:t>Header + items created together,</a:t>
            </a:r>
            <a:br/>
            <a:r>
              <a:t>never pauses between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9684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Query Before Clarify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968496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Always queries SAP first, explains after.</a:t>
            </a:r>
            <a:br/>
            <a:r>
              <a:t>Never asks 'what do you mean by open?'</a:t>
            </a:r>
            <a:br/>
            <a:r>
              <a:t>— fetches all, labels each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645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Fulfillment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64515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When asked about fulfillment, fetches</a:t>
            </a:r>
            <a:br/>
            <a:r>
              <a:t>A_SalesOrder AND A_SalesOrderItem to</a:t>
            </a:r>
            <a:br/>
            <a:r>
              <a:t>get Materials + OrderQuantity for</a:t>
            </a:r>
            <a:br/>
            <a:r>
              <a:t>inventory agent consumption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3218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Full CRUD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32180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Create: sap_create_entity (POST)</a:t>
            </a:r>
            <a:br/>
            <a:r>
              <a:t>Update: sap_update_entity (PATCH)</a:t>
            </a:r>
            <a:br/>
            <a:r>
              <a:t>Read: sap_query_entity_set + sap_get_entity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9984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20"/>
                </a:solidFill>
                <a:latin typeface="Calibri"/>
              </a:defRPr>
            </a:pPr>
            <a:r>
              <a:t>▸ Order Lifecycle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5998464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Tracks from Created → Released →</a:t>
            </a:r>
            <a:br/>
            <a:r>
              <a:t>Partially Delivered → Completed.</a:t>
            </a:r>
            <a:br/>
            <a:r>
              <a:t>Handles cancellations and blocks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USE CASE 4: OUTBOUND DELIVERY &amp; GOODS ISSUE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7C20"/>
                </a:solidFill>
                <a:latin typeface="Calibri"/>
              </a:defRPr>
            </a:pPr>
            <a:r>
              <a:t>delivery_specialist  ·  agent/sub_agents/outbound_delivery/  ·  API_OUTBOUND_DELIVERY_SRV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303520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303520" cy="54864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7C20"/>
                </a:solidFill>
                <a:latin typeface="Calibri"/>
              </a:defRPr>
            </a:pPr>
            <a:r>
              <a:t>USER SAYS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"Create outbound delivery for order 14"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"Confirm picking and post goods issue for delivery 80000010"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"Show pending deliveries"  (OverallGoodsMovementStatus = 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120640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12064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BDE"/>
                </a:solidFill>
                <a:latin typeface="Calibri"/>
              </a:defRPr>
            </a:pPr>
            <a:r>
              <a:t>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7451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CRUD / process operations → delivery_specialist (direct)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Status queries → single_entity_analyst (uses build_delivery_query QB)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743200"/>
            <a:ext cx="5303520" cy="36576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54864" cy="3657600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2880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7C20"/>
                </a:solidFill>
                <a:latin typeface="Calibri"/>
              </a:defRPr>
            </a:pPr>
            <a:r>
              <a:t>DELIVERY PROCESS FLOW (from prompt.py)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429000"/>
            <a:ext cx="4754880" cy="6400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05840" y="3429000"/>
            <a:ext cx="54864" cy="640080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3474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BDE"/>
                </a:solidFill>
                <a:latin typeface="Calibri"/>
              </a:defRPr>
            </a:pPr>
            <a:r>
              <a:t>1. Create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749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sap_create_entity → A_OutbDeliveryHeader</a:t>
            </a:r>
            <a:br/>
            <a:r>
              <a:t>Creates delivery document from sales order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160520"/>
            <a:ext cx="4754880" cy="6400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05840" y="4160520"/>
            <a:ext cx="54864" cy="64008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80160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FA5"/>
                </a:solidFill>
                <a:latin typeface="Calibri"/>
              </a:defRPr>
            </a:pPr>
            <a:r>
              <a:t>2. Pick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sap_execute_function_import →</a:t>
            </a:r>
            <a:br/>
            <a:r>
              <a:t>ConfirmPickingAllItems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4892040"/>
            <a:ext cx="4754880" cy="6400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05840" y="4892040"/>
            <a:ext cx="54864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8016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3. Post Goods Issue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212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sap_execute_function_import →</a:t>
            </a:r>
            <a:br/>
            <a:r>
              <a:t>PostGoodsIssue — updates inventory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5623560"/>
            <a:ext cx="4754880" cy="6400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05840" y="5623560"/>
            <a:ext cx="54864" cy="640080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80160" y="5669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20"/>
                </a:solidFill>
                <a:latin typeface="Calibri"/>
              </a:defRPr>
            </a:pPr>
            <a:r>
              <a:t>4. Confirm Shipment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943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Delivery status → Complete</a:t>
            </a:r>
            <a:br/>
            <a:r>
              <a:t>Triggers billing process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743200"/>
            <a:ext cx="5120640" cy="36576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09360" y="2743200"/>
            <a:ext cx="54864" cy="3657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MCP TOOLS USED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3832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sap_query_entity_set — List/filter deliveries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    entitySet: A_OutbDeliveryHeader, A_OutbDeliveryItem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sap_get_entity — Get single delivery by document number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sap_create_entity — Create new delivery from sales order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sap_update_entity — Update delivery status/data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sap_execute_function_import — PostGoodsIssue,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    ConfirmPickingAllItems (SAP function imports)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EXCEPTION HANDLING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394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▸ Partial deliveries and backorders managed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▸ Delivery delay detection and notification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▸ Goods issue reversal for returns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▸ Missing delivery docs flagged to cross-entity analyst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USE CASE 5: CROSS-ENTITY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B59B6"/>
                </a:solidFill>
                <a:latin typeface="Calibri"/>
              </a:defRPr>
            </a:pPr>
            <a:r>
              <a:t>cross_entity_analyst  ·  agent/sub_agents/cross_entity_analyst/  ·  Multi-Service Joins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303520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30352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Calibri"/>
              </a:defRPr>
            </a:pPr>
            <a:r>
              <a:t>USER SAYS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"Can we fulfill order 10?"  (orders + inventory + deliveries)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"Show delivery delays"  (orders + deliveries + time comparison)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"Customer 360 for CUST-001"  (customer + orders + items + deliveries)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120640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12064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BDE"/>
                </a:solidFill>
                <a:latin typeface="Calibri"/>
              </a:defRPr>
            </a:pPr>
            <a:r>
              <a:t>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7451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Coordinator counts 2+ entity types → cross_entity_analyst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Entity relationships defined in prompt: Orders → Items → Products → Stock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743200"/>
            <a:ext cx="5303520" cy="36576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54864" cy="36576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2880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Calibri"/>
              </a:defRPr>
            </a:pPr>
            <a:r>
              <a:t>8 CROSS-ENTITY ANALYTICAL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337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59B6"/>
                </a:solidFill>
                <a:latin typeface="Calibri"/>
              </a:defRPr>
            </a:pPr>
            <a:r>
              <a:t>get_order_fulfillment_status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Orders + Items + Stock + Deliveries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03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59B6"/>
                </a:solidFill>
                <a:latin typeface="Calibri"/>
              </a:defRPr>
            </a:pPr>
            <a:r>
              <a:t>get_end_to_end_order_tracking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703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Full O2C lifecycle for one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59B6"/>
                </a:solidFill>
                <a:latin typeface="Calibri"/>
              </a:defRPr>
            </a:pPr>
            <a:r>
              <a:t>get_customer_order_history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069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360 customer view across all entities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434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59B6"/>
                </a:solidFill>
                <a:latin typeface="Calibri"/>
              </a:defRPr>
            </a:pPr>
            <a:r>
              <a:t>get_delivery_delays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Late deliveries + on-time rate KPIs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800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59B6"/>
                </a:solidFill>
                <a:latin typeface="Calibri"/>
              </a:defRPr>
            </a:pPr>
            <a:r>
              <a:t>get_customer_delivery_performance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800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Per-customer delivery KPIs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166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59B6"/>
                </a:solidFill>
                <a:latin typeface="Calibri"/>
              </a:defRPr>
            </a:pPr>
            <a:r>
              <a:t>get_unfulfilled_orders_report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166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Orders missing delivery documents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532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59B6"/>
                </a:solidFill>
                <a:latin typeface="Calibri"/>
              </a:defRPr>
            </a:pPr>
            <a:r>
              <a:t>get_material_availability_matrix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532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Stock vs demand for all materials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897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59B6"/>
                </a:solidFill>
                <a:latin typeface="Calibri"/>
              </a:defRPr>
            </a:pPr>
            <a:r>
              <a:t>get_open_order_aging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897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How long orders have been open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743200"/>
            <a:ext cx="5120640" cy="36576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09360" y="2743200"/>
            <a:ext cx="54864" cy="3657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EXECUTIVE SYNTHESIS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AABB"/>
                </a:solidFill>
                <a:latin typeface="Calibri"/>
              </a:defRPr>
            </a:pPr>
            <a:r>
              <a:t>Every response follows structured format: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657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▸ Executive Summary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3657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Dense CFO-briefing paragraph with core</a:t>
            </a:r>
            <a:br/>
            <a:r>
              <a:t>findings and business consequences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1422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▸ Key Metrics Table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41422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5-8 KPIs with raw counts AND</a:t>
            </a:r>
            <a:br/>
            <a:r>
              <a:t>derived ratios/percentages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6268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▸ Multi-Paragraph 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462686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Structural patterns, anomaly detection,</a:t>
            </a:r>
            <a:br/>
            <a:r>
              <a:t>business impact, operational context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1114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▸ Quantified Risks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511149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Each risk names specific entities,</a:t>
            </a:r>
            <a:br/>
            <a:r>
              <a:t>dollar amounts, and timeline impact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5961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▸ Recommended Actions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55961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Prioritized, specific, quantified</a:t>
            </a:r>
            <a:br/>
            <a:r>
              <a:t>actions with order/material IDs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6080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▸ Visual Insights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6080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Chart interpretation by business insight,</a:t>
            </a:r>
            <a:br/>
            <a:r>
              <a:t>not chart type (branded colours)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USE CASE 6: VISUAL ANALYTICS &amp; BRANDED CHARTS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74C3C"/>
                </a:solidFill>
                <a:latin typeface="Calibri"/>
              </a:defRPr>
            </a:pPr>
            <a:r>
              <a:t>visual_analyst (charts)  ·  agent/sub_agents/charts/  ·  Corporate Branded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303520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30352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USER SAYS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"Show me an order value breakdown chart by customer"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"Visualize inventory levels across all materials"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"Dashboard of delivery performance"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120640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12064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BDE"/>
                </a:solidFill>
                <a:latin typeface="Calibri"/>
              </a:defRPr>
            </a:pPr>
            <a:r>
              <a:t>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7451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Trigger words: chart, graph, visual, dashboard, plot, breakdown</a:t>
            </a:r>
          </a:p>
          <a:p>
            <a:pPr>
              <a:spcAft>
                <a:spcPts val="400"/>
              </a:spcAft>
              <a:defRPr sz="1200">
                <a:solidFill>
                  <a:srgbClr val="E8EEF4"/>
                </a:solidFill>
                <a:latin typeface="Calibri"/>
              </a:defRPr>
            </a:pPr>
            <a:r>
              <a:t>Coordinator → transfer_to_agent(agent_name="visual_analyst")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743200"/>
            <a:ext cx="5303520" cy="36576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54864" cy="3657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2880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QUERY-ALIGNED CHART CATEGORIES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337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Calibri"/>
              </a:defRPr>
            </a:pPr>
            <a:r>
              <a:t>▸ Stock Risk / Supply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337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Supply vs Demand Gap, Risk Exposure</a:t>
            </a:r>
            <a:br/>
            <a:r>
              <a:t>Profile, Fulfillment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86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Calibri"/>
              </a:defRPr>
            </a:pPr>
            <a:r>
              <a:t>▸ Revenue / Customer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886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Revenue Concentration, Customer Portfolio</a:t>
            </a:r>
            <a:br/>
            <a:r>
              <a:t>Balance, Dependency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434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Calibri"/>
              </a:defRPr>
            </a:pPr>
            <a:r>
              <a:t>▸ Order Pipeline /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434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Pipeline Conversion Health, Backlog</a:t>
            </a:r>
            <a:br/>
            <a:r>
              <a:t>Pressure, Value Distribution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98347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Calibri"/>
              </a:defRPr>
            </a:pPr>
            <a:r>
              <a:t>▸ Product Demand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98347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Demand Leadership, Product-Revenue</a:t>
            </a:r>
            <a:br/>
            <a:r>
              <a:t>Alignment, Portfolio Breadth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532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Calibri"/>
              </a:defRPr>
            </a:pPr>
            <a:r>
              <a:t>▸ Inventory Turnover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532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Stock Efficiency Spectrum, Working Capital</a:t>
            </a:r>
            <a:br/>
            <a:r>
              <a:t>Exposure, Restock Urgency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6080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Calibri"/>
              </a:defRPr>
            </a:pPr>
            <a:r>
              <a:t>▸ Process Health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6080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EF4"/>
                </a:solidFill>
                <a:latin typeface="Calibri"/>
              </a:defRPr>
            </a:pPr>
            <a:r>
              <a:t>O2C Stage Health, Bottleneck ID,</a:t>
            </a:r>
            <a:br/>
            <a:r>
              <a:t>Operational Risk Map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743200"/>
            <a:ext cx="5120640" cy="36576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9360" y="2743200"/>
            <a:ext cx="54864" cy="3657600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BDE"/>
                </a:solidFill>
                <a:latin typeface="Calibri"/>
              </a:defRPr>
            </a:pPr>
            <a:r>
              <a:t>CORPORATE COLOUR BRANDING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AABB"/>
                </a:solidFill>
                <a:latin typeface="Calibri"/>
              </a:defRPr>
            </a:pPr>
            <a:r>
              <a:t>Charts use semantic colour roles from prompt.py: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3685032"/>
            <a:ext cx="228600" cy="228600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49440" y="3657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BDE"/>
                </a:solidFill>
                <a:latin typeface="Calibri"/>
              </a:defRPr>
            </a:pPr>
            <a:r>
              <a:t>#0070C0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657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Primary / positive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3657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AABB"/>
                </a:solidFill>
                <a:latin typeface="Calibri"/>
              </a:defRPr>
            </a:pPr>
            <a:r>
              <a:t>Main data series, revenue bars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4069080"/>
            <a:ext cx="228600" cy="228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49440" y="40416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74C3C"/>
                </a:solidFill>
                <a:latin typeface="Calibri"/>
              </a:defRPr>
            </a:pPr>
            <a:r>
              <a:t>#E74C3C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0416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Danger / 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40416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AABB"/>
                </a:solidFill>
                <a:latin typeface="Calibri"/>
              </a:defRPr>
            </a:pPr>
            <a:r>
              <a:t>Shortfalls, delays, losses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4453128"/>
            <a:ext cx="228600" cy="228600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49440" y="44256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7C20"/>
                </a:solidFill>
                <a:latin typeface="Calibri"/>
              </a:defRPr>
            </a:pPr>
            <a:r>
              <a:t>#F39C12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4256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Warning / pending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44256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AABB"/>
                </a:solidFill>
                <a:latin typeface="Calibri"/>
              </a:defRPr>
            </a:pPr>
            <a:r>
              <a:t>Amber status, in-progress items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4837176"/>
            <a:ext cx="228600" cy="2286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949440" y="48097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FA5"/>
                </a:solidFill>
                <a:latin typeface="Calibri"/>
              </a:defRPr>
            </a:pPr>
            <a:r>
              <a:t>#4BC0C0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48097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Success / healthy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0" y="48097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AABB"/>
                </a:solidFill>
                <a:latin typeface="Calibri"/>
              </a:defRPr>
            </a:pPr>
            <a:r>
              <a:t>On-time, available stock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0" y="5221224"/>
            <a:ext cx="228600" cy="2286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949440" y="51937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B59B6"/>
                </a:solidFill>
                <a:latin typeface="Calibri"/>
              </a:defRPr>
            </a:pPr>
            <a:r>
              <a:t>#8E44AD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51937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Accent purple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0" y="51937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AABB"/>
                </a:solidFill>
                <a:latin typeface="Calibri"/>
              </a:defRPr>
            </a:pPr>
            <a:r>
              <a:t>Secondary series (quantity)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0" y="5605272"/>
            <a:ext cx="228600" cy="228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949440" y="5577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Calibri"/>
              </a:defRPr>
            </a:pPr>
            <a:r>
              <a:t>#27AE60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5577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Positive delta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75520" y="5577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AABB"/>
                </a:solidFill>
                <a:latin typeface="Calibri"/>
              </a:defRPr>
            </a:pPr>
            <a:r>
              <a:t>Improvement, growth, gain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20"/>
                </a:solidFill>
                <a:latin typeface="Calibri"/>
              </a:defRPr>
            </a:pPr>
            <a:r>
              <a:t>KEY RULE: Never describe chart type — describe the business insight</a:t>
            </a:r>
            <a:br/>
            <a:r>
              <a:t>WRONG: "The bar chart shows..." → RIGHT: "Revenue Concentration reveals..."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LIVE DEMO — END-TO-END O2C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EF4"/>
                </a:solidFill>
                <a:latin typeface="Calibri"/>
              </a:defRPr>
            </a:pPr>
            <a:r>
              <a:t>adk web on port 8080 — user types natural language, agents execute SAP transactions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10698480" cy="84124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4864" cy="841248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BD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105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BDE"/>
                </a:solidFill>
                <a:latin typeface="Calibri"/>
              </a:defRPr>
            </a:pPr>
            <a:r>
              <a:t>User asks: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81051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"Need 500 units of MAT-1001 delivered to Plant 1000 by Friday"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8745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Coordinator counts entities → routes to appropriate agents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97480"/>
            <a:ext cx="10698480" cy="84124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54864" cy="84124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834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BFA5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7706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FA5"/>
                </a:solidFill>
                <a:latin typeface="Calibri"/>
              </a:defRPr>
            </a:pPr>
            <a:r>
              <a:t>Product Agent: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7063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Validates MAT-1001 exists in API_PRODUCT_SRV/A_Product</a:t>
            </a:r>
            <a:br/>
            <a:r>
              <a:t>Returns material description, weights, unit of measure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8346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sap_query_entity_set → API_PRODUCT_SRV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657600"/>
            <a:ext cx="10698480" cy="84124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657600"/>
            <a:ext cx="54864" cy="8412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3794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7AE6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7307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Inventory Agent: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73075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Checks stock via API_MATERIAL_STOCK_SRV</a:t>
            </a:r>
            <a:br/>
            <a:r>
              <a:t>Confirms 500+ units available at Plant 1000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7947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sap_query_entity_set → API_MATERIAL_STOCK_SRV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617720"/>
            <a:ext cx="10698480" cy="84124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4617720"/>
            <a:ext cx="54864" cy="841248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4754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7C2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6908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7C20"/>
                </a:solidFill>
                <a:latin typeface="Calibri"/>
              </a:defRPr>
            </a:pPr>
            <a:r>
              <a:t>Order Agent: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69087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Creates sales order via API_SALES_ORDER_SRV/A_SalesOrder (POST)</a:t>
            </a:r>
            <a:br/>
            <a:r>
              <a:t>Sets SoldToParty, RequestedDeliveryDate, line items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7548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sap_create_entity → API_SALES_ORDER_SRV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577840"/>
            <a:ext cx="10698480" cy="84124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520" y="5577840"/>
            <a:ext cx="54864" cy="84124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40" y="5715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B59B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6509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Calibri"/>
              </a:defRPr>
            </a:pPr>
            <a:r>
              <a:t>Delivery Agent: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65099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Creates outbound delivery via API_OUTBOUND_DELIVERY_SRV</a:t>
            </a:r>
            <a:br/>
            <a:r>
              <a:t>Confirms picking → posts goods issue → updates 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7150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Calibri"/>
              </a:defRPr>
            </a:pPr>
            <a:r>
              <a:t>sap_create_entity + sap_update_entity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SECURITY MODEL — ZERO TRUST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BDE"/>
                </a:solidFill>
                <a:latin typeface="Calibri"/>
              </a:defRPr>
            </a:pPr>
            <a:r>
              <a:t>BTP API Management is the ONLY component that ever touches SAP credentials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2560320" cy="27432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256032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BDE"/>
                </a:solidFill>
                <a:latin typeface="Calibri"/>
              </a:defRPr>
            </a:pPr>
            <a:r>
              <a:t>AI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Hold only a Gemini API key.</a:t>
            </a:r>
            <a:br/>
            <a:r>
              <a:t>No SAP credentials, no OData URLs,</a:t>
            </a:r>
            <a:br/>
            <a:r>
              <a:t>no knowledge of backend mode.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DE"/>
                </a:solidFill>
                <a:latin typeface="Calibri"/>
              </a:defRPr>
            </a:pPr>
            <a:r>
              <a:t>Zero SAP access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920240"/>
            <a:ext cx="2560320" cy="27432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6160" y="1920240"/>
            <a:ext cx="2560320" cy="5486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A5"/>
                </a:solidFill>
                <a:latin typeface="Calibri"/>
              </a:defRPr>
            </a:pPr>
            <a:r>
              <a:t>MCP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5603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Holds only a low-privilege APIM</a:t>
            </a:r>
            <a:br/>
            <a:r>
              <a:t>consumer API key. Validates SSL.</a:t>
            </a:r>
            <a:br/>
            <a:r>
              <a:t>No SAP passwords.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FA5"/>
                </a:solidFill>
                <a:latin typeface="Calibri"/>
              </a:defRPr>
            </a:pPr>
            <a:r>
              <a:t>API key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920240"/>
            <a:ext cx="2560320" cy="27432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1920240"/>
            <a:ext cx="2560320" cy="54864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20"/>
                </a:solidFill>
                <a:latin typeface="Calibri"/>
              </a:defRPr>
            </a:pPr>
            <a:r>
              <a:t>BTP API MGMT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5603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Encrypted Named Values store SAP creds.</a:t>
            </a:r>
            <a:br/>
            <a:r>
              <a:t>Verify-API-Key → Spike-Arrest (10/min) →</a:t>
            </a:r>
            <a:br/>
            <a:r>
              <a:t>Inject-Credentials → SSL-Enforcement.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7C20"/>
                </a:solidFill>
                <a:latin typeface="Calibri"/>
              </a:defRPr>
            </a:pPr>
            <a:r>
              <a:t>All SAP auth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920240"/>
            <a:ext cx="2560320" cy="27432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35440" y="1920240"/>
            <a:ext cx="25603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726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Calibri"/>
              </a:defRPr>
            </a:pPr>
            <a:r>
              <a:t>SAP 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5603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3 modes, one URL swap, zero code changes:</a:t>
            </a:r>
            <a:br/>
            <a:r>
              <a:t>Mock → api.sap.com sandbox → Real S/4HANA.</a:t>
            </a:r>
            <a:br/>
            <a:r>
              <a:t>Agents don't know which mode is active.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Backend agnostic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029200"/>
            <a:ext cx="10698480" cy="118872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" y="5029200"/>
            <a:ext cx="10698480" cy="54864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7C20"/>
                </a:solidFill>
                <a:latin typeface="Calibri"/>
              </a:defRPr>
            </a:pPr>
            <a:r>
              <a:t>BTP APIM Policy 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577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8EEF4"/>
                </a:solidFill>
                <a:latin typeface="Calibri"/>
              </a:defRPr>
            </a:pPr>
            <a:r>
              <a:t>1. Verify-API-Key — validates MCP server's consumer key from Developer Portal</a:t>
            </a:r>
          </a:p>
          <a:p>
            <a:pPr>
              <a:spcAft>
                <a:spcPts val="200"/>
              </a:spcAft>
              <a:defRPr sz="1100">
                <a:solidFill>
                  <a:srgbClr val="E8EEF4"/>
                </a:solidFill>
                <a:latin typeface="Calibri"/>
              </a:defRPr>
            </a:pPr>
            <a:r>
              <a:t>2. Spike-Arrest — 10 calls/min, protects SAP backend + enforces quota</a:t>
            </a:r>
          </a:p>
          <a:p>
            <a:pPr>
              <a:spcAft>
                <a:spcPts val="200"/>
              </a:spcAft>
              <a:defRPr sz="1100">
                <a:solidFill>
                  <a:srgbClr val="E8EEF4"/>
                </a:solidFill>
                <a:latin typeface="Calibri"/>
              </a:defRPr>
            </a:pPr>
            <a:r>
              <a:t>3. Assign-Message — injects SAP credentials from encrypted Named Values (never leave APIM)</a:t>
            </a:r>
          </a:p>
          <a:p>
            <a:pPr>
              <a:spcAft>
                <a:spcPts val="200"/>
              </a:spcAft>
              <a:defRPr sz="1100">
                <a:solidFill>
                  <a:srgbClr val="E8EEF4"/>
                </a:solidFill>
                <a:latin typeface="Calibri"/>
              </a:defRPr>
            </a:pPr>
            <a:r>
              <a:t>4. SSL-Enforcement — rejects non-HTTPS connections</a:t>
            </a:r>
          </a:p>
          <a:p>
            <a:pPr>
              <a:spcAft>
                <a:spcPts val="200"/>
              </a:spcAft>
              <a:defRPr sz="1100">
                <a:solidFill>
                  <a:srgbClr val="E8EEF4"/>
                </a:solidFill>
                <a:latin typeface="Calibri"/>
              </a:defRPr>
            </a:pPr>
            <a:r>
              <a:t>5. Analytics/Logging — audit trail for all SAP API access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17 → 4 — WHERE THE COMPLEXITY WENT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9BDE"/>
                </a:solidFill>
                <a:latin typeface="Calibri"/>
              </a:defRPr>
            </a:pPr>
            <a:r>
              <a:t>"The 17 flows weren't the product. They were the tax. Now the tax is gone."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5029200" cy="5486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FA5"/>
                </a:solidFill>
                <a:latin typeface="Calibri"/>
              </a:defRPr>
            </a:pPr>
            <a:r>
              <a:t>MCP REPLACED THE GLUE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BEFORE: Each Power Automate flow manually: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  • Constructed HTTP requests to OData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  • Parsed OData JSON responses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  • Handled pagination ($skip/$top)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  • Managed auth tokens (CSRF, cookies)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  • Implemented retry logic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AFTER: MCP server does all of that ONCE.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Each agent just declares which MCP tools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it can use. No HTTP, no auth, no parsing.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5212080" cy="41148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5212080" cy="54864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7C20"/>
                </a:solidFill>
                <a:latin typeface="Calibri"/>
              </a:defRPr>
            </a:pPr>
            <a:r>
              <a:t>ADK'S COORDINATOR REPLACED ORCHESTRATION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8346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BEFORE: Power Automate flows had to: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  • Explicitly route between each other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  • Use conditional logic for branching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  • Handle context passing manually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  • Maintain state across flow runs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AFTER: root_agent reads user intent and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delegates via transfer_to_agent().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The LLM IS the router. 35 lines of Python.</a:t>
            </a:r>
          </a:p>
          <a:p>
            <a:pPr>
              <a:spcAft>
                <a:spcPts val="400"/>
              </a:spcAft>
              <a:defRPr sz="1300">
                <a:solidFill>
                  <a:srgbClr val="E8EEF4"/>
                </a:solidFill>
                <a:latin typeface="Calibri"/>
              </a:defRPr>
            </a:pPr>
            <a:r>
              <a:t>Entity count = routing decision.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ZERO COST — EVERY COMPONENT IS FREE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713232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4864" cy="713232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BDE"/>
                </a:solidFill>
                <a:latin typeface="Calibri"/>
              </a:defRPr>
            </a:pPr>
            <a:r>
              <a:t>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Gemini 2.5 Flash via AI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5544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10 RPM, 250 req/day, 1M token context. No credit card.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10698480" cy="713232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286000"/>
            <a:ext cx="54864" cy="71323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FA5"/>
                </a:solidFill>
                <a:latin typeface="Calibri"/>
              </a:defRPr>
            </a:pPr>
            <a:r>
              <a:t>Agent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77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Google ADK (open source)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774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37744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pip install google-adk. Multi-agent, MCP-native, coordinator pattern.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108960"/>
            <a:ext cx="10698480" cy="713232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108960"/>
            <a:ext cx="54864" cy="7132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Calibri"/>
              </a:defRPr>
            </a:pPr>
            <a:r>
              <a:t>MCP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Node.js subprocess (stdio)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004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2004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11 generic OData tools. Runs as child process of ADK agent.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931920"/>
            <a:ext cx="10698480" cy="713232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3931920"/>
            <a:ext cx="54864" cy="713232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20"/>
                </a:solidFill>
                <a:latin typeface="Calibri"/>
              </a:defRPr>
            </a:pPr>
            <a:r>
              <a:t>Dev 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023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GitHub Codespaces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023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02336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60 hours/month free. Zero-install — click badge, start coding.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754880"/>
            <a:ext cx="10698480" cy="713232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1520" y="4754880"/>
            <a:ext cx="54864" cy="71323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59B6"/>
                </a:solidFill>
                <a:latin typeface="Calibri"/>
              </a:defRPr>
            </a:pPr>
            <a:r>
              <a:t>SAP Gateway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BTP Trial account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46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8463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90-day trial. ABAP Cloud with API Management built in.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577840"/>
            <a:ext cx="10698480" cy="713232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31520" y="5577840"/>
            <a:ext cx="54864" cy="7132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5840" y="5669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Calibri"/>
              </a:defRPr>
            </a:pPr>
            <a:r>
              <a:t>Dev UI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5669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adk web (built into ADK)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669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5669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4"/>
                </a:solidFill>
                <a:latin typeface="Calibri"/>
              </a:defRPr>
            </a:pPr>
            <a:r>
              <a:t>Port 8080. Agent dropdown, chat interface, conversation history.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6400800"/>
            <a:ext cx="1069848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0" y="5897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7AE60"/>
                </a:solidFill>
                <a:latin typeface="Calibri"/>
              </a:defRPr>
            </a:pPr>
            <a:r>
              <a:t>TOTAL:  $0 / month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TRY IT IN 3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BDE"/>
                </a:solidFill>
                <a:latin typeface="Calibri"/>
              </a:defRPr>
            </a:pPr>
            <a:r>
              <a:t>github.com/shekerkamma/SAP-O2C-Automation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698480" cy="804672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54864" cy="804672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BD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848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Click "Open in Codespaces"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05740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Code &gt; Open with Codespaces. Container builds automatically</a:t>
            </a:r>
            <a:br/>
            <a:r>
              <a:t>with Node.js, Python, ADK, and all dependencies.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10698480" cy="804672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54864" cy="80467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063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FA5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9992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Add Gemini API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97180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Get free key at aistudio.google.com/apikey.</a:t>
            </a:r>
            <a:br/>
            <a:r>
              <a:t>Paste into agent/.env — one line: GOOGLE_API_KEY=...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10698480" cy="804672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840480"/>
            <a:ext cx="54864" cy="8046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977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7AE6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913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Start mock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88620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cd mcp-server &amp;&amp; node mock-server.js</a:t>
            </a:r>
            <a:br/>
            <a:r>
              <a:t>Mock data sourced from SAP API Business Hub sandbox.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754880"/>
            <a:ext cx="10698480" cy="804672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4754880"/>
            <a:ext cx="54864" cy="804672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892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7C2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280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Start the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80060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cd agent &amp;&amp; adk web</a:t>
            </a:r>
            <a:br/>
            <a:r>
              <a:t>Open port 8080 in browser. Full agent UI ready.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669280"/>
            <a:ext cx="10698480" cy="804672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" y="5669280"/>
            <a:ext cx="54864" cy="80467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5806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B59B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7424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Ask a 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71500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"Show me all sales orders" → single_entity_analyst</a:t>
            </a:r>
            <a:br/>
            <a:r>
              <a:t>"Can we fulfill order 10?" → cross_entity_analyst</a:t>
            </a:r>
            <a:br/>
            <a:r>
              <a:t>"Create delivery for order 14" → delivery_specialist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7-PHASE WORKSHOP — MOCK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EF4"/>
                </a:solidFill>
                <a:latin typeface="Calibri"/>
              </a:defRPr>
            </a:pPr>
            <a:r>
              <a:t>docs/SAP_O2C_ADK_Workshop_Guide.md — complete hands-on guide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698480" cy="56692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4864" cy="566928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9385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BDE"/>
                </a:solidFill>
                <a:latin typeface="Calibri"/>
              </a:defRPr>
            </a:pPr>
            <a:r>
              <a:t>Phase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9385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GitHub Codespaces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93852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Click badge → zero-install dev environment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87168"/>
            <a:ext cx="10698480" cy="56692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487168"/>
            <a:ext cx="54864" cy="56692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59689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FA5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596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BTP API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59689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Set up APIM proxy, policies, encrypted credentials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145536"/>
            <a:ext cx="10698480" cy="56692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145536"/>
            <a:ext cx="54864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25526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2552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Google Cloud Shell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25526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Alternative free dev environment with Web Preview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803904"/>
            <a:ext cx="10698480" cy="56692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3803904"/>
            <a:ext cx="54864" cy="566928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9136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7C20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3913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Clone &amp; Fix Repos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9136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Agent + MCP server setup, dependency resolution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462272"/>
            <a:ext cx="10698480" cy="56692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" y="4462272"/>
            <a:ext cx="54864" cy="56692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4572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Configure MCP for APIM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5720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Connect MCP server to APIM gateway endpoint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120640"/>
            <a:ext cx="10698480" cy="56692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1520" y="5120640"/>
            <a:ext cx="54864" cy="5669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5840" y="52303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5230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Mock Mode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523036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Full agent flow with synthetic SAP data — no SAP needed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779008"/>
            <a:ext cx="10698480" cy="566928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31520" y="5779008"/>
            <a:ext cx="54864" cy="566928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5840" y="588873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BDE"/>
                </a:solidFill>
                <a:latin typeface="Calibri"/>
              </a:defRPr>
            </a:pPr>
            <a:r>
              <a:t>Phase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58887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Real SAP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588873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Switch to api.sap.com sandbox via one APIM URL change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833872"/>
            <a:ext cx="10698480" cy="50292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31520" y="5833872"/>
            <a:ext cx="1069848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05840" y="59436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Phase 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77440" y="5943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Real S/4HANA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59436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7AE60"/>
                </a:solidFill>
                <a:latin typeface="Calibri"/>
              </a:defRPr>
            </a:pPr>
            <a:r>
              <a:t>Full read/write to your S/4HANA system — same agents, same MCP server, real data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MICROSOFT STACK vs. GOOGLE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4572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9AABB"/>
                </a:solidFill>
                <a:latin typeface="Calibri"/>
              </a:defRPr>
            </a:pPr>
            <a:r>
              <a:t>DIMENSION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371600"/>
            <a:ext cx="3657600" cy="4572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74C3C"/>
                </a:solidFill>
                <a:latin typeface="Calibri"/>
              </a:defRPr>
            </a:pPr>
            <a:r>
              <a:t>ENTERPRISE (BEFORE)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371600"/>
            <a:ext cx="3200400" cy="4572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OPEN SOURCE (AFTER)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920240"/>
            <a:ext cx="347472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920240"/>
            <a:ext cx="365760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1920240"/>
            <a:ext cx="320040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1965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965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17 Power Automate 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65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7AE60"/>
                </a:solidFill>
                <a:latin typeface="Calibri"/>
              </a:defRPr>
            </a:pPr>
            <a:r>
              <a:t>4 Python classes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377440"/>
            <a:ext cx="347472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9120" y="2377440"/>
            <a:ext cx="365760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2377440"/>
            <a:ext cx="320040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2423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423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Azure OpenAI ($$$)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423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7AE60"/>
                </a:solidFill>
                <a:latin typeface="Calibri"/>
              </a:defRPr>
            </a:pPr>
            <a:r>
              <a:t>Gemini free tier ($0)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834640"/>
            <a:ext cx="347472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20" y="2834640"/>
            <a:ext cx="365760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2834640"/>
            <a:ext cx="320040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2880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Framework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880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Copilot Studio (licensed)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7AE60"/>
                </a:solidFill>
                <a:latin typeface="Calibri"/>
              </a:defRPr>
            </a:pPr>
            <a:r>
              <a:t>Google ADK (open source)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291840"/>
            <a:ext cx="347472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89120" y="3291840"/>
            <a:ext cx="365760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29600" y="3291840"/>
            <a:ext cx="320040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3337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337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MS Teams + Adaptive Cards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3375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7AE60"/>
                </a:solidFill>
                <a:latin typeface="Calibri"/>
              </a:defRPr>
            </a:pPr>
            <a:r>
              <a:t>adk web (port 8080)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749039"/>
            <a:ext cx="347472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89120" y="3749039"/>
            <a:ext cx="365760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29600" y="3749039"/>
            <a:ext cx="320040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379475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SAP Integration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79475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Per-flow HTTP + auth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79475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7AE60"/>
                </a:solidFill>
                <a:latin typeface="Calibri"/>
              </a:defRPr>
            </a:pPr>
            <a:r>
              <a:t>11 generic MCP tools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206240"/>
            <a:ext cx="347472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389120" y="4206240"/>
            <a:ext cx="365760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229600" y="4206240"/>
            <a:ext cx="320040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440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Code Size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251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Click-to-configure (no code)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4251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7AE60"/>
                </a:solidFill>
                <a:latin typeface="Calibri"/>
              </a:defRPr>
            </a:pPr>
            <a:r>
              <a:t>~200 lines total Python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4663440"/>
            <a:ext cx="347472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389120" y="4663440"/>
            <a:ext cx="365760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229600" y="4663440"/>
            <a:ext cx="320040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4400" y="4709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Version Control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4709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Not possible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4709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7AE60"/>
                </a:solidFill>
                <a:latin typeface="Calibri"/>
              </a:defRPr>
            </a:pPr>
            <a:r>
              <a:t>Full git, CI/CD, testing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5120640"/>
            <a:ext cx="347472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389120" y="5120640"/>
            <a:ext cx="365760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229600" y="5120640"/>
            <a:ext cx="320040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14400" y="5166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5166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$$$$/month/user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5166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7AE60"/>
                </a:solidFill>
                <a:latin typeface="Calibri"/>
              </a:defRPr>
            </a:pPr>
            <a:r>
              <a:t>$0/month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5577840"/>
            <a:ext cx="347472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4389120" y="5577840"/>
            <a:ext cx="365760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229600" y="5577840"/>
            <a:ext cx="3200400" cy="4114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14400" y="5623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Vendor Lock-in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0" y="5623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Microsoft ecosystem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80" y="56235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7AE60"/>
                </a:solidFill>
                <a:latin typeface="Calibri"/>
              </a:defRPr>
            </a:pPr>
            <a:r>
              <a:t>None — all open source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20" y="6035040"/>
            <a:ext cx="347472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389120" y="6035040"/>
            <a:ext cx="365760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229600" y="6035040"/>
            <a:ext cx="3200400" cy="41148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4400" y="6080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Dev Time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0" y="6080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EF4"/>
                </a:solidFill>
                <a:latin typeface="Calibri"/>
              </a:defRPr>
            </a:pPr>
            <a:r>
              <a:t>Weeks of PA clicking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12480" y="6080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7AE60"/>
                </a:solidFill>
                <a:latin typeface="Calibri"/>
              </a:defRPr>
            </a:pPr>
            <a:r>
              <a:t>Afternoon of Python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371600" cy="54864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THIS MEANS FOR SAP DEVELOPERS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9BDE"/>
                </a:solidFill>
                <a:latin typeface="Calibri"/>
              </a:defRPr>
            </a:pPr>
            <a:r>
              <a:t>"SAP is one of the last enterprise categories where real data integration is still a moat.</a:t>
            </a:r>
            <a:br/>
            <a:r>
              <a:t>If you know SAP, you can build AI agents that actually work for your organization."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54864" cy="914400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BDE"/>
                </a:solidFill>
                <a:latin typeface="Calibri"/>
              </a:defRPr>
            </a:pPr>
            <a:r>
              <a:t>The tooling is no longer the bottleneck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A single developer, on the free tier, in an afternoon, can build what took a team and an enterprise license stack a year ago.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337560"/>
            <a:ext cx="10698480" cy="9144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3337560"/>
            <a:ext cx="54864" cy="9144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5"/>
                </a:solidFill>
                <a:latin typeface="Calibri"/>
              </a:defRPr>
            </a:pPr>
            <a:r>
              <a:t>Every SAP system is different — that's the moat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94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OData quirks, customizing tables, pricing procedures, partner determination. No generic AI tool understands these. SAP knowledge + AI agents = unfair advantage.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89120"/>
            <a:ext cx="10698480" cy="9144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4389120"/>
            <a:ext cx="54864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480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MCP is the new integration 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46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AWS, SAP, and third-party vendors all support MCP for SAP OData. This architecture pattern is the emerging industry standard, not a bet on one vendor.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440679"/>
            <a:ext cx="10698480" cy="9144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5440679"/>
            <a:ext cx="54864" cy="914400"/>
          </a:xfrm>
          <a:prstGeom prst="rect">
            <a:avLst/>
          </a:prstGeom>
          <a:solidFill>
            <a:srgbClr val="F5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553211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7C20"/>
                </a:solidFill>
                <a:latin typeface="Calibri"/>
              </a:defRPr>
            </a:pPr>
            <a:r>
              <a:t>The 2027 ECC deadline creates urgency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89787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4"/>
                </a:solidFill>
                <a:latin typeface="Calibri"/>
              </a:defRPr>
            </a:pPr>
            <a:r>
              <a:t>400,000+ SAP customers must modernize. AI-native automation during migration is the wedge — not a nice-to-have, but a migration accelerator.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2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SAP O2C</a:t>
            </a:r>
            <a:br/>
            <a:r>
              <a:t>AI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9BDE"/>
                </a:solidFill>
                <a:latin typeface="Calibri"/>
              </a:defRPr>
            </a:pPr>
            <a:r>
              <a:t>From 17 Flows to 4 Classes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1828800" cy="36576"/>
          </a:xfrm>
          <a:prstGeom prst="rect">
            <a:avLst/>
          </a:prstGeom>
          <a:solidFill>
            <a:srgbClr val="009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AABB"/>
                </a:solidFill>
                <a:latin typeface="Calibri"/>
              </a:defRPr>
            </a:pPr>
            <a:r>
              <a:t>github.com/shekerkamma/SAP-O2C-Automation</a:t>
            </a:r>
            <a:br/>
            <a:br/>
            <a:r>
              <a:t>Google ADK  ·  Gemini  ·  MCP  ·  SAP OData</a:t>
            </a:r>
            <a:br/>
            <a:r>
              <a:t>Open Source  ·  Zero Cost  ·  Production Ready</a:t>
            </a:r>
            <a:br/>
            <a:br/>
            <a:r>
              <a:t>Try it in 3 minutes — click Open in Codespaces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097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BDE"/>
                </a:solidFill>
                <a:latin typeface="Calibri"/>
              </a:defRPr>
            </a:pPr>
            <a:r>
              <a:t>17 →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097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4"/>
                </a:solidFill>
                <a:latin typeface="Calibri"/>
              </a:defRPr>
            </a:pPr>
            <a:r>
              <a:t>Power Automate flows</a:t>
            </a:r>
            <a:br/>
            <a:r>
              <a:t>to Python classes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BDE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1031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4"/>
                </a:solidFill>
                <a:latin typeface="Calibri"/>
              </a:defRPr>
            </a:pPr>
            <a:r>
              <a:t>specialized</a:t>
            </a:r>
            <a:br/>
            <a:r>
              <a:t>sub-agents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BDE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108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4"/>
                </a:solidFill>
                <a:latin typeface="Calibri"/>
              </a:defRPr>
            </a:pPr>
            <a:r>
              <a:t>generic MCP</a:t>
            </a:r>
            <a:br/>
            <a:r>
              <a:t>OData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BDE"/>
                </a:solidFill>
                <a:latin typeface="Calibri"/>
              </a:defRPr>
            </a:pPr>
            <a:r>
              <a:t>~200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4114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4"/>
                </a:solidFill>
                <a:latin typeface="Calibri"/>
              </a:defRPr>
            </a:pPr>
            <a:r>
              <a:t>total lines</a:t>
            </a:r>
            <a:br/>
            <a:r>
              <a:t>of 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BDE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5120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4"/>
                </a:solidFill>
                <a:latin typeface="Calibri"/>
              </a:defRPr>
            </a:pPr>
            <a:r>
              <a:t>monthly</a:t>
            </a:r>
            <a:br/>
            <a:r>
              <a:t>operating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943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Open Source  ·  Apache 2.0  ·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4450</Words>
  <Application>Microsoft Office PowerPoint</Application>
  <PresentationFormat>Widescreen</PresentationFormat>
  <Paragraphs>546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sheker kamma</cp:lastModifiedBy>
  <cp:revision>1</cp:revision>
  <dcterms:created xsi:type="dcterms:W3CDTF">2013-01-27T09:14:16Z</dcterms:created>
  <dcterms:modified xsi:type="dcterms:W3CDTF">2026-05-09T10:47:16Z</dcterms:modified>
  <cp:category/>
</cp:coreProperties>
</file>