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 i="0">
                <a:solidFill>
                  <a:srgbClr val="FFFFFF"/>
                </a:solidFill>
                <a:latin typeface="Calibri"/>
              </a:defRPr>
            </a:pPr>
            <a:r>
              <a:t>gstack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4A9EFF"/>
                </a:solidFill>
                <a:latin typeface="Calibri"/>
              </a:defRPr>
            </a:pPr>
            <a:r>
              <a:t>Your Virtual Engineering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CCCCCC"/>
                </a:solidFill>
                <a:latin typeface="Calibri"/>
              </a:defRPr>
            </a:pPr>
            <a:r>
              <a:t>23 AI-powered specialists  |  All slash commands  |  All Markdown  |  MIT License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254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Garry Tan  |  President &amp; CEO, Y Combinator  |  77,000+ GitHub Stars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4A9EFF"/>
                </a:solidFill>
                <a:latin typeface="Calibri"/>
              </a:defRPr>
            </a:pPr>
            <a:r>
              <a:t>github.com/garrytan/gstack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1 / 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10332720" cy="128016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177800"/>
          <a:lstStyle/>
          <a:p>
            <a:pPr algn="ctr">
              <a:defRPr sz="2200" i="1">
                <a:solidFill>
                  <a:srgbClr val="CCCCCC"/>
                </a:solidFill>
                <a:latin typeface="Calibri"/>
              </a:defRPr>
            </a:pPr>
            <a:r>
              <a:t>"I don't think I've typed like a line of code probably since December..."</a:t>
            </a:r>
          </a:p>
          <a:p>
            <a:pPr>
              <a:spcBef>
                <a:spcPts val="800"/>
              </a:spcBef>
              <a:defRPr sz="1400">
                <a:solidFill>
                  <a:srgbClr val="999999"/>
                </a:solidFill>
              </a:defRPr>
            </a:pPr>
            <a:r>
              <a:t>-- Andrej Karpathy,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9800"/>
                </a:solidFill>
                <a:latin typeface="Calibri"/>
              </a:defRPr>
            </a:pPr>
            <a:r>
              <a:t>How does one person ship like a team of twenty?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4846320" cy="25603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FF5252"/>
                </a:solidFill>
                <a:latin typeface="Calibri"/>
              </a:defRPr>
            </a:pPr>
            <a:r>
              <a:t>The Old Way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Hire 20 engineers across multiple roles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Manage sprints, standups, 1:1s, retros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6-month delivery cycles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Coordination overhead kills velocity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Design, QA, security are afterthoughts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Documentation always out of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029200" cy="25603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4CAF50"/>
                </a:solidFill>
                <a:latin typeface="Calibri"/>
              </a:defRPr>
            </a:pPr>
            <a:r>
              <a:t>The gstack Way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One person + 23 AI specialists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Sprint structure baked into slash commands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3 production services in 60 days, part-time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810x productivity on logical code changes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Design, QA, security built into every sprint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Docs auto-update with every 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2 /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Sprint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Calibri"/>
              </a:defRPr>
            </a:pPr>
            <a:r>
              <a:t>gstack is a process, not a collection of tools. Each step feeds into the next.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371600" cy="100584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Think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/office-hours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7080" y="2103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7712" y="1828800"/>
            <a:ext cx="1371600" cy="1005840"/>
          </a:xfrm>
          <a:prstGeom prst="round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/plan-*-review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64712" y="2103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5344" y="1828800"/>
            <a:ext cx="1371600" cy="10058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/design-html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2344" y="2103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22976" y="1828800"/>
            <a:ext cx="1371600" cy="10058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/review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9976" y="2103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1828800"/>
            <a:ext cx="1371600" cy="1005840"/>
          </a:xfrm>
          <a:prstGeom prst="round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Test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/qa, /cso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7608" y="2103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828800"/>
            <a:ext cx="1371600" cy="100584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Ship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/ship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5240" y="2103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99999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05872" y="1828800"/>
            <a:ext cx="1371600" cy="100584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Reflect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/retro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/office-hours writes design doc  --&gt;  /plan-ceo-review reads and challenges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/plan-eng-review writes test plan  --&gt;  /qa picks it up and tests against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/review catches bugs  --&gt;  /ship verifies they're fixed before 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/qa generates regression tests  --&gt;  next /review checks they still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/document-release updates docs  --&gt;  /retro reflects on what shipped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3 / 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Think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B86FC"/>
                </a:solidFill>
                <a:latin typeface="Calibri"/>
              </a:defRPr>
            </a:pPr>
            <a:r>
              <a:t>Reframe the problem before writing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4 /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BB86FC"/>
                </a:solidFill>
                <a:latin typeface="Calibri"/>
              </a:defRPr>
            </a:pPr>
            <a:r>
              <a:t>/office-hours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YC Office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Six forcing questions that reframe your product before you write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BB86FC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Pushes back on your framing — challenges premises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Asks about pain, not features: 'What specific examples?'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Extracts capabilities you didn't realize you were describing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Generates 3 implementation approaches with effort estimates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Writes a design doc that feeds into all downstream skills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Recommends the narrowest wedge to ship tomorrow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BB86FC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I want to build a daily briefing app for my calendar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/office-hours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What's the specific pain? Give me examples.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Multiple calendars, stale info, wrong locations...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I'm going to push back. You said "briefing app."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What you described is a personal chief of staff 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[extracts 5 capabilities, challenges 4 premises]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BB86FC"/>
                </a:solidFill>
                <a:latin typeface="Calibri"/>
              </a:defRPr>
            </a:pPr>
            <a:r>
              <a:t>Output: Design doc fed into downstream skills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5 /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BB86FC"/>
                </a:solidFill>
                <a:latin typeface="Calibri"/>
              </a:defRPr>
            </a:pPr>
            <a:r>
              <a:t>/office-hours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The six forcing questions that prevent you from building the wrong 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1280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 rIns="203200"/>
          <a:lstStyle/>
          <a:p>
            <a:pPr algn="ctr">
              <a:spcAft>
                <a:spcPts val="600"/>
              </a:spcAft>
              <a:defRPr sz="1700" b="1">
                <a:solidFill>
                  <a:srgbClr val="BB86FC"/>
                </a:solidFill>
                <a:latin typeface="Calibri"/>
              </a:defRPr>
            </a:pPr>
            <a:r>
              <a:t>1. Pain Discovery</a:t>
            </a:r>
          </a:p>
          <a:p>
            <a:pPr>
              <a:defRPr sz="1300">
                <a:solidFill>
                  <a:srgbClr val="CCCCCC"/>
                </a:solidFill>
                <a:latin typeface="Calibri"/>
              </a:defRPr>
            </a:pPr>
            <a:r>
              <a:t>What's the actual problem? Not the feature request — the pain.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303520" cy="1280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 rIns="203200"/>
          <a:lstStyle/>
          <a:p>
            <a:pPr algn="ctr">
              <a:spcAft>
                <a:spcPts val="600"/>
              </a:spcAft>
              <a:defRPr sz="1700" b="1">
                <a:solidFill>
                  <a:srgbClr val="4A9EFF"/>
                </a:solidFill>
                <a:latin typeface="Calibri"/>
              </a:defRPr>
            </a:pPr>
            <a:r>
              <a:t>2. Status Quo Challenge</a:t>
            </a:r>
          </a:p>
          <a:p>
            <a:pPr>
              <a:defRPr sz="1300">
                <a:solidFill>
                  <a:srgbClr val="CCCCCC"/>
                </a:solidFill>
                <a:latin typeface="Calibri"/>
              </a:defRPr>
            </a:pPr>
            <a:r>
              <a:t>How do you solve this today? Why is that insufficient?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303520" cy="1280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 rIns="203200"/>
          <a:lstStyle/>
          <a:p>
            <a:pPr algn="ctr">
              <a:spcAft>
                <a:spcPts val="600"/>
              </a:spcAft>
              <a:defRPr sz="1700" b="1">
                <a:solidFill>
                  <a:srgbClr val="FF9800"/>
                </a:solidFill>
                <a:latin typeface="Calibri"/>
              </a:defRPr>
            </a:pPr>
            <a:r>
              <a:t>3. Premise Interrogation</a:t>
            </a:r>
          </a:p>
          <a:p>
            <a:pPr>
              <a:defRPr sz="1300">
                <a:solidFill>
                  <a:srgbClr val="CCCCCC"/>
                </a:solidFill>
                <a:latin typeface="Calibri"/>
              </a:defRPr>
            </a:pPr>
            <a:r>
              <a:t>Are your assumptions actually correct? Let me challenge 4 of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00400"/>
            <a:ext cx="5303520" cy="1280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 rIns="203200"/>
          <a:lstStyle/>
          <a:p>
            <a:pPr algn="ctr">
              <a:spcAft>
                <a:spcPts val="600"/>
              </a:spcAft>
              <a:defRPr sz="1700" b="1">
                <a:solidFill>
                  <a:srgbClr val="4CAF50"/>
                </a:solidFill>
                <a:latin typeface="Calibri"/>
              </a:defRPr>
            </a:pPr>
            <a:r>
              <a:t>4. Capability Extraction</a:t>
            </a:r>
          </a:p>
          <a:p>
            <a:pPr>
              <a:defRPr sz="1300">
                <a:solidFill>
                  <a:srgbClr val="CCCCCC"/>
                </a:solidFill>
                <a:latin typeface="Calibri"/>
              </a:defRPr>
            </a:pPr>
            <a:r>
              <a:t>Here are 5 capabilities you didn't realize you were describing.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303520" cy="1280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 rIns="203200"/>
          <a:lstStyle/>
          <a:p>
            <a:pPr algn="ctr">
              <a:spcAft>
                <a:spcPts val="600"/>
              </a:spcAft>
              <a:defRPr sz="1700" b="1">
                <a:solidFill>
                  <a:srgbClr val="00BCD4"/>
                </a:solidFill>
                <a:latin typeface="Calibri"/>
              </a:defRPr>
            </a:pPr>
            <a:r>
              <a:t>5. Approach Generation</a:t>
            </a:r>
          </a:p>
          <a:p>
            <a:pPr>
              <a:defRPr sz="1300">
                <a:solidFill>
                  <a:srgbClr val="CCCCCC"/>
                </a:solidFill>
                <a:latin typeface="Calibri"/>
              </a:defRPr>
            </a:pPr>
            <a:r>
              <a:t>3 implementation paths with effort estimates and trade-offs.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5303520" cy="1280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 rIns="203200"/>
          <a:lstStyle/>
          <a:p>
            <a:pPr algn="ctr">
              <a:spcAft>
                <a:spcPts val="600"/>
              </a:spcAft>
              <a:defRPr sz="1700" b="1">
                <a:solidFill>
                  <a:srgbClr val="FF5252"/>
                </a:solidFill>
                <a:latin typeface="Calibri"/>
              </a:defRPr>
            </a:pPr>
            <a:r>
              <a:t>6. Wedge Recommendation</a:t>
            </a:r>
          </a:p>
          <a:p>
            <a:pPr>
              <a:defRPr sz="1300">
                <a:solidFill>
                  <a:srgbClr val="CCCCCC"/>
                </a:solidFill>
                <a:latin typeface="Calibri"/>
              </a:defRPr>
            </a:pPr>
            <a:r>
              <a:t>Ship the narrowest useful thing tomorrow. Learn from real usage.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6 /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4A9EFF"/>
                </a:solidFill>
                <a:latin typeface="Calibri"/>
              </a:defRPr>
            </a:pPr>
            <a:r>
              <a:t>Lock the architecture before you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7 /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A9EFF"/>
                </a:solidFill>
                <a:latin typeface="Calibri"/>
              </a:defRPr>
            </a:pPr>
            <a:r>
              <a:t>/plan-ceo-review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CEO / Founder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Rethink the problem. Find the 10-star product hiding inside the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4A9EFF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Four scope modes: Expansion, Selective, Hold, Reduction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Challenges your feature request from first principles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Asks: 'What would make this 10x better?'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Identifies what you should NOT build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Surfaces hidden assumptions and market risks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Reads the /office-hours design doc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4A9EFF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/plan-ceo-review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Reading your design doc from /office-hours...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Your scope is too wide. 3 of these 5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are nice-to-haves. Here's the 10-star version: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[proposes focused MVP with expansion path]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Agree, drop features 3 and 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68696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4A9EFF"/>
                </a:solidFill>
                <a:latin typeface="Calibri"/>
              </a:defRPr>
            </a:pPr>
            <a:r>
              <a:t>Output: Refined plan ready for /plan-eng-review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8 / 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CAF50"/>
                </a:solidFill>
                <a:latin typeface="Calibri"/>
              </a:defRPr>
            </a:pPr>
            <a:r>
              <a:t>/plan-eng-review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Eng Manager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Lock in architecture, data flow, diagrams, edge cases, and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4CAF50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ASCII diagrams for data flow and state machines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Test matrix with expected pass/fail scenarios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Error paths and failure mode analysis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Security concerns flagged up front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Forces hidden assumptions into the open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Writes test plan that /qa picks up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4CAF50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/plan-eng-review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Reading CEO-reviewed plan...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Architecture: 3 services, 2 databases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[draws ASCII data flow diagram]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Edge case: What if calendar API rate-limits?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Test plan: 14 scenarios across 3 categories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Add retry with backoff for rate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4CAF50"/>
                </a:solidFill>
                <a:latin typeface="Calibri"/>
              </a:defRPr>
            </a:pPr>
            <a:r>
              <a:t>Output: Test plan + architecture doc fed into /qa and /review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9 /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9800"/>
                </a:solidFill>
                <a:latin typeface="Calibri"/>
              </a:defRPr>
            </a:pPr>
            <a:r>
              <a:t>/plan-design-review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Senior Designer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Rates each design dimension 0-10, then explains what a 10 looks 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FF9800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Scores: hierarchy, spacing, typography, color, motion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AI Slop detection — catches generic AI-generated patterns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Interactive: one AskUserQuestion per design choice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Shows what a 10/10 looks like for each dimension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Edits the plan directly to reach higher scores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Same methodology as /design-review (but pre-code)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9800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/plan-design-review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Hierarchy: 6/10. Your nav is competing with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your CTA. A 10 would isolate the primary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Should I make the nav recede? [Y/N]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Typography: 4/10. Three font families is AI slop.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A 10 uses one family, three weights. Fixing...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FF9800"/>
                </a:solidFill>
                <a:latin typeface="Calibri"/>
              </a:defRPr>
            </a:pPr>
            <a:r>
              <a:t>Output: Design spec with scores, ready for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10 /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9688"/>
                </a:solidFill>
                <a:latin typeface="Calibri"/>
              </a:defRPr>
            </a:pPr>
            <a:r>
              <a:t>/plan-devex-review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Developer Experience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Interactive DX review: 20-45 forcing questions about your developer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009688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Explores developer personas and their journeys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Benchmarks against competitor TTHW (Time to Hello World)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Designs your 'magical moment' — first success experience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Traces friction points step by step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Three modes: DX Expansion, DX Polish, DX Triage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Feeds into /devex-review for live testing after 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9688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/plan-devex-review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Who are your 3 developer personas?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Persona 1 TTHW: 12 minutes. Competitor: 3 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Friction point: npm install takes 4 steps.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Proposed magical moment: working demo in 90 sec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Focus on the getting-started flow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68696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009688"/>
                </a:solidFill>
                <a:latin typeface="Calibri"/>
              </a:defRPr>
            </a:pPr>
            <a:r>
              <a:t>Output: DX plan with TTHW targets per 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11 /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BCD4"/>
                </a:solidFill>
                <a:latin typeface="Calibri"/>
              </a:defRPr>
            </a:pPr>
            <a:r>
              <a:t>/autoplan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Review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One command runs CEO -&gt; design -&gt; eng review automatically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00BCD4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Runs all review stages in sequence with encoded principles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Auto-detects which reviews apply (UI? API? Infra?)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Surfaces only taste decisions for your approval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Mechanical decisions handled automatically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Produces a fully-reviewed, ready-to-implement plan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Saves 30+ minutes of manual review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BCD4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/autoplan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Running CEO review... [3 scope decisions]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Running design review... [scores 7 dimensions]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Running eng review... [architecture locked]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2 taste decisions need your input: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1) Modal or inline edit? 2) Dark mode default?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Inline edit, light mode default.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00BCD4"/>
                </a:solidFill>
                <a:latin typeface="Calibri"/>
              </a:defRPr>
            </a:pPr>
            <a:r>
              <a:t>Output: Complete reviewed plan, ready to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12 /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4CAF50"/>
                </a:solidFill>
                <a:latin typeface="Calibri"/>
              </a:defRPr>
            </a:pPr>
            <a:r>
              <a:t>Design and implement with specialist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13 /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91E63"/>
                </a:solidFill>
                <a:latin typeface="Calibri"/>
              </a:defRPr>
            </a:pPr>
            <a:r>
              <a:t>/design-consultation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Build a complete design system from scratch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E91E63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Researches the competitive landscape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Proposes creative risks you wouldn't think of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Generates realistic product mockups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Writes DESIGN.md with tokens, patterns, rationale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Considers accessibility and responsive design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Feeds into /design-shotgun for visual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91E63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/design-consultation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Building a developer dashboard for API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Researching: Stripe, Datadog, Vercel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Competitive gap: none show request flow visually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Creative risk: animated request flow waterfall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DESIGN.md: 12 tokens, 4 patterns, 3 components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68696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E91E63"/>
                </a:solidFill>
                <a:latin typeface="Calibri"/>
              </a:defRPr>
            </a:pPr>
            <a:r>
              <a:t>Output: DESIGN.md with full design system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14 /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BB86FC"/>
                </a:solidFill>
                <a:latin typeface="Calibri"/>
              </a:defRPr>
            </a:pPr>
            <a:r>
              <a:t>/design-shotgun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Design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Generate multiple AI mockup variants, pick favorites, iterate visually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BB86FC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Generates 4-6 AI mockup variants using GPT Image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Opens comparison board in your browser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You pick favorites, leave feedback per variant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Generates new round based on feedback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Taste memory learns your preferences over sessions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Repeat until you love something, then hand to /design-html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BB86FC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/design-shotgun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Landing page for my API 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[generates 5 variants, opens comparison board]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I like #2 and #4. More whitespace, bolder headline.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[generates round 2 with your feedback]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Taste memory: you prefer minimal, bold, spacious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#3 is perfect. Send to /design-html.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BB86FC"/>
                </a:solidFill>
                <a:latin typeface="Calibri"/>
              </a:defRPr>
            </a:pPr>
            <a:r>
              <a:t>Output: Approved mockup ready for production 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15 /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A9EFF"/>
                </a:solidFill>
                <a:latin typeface="Calibri"/>
              </a:defRPr>
            </a:pPr>
            <a:r>
              <a:t>/design-html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Design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Turn a mockup into production HTML that actually works at every viewport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4A9EFF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Uses Pretext for computed text layout — text reflows on resize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30KB overhead, zero dependencies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Detects your framework (React, Svelte, Vue)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Smart API routing per design type (landing/dashboard/form)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Heights adjust to content, layouts are dynamic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Output is shippable, not 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4A9EFF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/design-html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Reading approved mockup from /design-shotgun...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Detected: Next.js project, React components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Design type: landing page -&gt; using hero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Pretext layout: computed heights, text reflow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[writes 3 React components, 1 CSS module]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Responsive test: passes 320px to 2560px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4A9EFF"/>
                </a:solidFill>
                <a:latin typeface="Calibri"/>
              </a:defRPr>
            </a:pPr>
            <a:r>
              <a:t>Output: Production components, shippable as-is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16 /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FF9800"/>
                </a:solidFill>
                <a:latin typeface="Calibri"/>
              </a:defRPr>
            </a:pPr>
            <a:r>
              <a:t>Catch bugs before they reach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17 /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9800"/>
                </a:solidFill>
                <a:latin typeface="Calibri"/>
              </a:defRPr>
            </a:pPr>
            <a:r>
              <a:t>/review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Staff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Find the bugs that pass CI but blow up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FF9800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Analyzes diff against base branch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Auto-fixes obvious issues (formatting, imports)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Flags completeness gaps and missing error handling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SQL safety, LLM trust boundary violations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Smart routing: skips design review for backend PRs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Review Readiness Dashboard shows where you 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9800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Analyzing diff: 847 lines across 11 files...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[AUTO-FIXED] 2 issues: unused import, typo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[ASK] Line 142: race condition in concurrent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update. Should I add a mutex? [Y/N]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Fixed. 0 remaining issues. Ready to ship.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FF9800"/>
                </a:solidFill>
                <a:latin typeface="Calibri"/>
              </a:defRPr>
            </a:pPr>
            <a:r>
              <a:t>Output: Clean diff with all issues 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18 /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5252"/>
                </a:solidFill>
                <a:latin typeface="Calibri"/>
              </a:defRPr>
            </a:pPr>
            <a:r>
              <a:t>/investigate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Systematic Debugger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Root-cause analysis with the Iron Law: no fixes without investigation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FF5252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Four phases: investigate, analyze, hypothesize, implement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Traces data flow from input to output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Tests hypotheses before applying fixes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Auto-freezes to the module being debugged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Stops after 3 failed fix attempts and escalates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Never guesses — always traces the actual execution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5252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/investigate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Users report intermittent 500 errors on /api/users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Phase 1: Investigating. Tracing request path...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Phase 2: Connection pool exhaustion at line 89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Phase 3: Hypothesis - missing conn.release()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Phase 4: Fix applied. Adding regression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Verified: 0 connection leaks in 1000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FF5252"/>
                </a:solidFill>
                <a:latin typeface="Calibri"/>
              </a:defRPr>
            </a:pPr>
            <a:r>
              <a:t>Output: Root cause found, fix applied, regression test added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19 /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BCD4"/>
                </a:solidFill>
                <a:latin typeface="Calibri"/>
              </a:defRPr>
            </a:pPr>
            <a:r>
              <a:t>/codex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Multi-AI Second Opinion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Independent review from OpenAI Codex CLI — a completely different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00BCD4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Three modes: review (pass/fail), adversarial, consultation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Adversarial mode: actively tries to break your code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Session continuity in consultation mode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Cross-model analysis when both /review and /codex have run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Shows findings that overlap and which are unique to each AI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Two different AI models, same diff, higher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BCD4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/codex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Sending diff to OpenAI Codex CLI...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Codex: PASS with 2 observations: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Codex: 1) Consider memoizing the filter callback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Codex: 2) Edge case: empty array not handled in reduce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Cross-model analysis: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Both flagged the reduce edge case. Codex-only: memo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00BCD4"/>
                </a:solidFill>
                <a:latin typeface="Calibri"/>
              </a:defRPr>
            </a:pPr>
            <a:r>
              <a:t>Output: Cross-model review with overlap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20 /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91E63"/>
                </a:solidFill>
                <a:latin typeface="Calibri"/>
              </a:defRPr>
            </a:pPr>
            <a:r>
              <a:t>/design-review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Designer Who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Same audit as /plan-design-review, but it fixes what it finds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E91E63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Scores design dimensions, then applies fixes directly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Atomic commits — each fix is a separate commit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Before/after screenshots for verification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AI slop detection: catches generic AI patterns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Same 0-10 scoring methodology as plan-design-review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The boomerang: compares live state to plan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91E63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/design-review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Scoring 7 dimensions...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Spacing: 5/10. Fixing: consistent 8px grid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[commit 1: normalize spacing to 8px grid]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Typography: 4/10. Fixing: reduce to 1 family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[commit 2: consolidate font families]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[screenshot: before vs after comparison]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E91E63"/>
                </a:solidFill>
                <a:latin typeface="Calibri"/>
              </a:defRPr>
            </a:pPr>
            <a:r>
              <a:t>Output: Atomic commits with visual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21 /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FF5252"/>
                </a:solidFill>
                <a:latin typeface="Calibri"/>
              </a:defRPr>
            </a:pPr>
            <a:r>
              <a:t>Real browser, real clicks, real security audits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22 / 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CAF50"/>
                </a:solidFill>
                <a:latin typeface="Calibri"/>
              </a:defRPr>
            </a:pPr>
            <a:r>
              <a:t>/qa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QA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Claude says "I SEE THE ISSUE" and then actually fixes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4CAF50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Opens a real Chromium browser, clicks through user flows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Finds bugs, fixes them with atomic commits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Auto-generates regression test for every fix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Re-verifies the fix in the browser after committing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Massive unlock: went from 6 to 12 parallel workers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The agent has eyes now — not just reading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4CAF50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/qa https://staging.myapp.com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Opening browser... navigating to staging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Testing login flow... [screenshot]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BUG: Submit button disabled after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[fix: remove premature disable in handler]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[test: adds e2e test for login submit state]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Re-verifying... button works. Moving to next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4CAF50"/>
                </a:solidFill>
                <a:latin typeface="Calibri"/>
              </a:defRPr>
            </a:pPr>
            <a:r>
              <a:t>Output: All bugs fixed, regression tests added, verified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23 /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9688"/>
                </a:solidFill>
                <a:latin typeface="Calibri"/>
              </a:defRPr>
            </a:pPr>
            <a:r>
              <a:t>/qa-only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QA Reporter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Same methodology as /qa but report only — no code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009688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Pure bug report without modifying any code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Structured report with severity and screenshots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Great for teams where QA and dev are separate roles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Health status per page/flow tested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Can be run by a non-technical team member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Feed the report into /qa later to auto-fix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9688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/qa-only https://staging.myapp.com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Testing 8 user flows...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CRITICAL: Login form accepts empty password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HIGH: Cart total doesn't update on quantity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MEDIUM: Footer links 404 on /about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LOW: Image alt text missing on hero banner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68696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009688"/>
                </a:solidFill>
                <a:latin typeface="Calibri"/>
              </a:defRPr>
            </a:pPr>
            <a:r>
              <a:t>Output: Structured QA report with severity levels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24 / 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5252"/>
                </a:solidFill>
                <a:latin typeface="Calibri"/>
              </a:defRPr>
            </a:pPr>
            <a:r>
              <a:t>/cso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Chief Security Officer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OWASP Top 10 + STRIDE threat model with zero false-positive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FF5252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17 false positive exclusions for zero noise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8/10+ confidence gate — no speculative findings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Independent finding verification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Each finding includes concrete exploit scenario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STRIDE threat modeling for architecture review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Secrets archaeology — finds leaked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5252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/cso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Running OWASP Top 10 audit...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CRITICAL (9/10): SQL injection in search endpoint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Exploit: GET /search?q='; DROP TABLE users;--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Running STRIDE threat model...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Spoofing: JWT secret in environment variable 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Tampering: No CSRF token on POST /settings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FF5252"/>
                </a:solidFill>
                <a:latin typeface="Calibri"/>
              </a:defRPr>
            </a:pPr>
            <a:r>
              <a:t>Output: Zero-noise security report with exploit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25 / 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00BCD4"/>
                </a:solidFill>
                <a:latin typeface="Calibri"/>
              </a:defRPr>
            </a:pPr>
            <a:r>
              <a:t>From approved code to verified in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26 /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A9EFF"/>
                </a:solidFill>
                <a:latin typeface="Calibri"/>
              </a:defRPr>
            </a:pPr>
            <a:r>
              <a:t>/ship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Release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Sync main, run tests, audit coverage, push, open PR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4A9EFF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Bootstraps test frameworks if your project has none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Every run produces a coverage audit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100% test coverage is the goal — tests make vibe coding safe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Auto-invokes /document-release to keep docs current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Filter-squashes WIP commits if checkpoint mode is 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Smart: transforms tasks into verifiable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4A9EFF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Syncing main... rebasing 4 commits...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Running tests: 42 pass, 0 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Coverage: 87% (+3% from /qa regression tests)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Updating docs via /document-release...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Pushing branch, creating PR...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PR: github.com/you/app/pull/42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4A9EFF"/>
                </a:solidFill>
                <a:latin typeface="Calibri"/>
              </a:defRPr>
            </a:pPr>
            <a:r>
              <a:t>Output: PR opened, tests passing, docs updated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27 /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CAF50"/>
                </a:solidFill>
                <a:latin typeface="Calibri"/>
              </a:defRPr>
            </a:pPr>
            <a:r>
              <a:t>/land-and-deploy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Release Engineer (Deploy)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One command from 'approved' to 'verified in production'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4CAF50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Merges the PR after checks pass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Waits for CI pipeline to complete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Waits for deploy to finish (Fly, Vercel, Render, etc.)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Verifies production health via canary checks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One command replaces 5 manual steps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Configure once with /setup-deploy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4CAF50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/land-and-deploy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PR #42: all checks green. Merging...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Waiting for CI pipeline... (2m 14s)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Deploy to production started...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Deploy complete. Running health checks...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Production healthy: 200 OK, &lt;150ms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Verified. PR #42 is live.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4CAF50"/>
                </a:solidFill>
                <a:latin typeface="Calibri"/>
              </a:defRPr>
            </a:pPr>
            <a:r>
              <a:t>Output: Code merged, deployed, and verified in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28 /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9800"/>
                </a:solidFill>
                <a:latin typeface="Calibri"/>
              </a:defRPr>
            </a:pPr>
            <a:r>
              <a:t>/canary + /benchmark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SRE + Performance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Post-deploy monitoring and performance regression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FF9800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/canary: watches for console errors, perf regressions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/canary: monitors page failures in production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/benchmark: baselines page load, Core Web Vitals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/benchmark: compares before/after on every PR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Catches regressions that unit tests miss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Runs in a real browser — measures what users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9800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/canary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Monitoring https://myapp.com...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Cycle 1: OK. 0 errors, LCP 1.2s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Cycle 2: OK. 0 errors, LCP 1.1s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Cycle 3: WARNING. 1 console error on /dashboard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Error: 'Cannot read property of undefined' at line 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/benchmark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1675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LCP improved: 1.8s -&gt; 1.2s (33% faster)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6556248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FF9800"/>
                </a:solidFill>
                <a:latin typeface="Calibri"/>
              </a:defRPr>
            </a:pPr>
            <a:r>
              <a:t>Output: Continuous monitoring with performance baselines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29 /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Reflect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99999"/>
                </a:solidFill>
                <a:latin typeface="Calibri"/>
              </a:defRPr>
            </a:pPr>
            <a:r>
              <a:t>Learn, document, and improve for next sprint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30 / 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999999"/>
                </a:solidFill>
                <a:latin typeface="Calibri"/>
              </a:defRPr>
            </a:pPr>
            <a:r>
              <a:t>/retro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Eng Manager (Retrospective)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Team-aware weekly retrospective with per-person breakdowns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999999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Analyzes commit history and work patterns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Per-person breakdowns and shipping streaks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Test health trends over time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Growth opportunities and bottleneck identification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/retro global: runs across all projects and AI tools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Tracks Claude Code, Codex, Gemini usage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999999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/retro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Analyzing week of April 14-18...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23 commits, 4 PRs merged, 2 features shipped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Test coverage: 87% -&gt; 92% (+5%)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Bottleneck: /api/search took 3 review rounds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Growth: first security audit via /cso this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/retro global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1675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[cross-project analysis across 5 repos]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6556248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999999"/>
                </a:solidFill>
                <a:latin typeface="Calibri"/>
              </a:defRPr>
            </a:pPr>
            <a:r>
              <a:t>Output: Sprint retrospective with actionable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31 /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9688"/>
                </a:solidFill>
                <a:latin typeface="Calibri"/>
              </a:defRPr>
            </a:pPr>
            <a:r>
              <a:t>/document-release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Technical Writer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Update all project docs to match what you just shipped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009688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Reads every doc file in your project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Cross-references the diff to find stale sections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Updates README, ARCHITECTURE, CONTRIBUTING, CLAUDE.md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Auto-invoked by /ship — docs stay current without effort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Catches stale READMEs automatically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The engineer you never had: docs are always accurate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9688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/document-release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Reading 14 doc files...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Cross-referencing against 847-line diff...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README.md: API section outdated. Updating...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ARCHITECTURE.md: new service not documented.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CONTRIBUTING.md: test command changed. Fixing.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3 docs updated, 11 still current.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009688"/>
                </a:solidFill>
                <a:latin typeface="Calibri"/>
              </a:defRPr>
            </a:pPr>
            <a:r>
              <a:t>Output: All project documentation accurate and 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32 /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BB86FC"/>
                </a:solidFill>
                <a:latin typeface="Calibri"/>
              </a:defRPr>
            </a:pPr>
            <a:r>
              <a:t>/learn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Persistent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Project memory that compounds across sessions — gstack gets smarter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BB86FC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Saves patterns, pitfalls, and preferences per project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Review, search, prune, and export learnings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Learnings persist across sessions and context windows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Avoids repeating mistakes from previous sprints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Remembers your taste, your architecture decisions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5%/week decay on design taste to stay 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BB86FC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/learn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12 learnings for this project: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- API rate limit: use exponential backoff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- User prefers inline edit over modal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- Test DB: use transactions, not mocks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/learn search 'database'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2 results: connection pooling, test transactions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BB86FC"/>
                </a:solidFill>
                <a:latin typeface="Calibri"/>
              </a:defRPr>
            </a:pPr>
            <a:r>
              <a:t>Output: Searchable, persistent project knowledge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33 /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Power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4A9EFF"/>
                </a:solidFill>
                <a:latin typeface="Calibri"/>
              </a:defRPr>
            </a:pPr>
            <a:r>
              <a:t>Browser automation, safety guardrails, and multi-agent coordination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34 /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A9EFF"/>
                </a:solidFill>
                <a:latin typeface="Calibri"/>
              </a:defRPr>
            </a:pPr>
            <a:r>
              <a:t>/browse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Browser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Give the agent eyes. Real Chromium, real clicks, real screenshots.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4A9EFF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~100ms per browser command — fast enough for real work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Anti-bot stealth: Google, NYTimes work without captchas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GStack Browser: custom Chromium with sidebar agent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Sidebar: natural language browser commands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Auto-routes: Sonnet for actions, Opus for analysis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Browser handoff: solve CAPTCHAs manually, resume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4A9EFF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/browse https://myapp.com/settings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Navigating... [screenshot]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I see the settings page. 4 sections 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Click 'Notifications' and screenshot the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[click] [screenshot] Form has 8 toggles.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Fill all toggles to 'enabled' and submit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Done. [screenshot] All notifications enabled.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4A9EFF"/>
                </a:solidFill>
                <a:latin typeface="Calibri"/>
              </a:defRPr>
            </a:pPr>
            <a:r>
              <a:t>Output: Browser controlled via natural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35 /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CAF50"/>
                </a:solidFill>
                <a:latin typeface="Calibri"/>
              </a:defRPr>
            </a:pPr>
            <a:r>
              <a:t>/pair-agent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Multi-Agent Coordinator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Share your browser with any AI agent — Claude, Codex, Hermes, or any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4CAF50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One command, one paste, connected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Each agent gets its own tab — tab isolation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Scoped tokens, rate limiting, activity attribution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Auto-launches headed mode so you watch everything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Auto-starts ngrok tunnel for remote agents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First time AI agents from different vendors coordinate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4CAF50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/pair-agent codex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GStack Browser launched. Setup key generated.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Paste this into your Codex session: [block]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[Codex connects, opens its own tab]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Claude, test the login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Codex, test the checkout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[Both agents working in same browser, isolated tabs]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4CAF50"/>
                </a:solidFill>
                <a:latin typeface="Calibri"/>
              </a:defRPr>
            </a:pPr>
            <a:r>
              <a:t>Output: Multi-agent browser coordination with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36 /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9800"/>
                </a:solidFill>
                <a:latin typeface="Calibri"/>
              </a:defRPr>
            </a:pPr>
            <a:r>
              <a:t>/careful + /freeze + /guard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Safety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Prevent destructive commands and accidental edits outside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FF9800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/careful: warns before rm -rf, DROP TABLE, force-push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/freeze: locks edits to one directory during debugging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/guard: activates both /careful and /freeze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/investigate auto-freezes to the module being debugged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Override any warning if you know what you're doing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Say 'be careful' naturally to activate /careful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FF9800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be careful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Safety guardrails activated.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I'll warn before any destructive command.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/freeze src/api/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Edit lock active. Only src/api/ is writable.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[later] WARNING: 'git reset --hard' detected.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This will discard all uncommitted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1675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Proceed? [Y/N]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6556248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FF9800"/>
                </a:solidFill>
                <a:latin typeface="Calibri"/>
              </a:defRPr>
            </a:pPr>
            <a:r>
              <a:t>Output: Protection from accidental destruction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37 / 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BCD4"/>
                </a:solidFill>
                <a:latin typeface="Calibri"/>
              </a:defRPr>
            </a:pPr>
            <a:r>
              <a:t>Checkpoint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Auto-save your work as you go. Survives crashes and context switches.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63500" cy="7772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51560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77800" rIns="177800"/>
          <a:lstStyle/>
          <a:p>
            <a:pPr algn="ctr">
              <a:defRPr sz="1600" b="1">
                <a:solidFill>
                  <a:srgbClr val="4A9EFF"/>
                </a:solidFill>
                <a:latin typeface="Calibri"/>
              </a:defRPr>
            </a:pPr>
            <a:r>
              <a:t>Auto-Commit WIP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Skills auto-commit with WIP: prefix as you work. Every decision, every partial change is saved.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6350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1051560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77800" rIns="177800"/>
          <a:lstStyle/>
          <a:p>
            <a:pPr algn="ctr">
              <a:defRPr sz="1600" b="1">
                <a:solidFill>
                  <a:srgbClr val="4CAF50"/>
                </a:solidFill>
                <a:latin typeface="Calibri"/>
              </a:defRPr>
            </a:pPr>
            <a:r>
              <a:t>Structured Context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[gstack-context] body captures decisions made, remaining work, and failed approaches.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63500" cy="777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566160"/>
            <a:ext cx="1051560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77800" rIns="177800"/>
          <a:lstStyle/>
          <a:p>
            <a:pPr algn="ctr">
              <a:defRPr sz="1600" b="1">
                <a:solidFill>
                  <a:srgbClr val="FF9800"/>
                </a:solidFill>
                <a:latin typeface="Calibri"/>
              </a:defRPr>
            </a:pPr>
            <a:r>
              <a:t>Crash Recovery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/context-restore reads WIP commits to reconstruct session state after a crash.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26280"/>
            <a:ext cx="63500" cy="7772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526280"/>
            <a:ext cx="1051560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77800" rIns="177800"/>
          <a:lstStyle/>
          <a:p>
            <a:pPr algn="ctr">
              <a:defRPr sz="1600" b="1">
                <a:solidFill>
                  <a:srgbClr val="BB86FC"/>
                </a:solidFill>
                <a:latin typeface="Calibri"/>
              </a:defRPr>
            </a:pPr>
            <a:r>
              <a:t>Clean History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/ship filter-squashes WIP commits before PR — bisect stays clean.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86400"/>
            <a:ext cx="63500" cy="7772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5486400"/>
            <a:ext cx="1051560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77800" rIns="177800"/>
          <a:lstStyle/>
          <a:p>
            <a:pPr algn="ctr">
              <a:defRPr sz="1600" b="1">
                <a:solidFill>
                  <a:srgbClr val="FF5252"/>
                </a:solidFill>
                <a:latin typeface="Calibri"/>
              </a:defRPr>
            </a:pPr>
            <a:r>
              <a:t>Local by Default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No CI spam. Push is opt-in via checkpoint_push=true.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38 /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9688"/>
                </a:solidFill>
                <a:latin typeface="Calibri"/>
              </a:defRPr>
            </a:pPr>
            <a:r>
              <a:t>/devex-review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DX Tester (Live Audit)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Actually test your developer experience: navigate docs, try onboarding, time TTHW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203200" rIns="203200"/>
          <a:lstStyle/>
          <a:p>
            <a:pPr algn="ctr">
              <a:spcAft>
                <a:spcPts val="800"/>
              </a:spcAft>
              <a:defRPr sz="1700" b="1">
                <a:solidFill>
                  <a:srgbClr val="009688"/>
                </a:solidFill>
                <a:latin typeface="Calibri"/>
              </a:defRPr>
            </a:pPr>
            <a:r>
              <a:t>What It Does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Navigates your docs in a real browser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Tries the getting-started flow step by step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Times TTHW (Time to Hello World) precisely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Screenshots errors and friction points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Compares against /plan-devex-review scores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The boomerang: did reality match the plan?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09688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457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4CAF50"/>
                </a:solidFill>
                <a:latin typeface="Calibri"/>
              </a:defRPr>
            </a:pPr>
            <a:r>
              <a:t>You: /devex-review https://docs.myapi.com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5409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Opening docs... [screenshot]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47872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Step 1: npm install myapi-sdk... 12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41648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Step 2: Copy quickstart... error at line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35424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FRICTION: quickstart uses deprecated import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TTHW: 4m 22s (plan target was 90 seconds)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522976"/>
            <a:ext cx="521208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 rIns="152400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Claude: Plan score was 7/10. Reality: 4/10.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6062472"/>
            <a:ext cx="5212080" cy="5486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52400"/>
          <a:lstStyle/>
          <a:p>
            <a:pPr algn="ctr">
              <a:defRPr sz="1100">
                <a:solidFill>
                  <a:srgbClr val="009688"/>
                </a:solidFill>
                <a:latin typeface="Calibri"/>
              </a:defRPr>
            </a:pPr>
            <a:r>
              <a:t>Output: Live DX audit with plan-vs-reality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39 / 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B86FC"/>
                </a:solidFill>
                <a:latin typeface="Calibri"/>
              </a:defRPr>
            </a:pPr>
            <a:r>
              <a:t>10-15 parallel sprints with multi-agent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40 / 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Parallel Sprints with Conductor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Calibri"/>
              </a:defRPr>
            </a:pPr>
            <a:r>
              <a:t>10-15 isolated Claude Code sessions running simultaneously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400" b="1">
                <a:solidFill>
                  <a:srgbClr val="BB86FC"/>
                </a:solidFill>
                <a:latin typeface="Calibri"/>
              </a:defRPr>
            </a:pPr>
            <a:r>
              <a:t>Session 1</a:t>
            </a:r>
          </a:p>
          <a:p>
            <a:pPr>
              <a:spcBef>
                <a:spcPts val="2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/office-hours on new feature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30352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400" b="1">
                <a:solidFill>
                  <a:srgbClr val="4A9EFF"/>
                </a:solidFill>
                <a:latin typeface="Calibri"/>
              </a:defRPr>
            </a:pPr>
            <a:r>
              <a:t>Session 2</a:t>
            </a:r>
          </a:p>
          <a:p>
            <a:pPr>
              <a:spcBef>
                <a:spcPts val="2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/plan-eng-review on API redesign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30352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Session 3</a:t>
            </a:r>
          </a:p>
          <a:p>
            <a:pPr>
              <a:spcBef>
                <a:spcPts val="2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Implementing auth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60320"/>
            <a:ext cx="530352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400" b="1">
                <a:solidFill>
                  <a:srgbClr val="FF9800"/>
                </a:solidFill>
                <a:latin typeface="Calibri"/>
              </a:defRPr>
            </a:pPr>
            <a:r>
              <a:t>Session 4</a:t>
            </a:r>
          </a:p>
          <a:p>
            <a:pPr>
              <a:spcBef>
                <a:spcPts val="2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/review on PR #41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530352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400" b="1">
                <a:solidFill>
                  <a:srgbClr val="FF5252"/>
                </a:solidFill>
                <a:latin typeface="Calibri"/>
              </a:defRPr>
            </a:pPr>
            <a:r>
              <a:t>Session 5</a:t>
            </a:r>
          </a:p>
          <a:p>
            <a:pPr>
              <a:spcBef>
                <a:spcPts val="2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/qa on staging.myapp.com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530352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400" b="1">
                <a:solidFill>
                  <a:srgbClr val="E91E63"/>
                </a:solidFill>
                <a:latin typeface="Calibri"/>
              </a:defRPr>
            </a:pPr>
            <a:r>
              <a:t>Session 6</a:t>
            </a:r>
          </a:p>
          <a:p>
            <a:pPr>
              <a:spcBef>
                <a:spcPts val="2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/cso security audit on 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530352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Session 7</a:t>
            </a:r>
          </a:p>
          <a:p>
            <a:pPr>
              <a:spcBef>
                <a:spcPts val="2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Implementing dashboard charts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530352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400" b="1">
                <a:solidFill>
                  <a:srgbClr val="BB86FC"/>
                </a:solidFill>
                <a:latin typeface="Calibri"/>
              </a:defRPr>
            </a:pPr>
            <a:r>
              <a:t>Session 8</a:t>
            </a:r>
          </a:p>
          <a:p>
            <a:pPr>
              <a:spcBef>
                <a:spcPts val="2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/design-shotgun for landing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530352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400" b="1">
                <a:solidFill>
                  <a:srgbClr val="FF5252"/>
                </a:solidFill>
                <a:latin typeface="Calibri"/>
              </a:defRPr>
            </a:pPr>
            <a:r>
              <a:t>Session 9</a:t>
            </a:r>
          </a:p>
          <a:p>
            <a:pPr>
              <a:spcBef>
                <a:spcPts val="2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/investigate prod error spike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303520"/>
            <a:ext cx="5303520" cy="777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400" b="1">
                <a:solidFill>
                  <a:srgbClr val="999999"/>
                </a:solidFill>
                <a:latin typeface="Calibri"/>
              </a:defRPr>
            </a:pPr>
            <a:r>
              <a:t>Session 10</a:t>
            </a:r>
          </a:p>
          <a:p>
            <a:pPr>
              <a:spcBef>
                <a:spcPts val="2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/retro global across all repos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The sprint structure makes parallelism work. Without process, ten agents is ten sources of chaos.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41 /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Works on 10 AI Coding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CCCCCC"/>
                </a:solidFill>
                <a:latin typeface="Calibri"/>
              </a:defRPr>
            </a:pPr>
            <a:r>
              <a:t>Not just Claude Code. Setup auto-detects which agents you have installed.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500" b="1">
                <a:solidFill>
                  <a:srgbClr val="4A9EFF"/>
                </a:solidFill>
                <a:latin typeface="Calibri"/>
              </a:defRPr>
            </a:pPr>
            <a:r>
              <a:t>Claude Code</a:t>
            </a:r>
          </a:p>
          <a:p>
            <a:pPr>
              <a:spcBef>
                <a:spcPts val="200"/>
              </a:spcBef>
              <a:defRPr sz="1200">
                <a:solidFill>
                  <a:srgbClr val="CCCCCC"/>
                </a:solidFill>
                <a:latin typeface="Consolas"/>
              </a:defRPr>
            </a:pPr>
            <a:r>
              <a:t>Primary. Full skill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3035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500" b="1">
                <a:solidFill>
                  <a:srgbClr val="4CAF50"/>
                </a:solidFill>
                <a:latin typeface="Calibri"/>
              </a:defRPr>
            </a:pPr>
            <a:r>
              <a:t>OpenClaw</a:t>
            </a:r>
          </a:p>
          <a:p>
            <a:pPr>
              <a:spcBef>
                <a:spcPts val="200"/>
              </a:spcBef>
              <a:defRPr sz="1200">
                <a:solidFill>
                  <a:srgbClr val="CCCCCC"/>
                </a:solidFill>
                <a:latin typeface="Consolas"/>
              </a:defRPr>
            </a:pPr>
            <a:r>
              <a:t>ACP sessions, gstack-lite/full templates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3035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500" b="1">
                <a:solidFill>
                  <a:srgbClr val="FF9800"/>
                </a:solidFill>
                <a:latin typeface="Calibri"/>
              </a:defRPr>
            </a:pPr>
            <a:r>
              <a:t>OpenAI Codex CLI</a:t>
            </a:r>
          </a:p>
          <a:p>
            <a:pPr>
              <a:spcBef>
                <a:spcPts val="200"/>
              </a:spcBef>
              <a:defRPr sz="1200">
                <a:solidFill>
                  <a:srgbClr val="CCCCCC"/>
                </a:solidFill>
                <a:latin typeface="Consolas"/>
              </a:defRPr>
            </a:pPr>
            <a:r>
              <a:t>~/.codex/skills/gstack-*/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60320"/>
            <a:ext cx="53035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500" b="1">
                <a:solidFill>
                  <a:srgbClr val="BB86FC"/>
                </a:solidFill>
                <a:latin typeface="Calibri"/>
              </a:defRPr>
            </a:pPr>
            <a:r>
              <a:t>Cursor</a:t>
            </a:r>
          </a:p>
          <a:p>
            <a:pPr>
              <a:spcBef>
                <a:spcPts val="200"/>
              </a:spcBef>
              <a:defRPr sz="1200">
                <a:solidFill>
                  <a:srgbClr val="CCCCCC"/>
                </a:solidFill>
                <a:latin typeface="Consolas"/>
              </a:defRPr>
            </a:pPr>
            <a:r>
              <a:t>~/.cursor/skills/gstack-*/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53035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500" b="1">
                <a:solidFill>
                  <a:srgbClr val="00BCD4"/>
                </a:solidFill>
                <a:latin typeface="Calibri"/>
              </a:defRPr>
            </a:pPr>
            <a:r>
              <a:t>OpenCode</a:t>
            </a:r>
          </a:p>
          <a:p>
            <a:pPr>
              <a:spcBef>
                <a:spcPts val="200"/>
              </a:spcBef>
              <a:defRPr sz="1200">
                <a:solidFill>
                  <a:srgbClr val="CCCCCC"/>
                </a:solidFill>
                <a:latin typeface="Consolas"/>
              </a:defRPr>
            </a:pPr>
            <a:r>
              <a:t>~/.config/opencode/skills/gstack-*/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53035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500" b="1">
                <a:solidFill>
                  <a:srgbClr val="FF5252"/>
                </a:solidFill>
                <a:latin typeface="Calibri"/>
              </a:defRPr>
            </a:pPr>
            <a:r>
              <a:t>Factory Droid</a:t>
            </a:r>
          </a:p>
          <a:p>
            <a:pPr>
              <a:spcBef>
                <a:spcPts val="200"/>
              </a:spcBef>
              <a:defRPr sz="1200">
                <a:solidFill>
                  <a:srgbClr val="CCCCCC"/>
                </a:solidFill>
                <a:latin typeface="Consolas"/>
              </a:defRPr>
            </a:pPr>
            <a:r>
              <a:t>~/.factory/skills/gstack-*/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53035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500" b="1">
                <a:solidFill>
                  <a:srgbClr val="009688"/>
                </a:solidFill>
                <a:latin typeface="Calibri"/>
              </a:defRPr>
            </a:pPr>
            <a:r>
              <a:t>Slate</a:t>
            </a:r>
          </a:p>
          <a:p>
            <a:pPr>
              <a:spcBef>
                <a:spcPts val="200"/>
              </a:spcBef>
              <a:defRPr sz="1200">
                <a:solidFill>
                  <a:srgbClr val="CCCCCC"/>
                </a:solidFill>
                <a:latin typeface="Consolas"/>
              </a:defRPr>
            </a:pPr>
            <a:r>
              <a:t>~/.slate/skills/gstack-*/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53035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500" b="1">
                <a:solidFill>
                  <a:srgbClr val="E91E63"/>
                </a:solidFill>
                <a:latin typeface="Calibri"/>
              </a:defRPr>
            </a:pPr>
            <a:r>
              <a:t>Kiro</a:t>
            </a:r>
          </a:p>
          <a:p>
            <a:pPr>
              <a:spcBef>
                <a:spcPts val="200"/>
              </a:spcBef>
              <a:defRPr sz="1200">
                <a:solidFill>
                  <a:srgbClr val="CCCCCC"/>
                </a:solidFill>
                <a:latin typeface="Consolas"/>
              </a:defRPr>
            </a:pPr>
            <a:r>
              <a:t>~/.kiro/skills/gstack-*/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53035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500" b="1">
                <a:solidFill>
                  <a:srgbClr val="999999"/>
                </a:solidFill>
                <a:latin typeface="Calibri"/>
              </a:defRPr>
            </a:pPr>
            <a:r>
              <a:t>Hermes</a:t>
            </a:r>
          </a:p>
          <a:p>
            <a:pPr>
              <a:spcBef>
                <a:spcPts val="200"/>
              </a:spcBef>
              <a:defRPr sz="1200">
                <a:solidFill>
                  <a:srgbClr val="CCCCCC"/>
                </a:solidFill>
                <a:latin typeface="Consolas"/>
              </a:defRPr>
            </a:pPr>
            <a:r>
              <a:t>~/.hermes/skills/gstack-*/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303520"/>
            <a:ext cx="5303520" cy="7315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77800"/>
          <a:lstStyle/>
          <a:p>
            <a:pPr algn="ctr">
              <a:defRPr sz="1500" b="1">
                <a:solidFill>
                  <a:srgbClr val="4A9EFF"/>
                </a:solidFill>
                <a:latin typeface="Calibri"/>
              </a:defRPr>
            </a:pPr>
            <a:r>
              <a:t>GBrain (mod)</a:t>
            </a:r>
          </a:p>
          <a:p>
            <a:pPr>
              <a:spcBef>
                <a:spcPts val="200"/>
              </a:spcBef>
              <a:defRPr sz="1200">
                <a:solidFill>
                  <a:srgbClr val="CCCCCC"/>
                </a:solidFill>
                <a:latin typeface="Consolas"/>
              </a:defRPr>
            </a:pPr>
            <a:r>
              <a:t>~/.gbrain/skills/gstack-*/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42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End-to-End: From Idea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A9EFF"/>
                </a:solidFill>
                <a:latin typeface="Calibri"/>
              </a:defRPr>
            </a:pPr>
            <a:r>
              <a:t>Eight commands. One sprint. Shipped.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CAF50"/>
                </a:solidFill>
                <a:latin typeface="Calibri"/>
              </a:defRPr>
            </a:pPr>
            <a:r>
              <a:t>You: "I want to build a daily briefing app"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BB86FC"/>
                </a:solidFill>
                <a:latin typeface="Calibri"/>
              </a:defRPr>
            </a:pPr>
            <a:r>
              <a:t>/office-hours -&gt; Reframes: you're building a chief of staff AI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9EFF"/>
                </a:solidFill>
                <a:latin typeface="Calibri"/>
              </a:defRPr>
            </a:pPr>
            <a:r>
              <a:t>/plan-ceo-review -&gt; Challenges scope, focuses on MVP wedge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832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CAF50"/>
                </a:solidFill>
                <a:latin typeface="Calibri"/>
              </a:defRPr>
            </a:pPr>
            <a:r>
              <a:t>/plan-eng-review -&gt; Architecture, data flow, test matrix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6908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23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Claude writes 2,400 lines across 11 files (~8 minutes)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709160"/>
            <a:ext cx="411480" cy="41148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9800"/>
                </a:solidFill>
                <a:latin typeface="Calibri"/>
              </a:defRPr>
            </a:pPr>
            <a:r>
              <a:t>/review -&gt; AUTO-FIXED 2 issues. ASK: race condition -&gt; approved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03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5252"/>
                </a:solidFill>
                <a:latin typeface="Calibri"/>
              </a:defRPr>
            </a:pPr>
            <a:r>
              <a:t>/qa https://staging -&gt; Opens browser, finds bug, fixes it, adds test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98932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43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BCD4"/>
                </a:solidFill>
                <a:latin typeface="Calibri"/>
              </a:defRPr>
            </a:pPr>
            <a:r>
              <a:t>/ship -&gt; Tests: 42-&gt;51 (+9 new). PR: github.com/you/app/pull/42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43 /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CCCCCC"/>
                </a:solidFill>
                <a:latin typeface="Calibri"/>
              </a:defRPr>
            </a:pPr>
            <a:r>
              <a:t>Same person. Different era. The difference is the tooling.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560320" cy="3200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 lIns="203200" rIns="203200"/>
          <a:lstStyle/>
          <a:p>
            <a:pPr algn="ctr">
              <a:defRPr sz="5200" b="1">
                <a:solidFill>
                  <a:srgbClr val="4A9EFF"/>
                </a:solidFill>
                <a:latin typeface="Calibri"/>
              </a:defRPr>
            </a:pPr>
            <a:r>
              <a:t>810x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productivity</a:t>
            </a:r>
            <a:br/>
            <a:r>
              <a:t>gain</a:t>
            </a:r>
          </a:p>
          <a:p>
            <a:pPr algn="ctr">
              <a:spcBef>
                <a:spcPts val="1200"/>
              </a:spcBef>
              <a:defRPr sz="1200">
                <a:solidFill>
                  <a:srgbClr val="999999"/>
                </a:solidFill>
                <a:latin typeface="Calibri"/>
              </a:defRPr>
            </a:pPr>
            <a:r>
              <a:t>Logical code changes</a:t>
            </a:r>
            <a:br/>
            <a:r>
              <a:t>vs 2013 pace</a:t>
            </a:r>
            <a:br/>
            <a:r>
              <a:t>11,417 vs 14 lines/day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737360"/>
            <a:ext cx="2560320" cy="3200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 lIns="203200" rIns="203200"/>
          <a:lstStyle/>
          <a:p>
            <a:pPr algn="ctr">
              <a:defRPr sz="5200" b="1">
                <a:solidFill>
                  <a:srgbClr val="4CAF50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production</a:t>
            </a:r>
            <a:br/>
            <a:r>
              <a:t>services</a:t>
            </a:r>
          </a:p>
          <a:p>
            <a:pPr algn="ctr">
              <a:spcBef>
                <a:spcPts val="1200"/>
              </a:spcBef>
              <a:defRPr sz="1200">
                <a:solidFill>
                  <a:srgbClr val="999999"/>
                </a:solidFill>
                <a:latin typeface="Calibri"/>
              </a:defRPr>
            </a:pPr>
            <a:r>
              <a:t>Shipped in 60 days</a:t>
            </a:r>
            <a:br/>
            <a:r>
              <a:t>part-time, while</a:t>
            </a:r>
            <a:br/>
            <a:r>
              <a:t>running YC full-time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2560320" cy="3200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 lIns="203200" rIns="203200"/>
          <a:lstStyle/>
          <a:p>
            <a:pPr algn="ctr">
              <a:defRPr sz="5200" b="1">
                <a:solidFill>
                  <a:srgbClr val="FF9800"/>
                </a:solidFill>
                <a:latin typeface="Calibri"/>
              </a:defRPr>
            </a:pPr>
            <a:r>
              <a:t>40+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features</a:t>
            </a:r>
            <a:br/>
            <a:r>
              <a:t>shipped</a:t>
            </a:r>
          </a:p>
          <a:p>
            <a:pPr algn="ctr">
              <a:spcBef>
                <a:spcPts val="1200"/>
              </a:spcBef>
              <a:defRPr sz="1200">
                <a:solidFill>
                  <a:srgbClr val="999999"/>
                </a:solidFill>
                <a:latin typeface="Calibri"/>
              </a:defRPr>
            </a:pPr>
            <a:r>
              <a:t>In the last 60 days</a:t>
            </a:r>
            <a:br/>
            <a:r>
              <a:t>across multiple</a:t>
            </a:r>
            <a:br/>
            <a:r>
              <a:t>repositories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737360"/>
            <a:ext cx="2560320" cy="3200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 lIns="203200" rIns="203200"/>
          <a:lstStyle/>
          <a:p>
            <a:pPr algn="ctr">
              <a:defRPr sz="5200" b="1">
                <a:solidFill>
                  <a:srgbClr val="BB86FC"/>
                </a:solidFill>
                <a:latin typeface="Calibri"/>
              </a:defRPr>
            </a:pPr>
            <a:r>
              <a:t>10-15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parallel</a:t>
            </a:r>
            <a:br/>
            <a:r>
              <a:t>sprints</a:t>
            </a:r>
          </a:p>
          <a:p>
            <a:pPr algn="ctr">
              <a:spcBef>
                <a:spcPts val="1200"/>
              </a:spcBef>
              <a:defRPr sz="1200">
                <a:solidFill>
                  <a:srgbClr val="999999"/>
                </a:solidFill>
                <a:latin typeface="Calibri"/>
              </a:defRPr>
            </a:pPr>
            <a:r>
              <a:t>Running simultaneously</a:t>
            </a:r>
            <a:br/>
            <a:r>
              <a:t>via Conductor</a:t>
            </a:r>
            <a:br/>
            <a:r>
              <a:t>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2026: 1,237 contributions and counting  |  2013 (Bookface at YC): 772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44 /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Which Review Should I Use?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377440" cy="502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Building for...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280160"/>
            <a:ext cx="2560320" cy="502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Plan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280160"/>
            <a:ext cx="2743200" cy="502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Live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280160"/>
            <a:ext cx="2560320" cy="502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377440" cy="548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End users (UI, web)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548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/plan-design-review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828800"/>
            <a:ext cx="2743200" cy="548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/design-review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828800"/>
            <a:ext cx="2560320" cy="548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/autoplan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237744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Developers (API, SDK)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468880"/>
            <a:ext cx="256032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/plan-devex-review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468880"/>
            <a:ext cx="274320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/devex-review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468880"/>
            <a:ext cx="256032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/autoplan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2377440" cy="548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Architecture (infra)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3108960"/>
            <a:ext cx="2560320" cy="548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/plan-eng-review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108960"/>
            <a:ext cx="2743200" cy="548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108960"/>
            <a:ext cx="2560320" cy="548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/autoplan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49040"/>
            <a:ext cx="237744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749040"/>
            <a:ext cx="256032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/cso (plan audit)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749040"/>
            <a:ext cx="274320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/cso (code audit)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3749040"/>
            <a:ext cx="256032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/autoplan + /cso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Smart review routing: gstack tracks what reviews are run, figures out what's appropriate,</a:t>
            </a:r>
            <a:br/>
            <a:r>
              <a:t>and just does the smart thing. CEO doesn't look at infra bug fixes.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45 / 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Getting Started — 30 Seconds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2286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203200" rIns="203200"/>
          <a:lstStyle/>
          <a:p>
            <a:pPr algn="ctr">
              <a:spcAft>
                <a:spcPts val="400"/>
              </a:spcAft>
              <a:defRPr sz="1200" b="1">
                <a:solidFill>
                  <a:srgbClr val="4A9EFF"/>
                </a:solidFill>
                <a:latin typeface="Calibri"/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Install</a:t>
            </a:r>
          </a:p>
          <a:p>
            <a:pPr>
              <a:defRPr sz="1200">
                <a:solidFill>
                  <a:srgbClr val="CCCCCC"/>
                </a:solidFill>
                <a:latin typeface="Calibri"/>
              </a:defRPr>
            </a:pPr>
            <a:r>
              <a:t>git clone --depth 1 https://github.com/garrytan/gstack.git</a:t>
            </a:r>
            <a:br/>
            <a:r>
              <a:t>~/.claude/skills/gstack &amp;&amp; cd ~/.claude/skills/gstack &amp;&amp; ./setup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59" y="1188720"/>
            <a:ext cx="3474720" cy="2286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203200" rIns="203200"/>
          <a:lstStyle/>
          <a:p>
            <a:pPr algn="ctr">
              <a:spcAft>
                <a:spcPts val="400"/>
              </a:spcAft>
              <a:defRPr sz="1200" b="1">
                <a:solidFill>
                  <a:srgbClr val="4CAF50"/>
                </a:solidFill>
                <a:latin typeface="Calibri"/>
              </a:defRPr>
            </a:pPr>
            <a:r>
              <a:t>Step 2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Run /office-hours</a:t>
            </a:r>
          </a:p>
          <a:p>
            <a:pPr>
              <a:defRPr sz="1200">
                <a:solidFill>
                  <a:srgbClr val="CCCCCC"/>
                </a:solidFill>
                <a:latin typeface="Calibri"/>
              </a:defRPr>
            </a:pPr>
            <a:r>
              <a:t>Describe what you're building. Get six forcing questions</a:t>
            </a:r>
            <a:br/>
            <a:r>
              <a:t>that reframe your product before you write any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598" y="1188720"/>
            <a:ext cx="3474720" cy="2286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203200" rIns="203200"/>
          <a:lstStyle/>
          <a:p>
            <a:pPr algn="ctr">
              <a:spcAft>
                <a:spcPts val="400"/>
              </a:spcAft>
              <a:defRPr sz="1200" b="1">
                <a:solidFill>
                  <a:srgbClr val="FF9800"/>
                </a:solidFill>
                <a:latin typeface="Calibri"/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Run /plan-ceo-review</a:t>
            </a:r>
          </a:p>
          <a:p>
            <a:pPr>
              <a:defRPr sz="1200">
                <a:solidFill>
                  <a:srgbClr val="CCCCCC"/>
                </a:solidFill>
                <a:latin typeface="Calibri"/>
              </a:defRPr>
            </a:pPr>
            <a:r>
              <a:t>Challenge your assumptions. Find the 10-star product</a:t>
            </a:r>
            <a:br/>
            <a:r>
              <a:t>hiding inside your request. Focus on what matters.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40"/>
            <a:ext cx="3474720" cy="2286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203200" rIns="203200"/>
          <a:lstStyle/>
          <a:p>
            <a:pPr algn="ctr">
              <a:spcAft>
                <a:spcPts val="400"/>
              </a:spcAft>
              <a:defRPr sz="1200" b="1">
                <a:solidFill>
                  <a:srgbClr val="BB86FC"/>
                </a:solidFill>
                <a:latin typeface="Calibri"/>
              </a:defRPr>
            </a:pPr>
            <a:r>
              <a:t>Step 4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Run /review</a:t>
            </a:r>
          </a:p>
          <a:p>
            <a:pPr>
              <a:defRPr sz="1200">
                <a:solidFill>
                  <a:srgbClr val="CCCCCC"/>
                </a:solidFill>
                <a:latin typeface="Calibri"/>
              </a:defRPr>
            </a:pPr>
            <a:r>
              <a:t>Review your code. Auto-fix the obvious issues.</a:t>
            </a:r>
            <a:br/>
            <a:r>
              <a:t>Flag the ones that need your judgment.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3749040"/>
            <a:ext cx="3474720" cy="2286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203200" rIns="203200"/>
          <a:lstStyle/>
          <a:p>
            <a:pPr algn="ctr">
              <a:spcAft>
                <a:spcPts val="400"/>
              </a:spcAft>
              <a:defRPr sz="1200" b="1">
                <a:solidFill>
                  <a:srgbClr val="FF5252"/>
                </a:solidFill>
                <a:latin typeface="Calibri"/>
              </a:defRPr>
            </a:pPr>
            <a:r>
              <a:t>Step 5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Run /qa</a:t>
            </a:r>
          </a:p>
          <a:p>
            <a:pPr>
              <a:defRPr sz="1200">
                <a:solidFill>
                  <a:srgbClr val="CCCCCC"/>
                </a:solidFill>
                <a:latin typeface="Calibri"/>
              </a:defRPr>
            </a:pPr>
            <a:r>
              <a:t>Test in a real browser. Find bugs, fix them,</a:t>
            </a:r>
            <a:br/>
            <a:r>
              <a:t>add regression tests. Verify the fixes.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8" y="3749040"/>
            <a:ext cx="3474720" cy="2286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lIns="203200" rIns="203200"/>
          <a:lstStyle/>
          <a:p>
            <a:pPr algn="ctr">
              <a:spcAft>
                <a:spcPts val="400"/>
              </a:spcAft>
              <a:defRPr sz="1200" b="1">
                <a:solidFill>
                  <a:srgbClr val="00BCD4"/>
                </a:solidFill>
                <a:latin typeface="Calibri"/>
              </a:defRPr>
            </a:pPr>
            <a:r>
              <a:t>Step 6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Run /ship</a:t>
            </a:r>
          </a:p>
          <a:p>
            <a:pPr>
              <a:defRPr sz="1200">
                <a:solidFill>
                  <a:srgbClr val="CCCCCC"/>
                </a:solidFill>
                <a:latin typeface="Calibri"/>
              </a:defRPr>
            </a:pPr>
            <a:r>
              <a:t>Sync main, run tests, push branch, open PR.</a:t>
            </a:r>
            <a:br/>
            <a:r>
              <a:t>You'll know if this is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46 /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"That is not a copilot.</a:t>
            </a:r>
            <a:br/>
            <a:r>
              <a:t>That is a team."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00400"/>
            <a:ext cx="2103120" cy="254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4A9EFF"/>
                </a:solidFill>
                <a:latin typeface="Calibri"/>
              </a:defRPr>
            </a:pPr>
            <a:r>
              <a:t>Process makes parallelism possible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2062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4A9EFF"/>
                </a:solidFill>
                <a:latin typeface="Calibri"/>
              </a:defRPr>
            </a:pPr>
            <a:r>
              <a:t>Every step knows what came 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4A9EFF"/>
                </a:solidFill>
                <a:latin typeface="Calibri"/>
              </a:defRPr>
            </a:pPr>
            <a:r>
              <a:t>Fork it. Improve it. Make it yours.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MIT License  |  77,000+ Stars  |  Free 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4A9EFF"/>
                </a:solidFill>
                <a:latin typeface="Calibri"/>
              </a:defRPr>
            </a:pPr>
            <a:r>
              <a:t>github.com/garrytan/gstack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47 / 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