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we're exploring six AI use cases that become possible when you connect a conversational AI agent directly to your SAP data. The core idea is simple: instead of logging into SAP transactions, running reports, or waiting for the BI team, your people just ask a question in Microsoft Teams — and get an answer in seconds, pulled live from SAP HANA. We'll walk through six domains: supply chain, sales, data governance, operations, finance, and HR. For each one, we'll show how it works, what SAP data it touches, and crucially — how to implement it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quick map of all six use cases. What they share is a common architecture: a Power Virtual Agent in Teams, Azure OpenAI generating SQL from natural language, an Azure Function executing that SQL on SAP HANA, and results returned as a natural language response — sometimes with charts. The beauty is that once this pipeline is built for one use case, expanding to the next is mostly a question of configuring the system prompt with the right table schema. Think of it as a platform, not six separate projects.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supply chain. This is often the first use case teams pilot because the value is immediate and the data is well-structured. A planner or buyer can ask 'What is my current stock of Material A from Vendor X across all factories?' and get back a consolidated table — stock by plant, open purchase orders, in-transit quantities — all in one answer. Today that same question requires running MB52 for stock, ME2M for POs, and VL06 for deliveries, then manually consolidating in Excel. The bot does all of that in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supply chain implementation, the most important first step is to start with read-only queries and validate them against known SAP reports. Before users trust the bot, they need to see it return the same numbers as MB52. Once trust is established, the real productivity gains come from creating HANA views — pre-joined tables that combine stock, POs, and deliveries — so the bot queries a clean, simple view rather than composing complex joins on the fly. Chart output is a quick win. And the most advanced step is proactive alerting: schedule a Power Automate flow to run the safety-stock check every morning and post results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two is sales and demand trend analysis. This is conversational OLAP — the ability to slice and dice revenue data the way an analyst would, but without any tool. A sales VP can ask 'How are sales progressing for Product Z over the last 6 weeks?' and get back a week-by-week breakdown with the top customer highlighted. What makes this powerful is the follow-up: they can immediately ask 'Which customer caused the dip in week 43?' and the bot answers without them having to re-specify the product or time period — it holds context across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sales implementation, the most critical step is defining common queries in the system prompt with few-shot examples — literally showing the LLM how to translate '6-week sales trend for Product Z' into the correct SQL. Date intelligence is the next challenge: phrases like 'last quarter' are ambiguous unless you define fiscal periods explicitly. For performance, maintain pre-aggregated summary tables — weekly sales by product and region — so queries return in under a second even on large datasets. And always test multi-turn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three is data quality and compliance checking. 'Show me sold products that have incomplete owner data.' The bot translates this into a SQL query that joins sold products with the material master, filters for null owner fields, and returns a list with product names and last sold dates. What used to require an ABAP developer to write a custom report now takes a data steward thirty seconds. Any business rule expressible as a SQL WHERE clause can be turned into a conversational query.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 for data quality has a few important patterns. First, pre-define the check queries as stored SQL logic rather than letting the LLM generate them ad-hoc. Second, use a count-first pattern: the bot runs COUNT first, and if there are more than 20 results, it summarises and offers to export to SharePoint. Third, consider scheduling these checks: a weekly Data Quality Digest posted automatically to a governance Teams channel. And the most advanced step is closing the loop: the user can say 'assign John Doe to MAT-4892' and the bot executes the update via OData.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four covers operations — and this one has two distinct modes. The first is operational analytics: asking about capacity utilisation, machine output versus plan, or downtime statistics. The second is front-line support. An operator on the shop floor describes a machine problem in chat. The bot searches indexed maintenance manuals using Azure Cognitive Search, returns the most relevant troubleshooting steps, and if the issue can't be resolved, creates a SAP PM maintenance order automatically — populated with the equipment ID, problem description, and priority gleaned from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implementation requires two architectural additions beyond the basic SQL pipeline. First, document indexing: upload equipment manuals as PDFs to Azure Cognitive Search. Second, an intent router: a classifier that decides whether a user's message should go to the SQL path or the document search path. The PM order creation dialog needs careful design — the bot must collect Equipment ID, problem description, and priority before calling BAPI_ALM_ORDER_CREATE. Always test this in a QA SAP system first.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five is financial insights on demand. The CFO or controller can ask 'What is our revenue and profit this quarter by region?' and get back a formatted P&amp;L table — North America, Europe, APAC — with margins, directly in Teams. No Fiori login, no BEx query, no waiting for the finance analyst. The key data source in S/4HANA is the Universal Journal — ACDOCA — which contains every posting with full dimensional detail. A well-configured system prompt that maps account ranges to business terms unlocks almost any financial metric.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Finance implementation has the highest stakes of all six use cases because the numbers are used for decisions. The most important step is validating bot output against a verified period close before going live. Account mapping in the system prompt is foundational: the LLM needs to know that revenue equals accounts 400000 to 499999. Multi-entity, multi-currency groups need a reporting layer. Role-based access is non-negotiable. And integrating plan data from BPC unlocks the highest-value use case: budget versus actual in a single conversational query.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six is HR analytics and people insights. An HR business partner can ask 'Which Engineering employees haven't completed mandatory cybersecurity training?' and get back a breakdown by sub-org, with the option to send reminders automatically from within the same conversation. This replaces downloading a training report, cross-referencing with the org chart in a spreadsheet, drafting reminder emails, and sending them manually. The bot collapses that into two messages.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HR implementation comes with the strictest data governance requirements. The single most important control is org-scoped filtering: the Azure Function must automatically restrict queries to the requesting manager's authorised org units. For particularly sensitive attributes — compensation, medical, performance ratings — consider aggregate-only responses that never expose individual-level data. And before launch, get a legal and DPO sign-off on which fields the bot can access — document those rules as hard constraints in the system prompt.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all five components fit together. The user sends a message in Microsoft Teams. Power Virtual Agents receives it and triggers a Power Automate flow. The flow passes the message — along with conversation history and the system prompt containing table schema — to Azure OpenAI GPT-4, which generates a SQL query. That query is sent to an Azure Function, which executes it against SAP HANA, converts the result set from CSV to JSON to Markdown, and returns it to the flow. The whole round trip takes five to fifteen seconds. SAP HANA is queried directly — no middleware, no data duplication, no freshness lag.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do you start? Pick one use case with a well-defined dataset and a champion user who will validate it. Configure the Azure Function and write the system prompt with your actual table schema — this is the hardest part and takes iteration. Deploy the Power Virtual Agent to a pilot Teams channel and spend two weeks testing with real users. Once the first use case is trusted, the incremental effort to add a second is much lower — you're adding to an existing platform, not starting over. And the most impactful long-term evolution is enabling write actions: turning the bot from a window into SAP into an interface for SAP.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TextBox 3"/>
          <p:cNvSpPr txBox="1"/>
          <p:nvPr/>
        </p:nvSpPr>
        <p:spPr>
          <a:xfrm>
            <a:off x="0" y="1645920"/>
            <a:ext cx="12191695" cy="365760"/>
          </a:xfrm>
          <a:prstGeom prst="rect">
            <a:avLst/>
          </a:prstGeom>
          <a:noFill/>
        </p:spPr>
        <p:txBody>
          <a:bodyPr wrap="square">
            <a:spAutoFit/>
          </a:bodyPr>
          <a:lstStyle/>
          <a:p>
            <a:pPr algn="ctr">
              <a:defRPr sz="1600" b="1">
                <a:solidFill>
                  <a:srgbClr val="4F9CF9"/>
                </a:solidFill>
                <a:latin typeface="Calibri"/>
              </a:defRPr>
            </a:pPr>
            <a:r>
              <a:t>AI INNOVATION SERIES</a:t>
            </a:r>
          </a:p>
        </p:txBody>
      </p:sp>
      <p:sp>
        <p:nvSpPr>
          <p:cNvPr id="5" name="TextBox 4"/>
          <p:cNvSpPr txBox="1"/>
          <p:nvPr/>
        </p:nvSpPr>
        <p:spPr>
          <a:xfrm>
            <a:off x="1371600" y="2103120"/>
            <a:ext cx="9418320" cy="2011680"/>
          </a:xfrm>
          <a:prstGeom prst="rect">
            <a:avLst/>
          </a:prstGeom>
          <a:noFill/>
        </p:spPr>
        <p:txBody>
          <a:bodyPr wrap="square">
            <a:spAutoFit/>
          </a:bodyPr>
          <a:lstStyle/>
          <a:p>
            <a:pPr algn="ctr">
              <a:defRPr sz="5200" b="1">
                <a:solidFill>
                  <a:srgbClr val="E8EDF5"/>
                </a:solidFill>
                <a:latin typeface="Calibri"/>
              </a:defRPr>
            </a:pPr>
            <a:r>
              <a:t>6 AI Use Cases</a:t>
            </a:r>
            <a:br/>
            <a:r>
              <a:t>Enabled by Chat</a:t>
            </a:r>
            <a:br/>
            <a:r>
              <a:t>with your SAP Data</a:t>
            </a:r>
          </a:p>
        </p:txBody>
      </p:sp>
      <p:sp>
        <p:nvSpPr>
          <p:cNvPr id="6" name="TextBox 5"/>
          <p:cNvSpPr txBox="1"/>
          <p:nvPr/>
        </p:nvSpPr>
        <p:spPr>
          <a:xfrm>
            <a:off x="2286000" y="4114800"/>
            <a:ext cx="7589520" cy="731520"/>
          </a:xfrm>
          <a:prstGeom prst="rect">
            <a:avLst/>
          </a:prstGeom>
          <a:noFill/>
        </p:spPr>
        <p:txBody>
          <a:bodyPr wrap="square">
            <a:spAutoFit/>
          </a:bodyPr>
          <a:lstStyle/>
          <a:p>
            <a:pPr algn="ctr">
              <a:defRPr sz="1600" b="0">
                <a:solidFill>
                  <a:srgbClr val="6B7FA3"/>
                </a:solidFill>
                <a:latin typeface="Calibri"/>
              </a:defRPr>
            </a:pPr>
            <a:r>
              <a:t>Natural language queries · Real-time analytics · Automated SAP actions</a:t>
            </a:r>
            <a:br/>
            <a:r>
              <a:t>delivered directly in Microsoft Teams</a:t>
            </a:r>
          </a:p>
        </p:txBody>
      </p:sp>
      <p:sp>
        <p:nvSpPr>
          <p:cNvPr id="7" name="Rounded Rectangle 6"/>
          <p:cNvSpPr/>
          <p:nvPr/>
        </p:nvSpPr>
        <p:spPr>
          <a:xfrm>
            <a:off x="1645920" y="5120640"/>
            <a:ext cx="1417320" cy="320040"/>
          </a:xfrm>
          <a:prstGeom prst="roundRect">
            <a:avLst>
              <a:gd name="adj" fmla="val 50000"/>
            </a:avLst>
          </a:prstGeom>
          <a:solidFill>
            <a:srgbClr val="182943"/>
          </a:solidFill>
          <a:ln w="12700">
            <a:solidFill>
              <a:srgbClr val="1E365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9CF9"/>
                </a:solidFill>
              </a:defRPr>
            </a:pPr>
            <a:r>
              <a:t>📦 Supply Chain</a:t>
            </a:r>
          </a:p>
        </p:txBody>
      </p:sp>
      <p:sp>
        <p:nvSpPr>
          <p:cNvPr id="8" name="Rounded Rectangle 7"/>
          <p:cNvSpPr/>
          <p:nvPr/>
        </p:nvSpPr>
        <p:spPr>
          <a:xfrm>
            <a:off x="3154680" y="5120640"/>
            <a:ext cx="1417320" cy="320040"/>
          </a:xfrm>
          <a:prstGeom prst="roundRect">
            <a:avLst>
              <a:gd name="adj" fmla="val 50000"/>
            </a:avLst>
          </a:prstGeom>
          <a:solidFill>
            <a:srgbClr val="0B3236"/>
          </a:solidFill>
          <a:ln w="12700">
            <a:solidFill>
              <a:srgbClr val="0B444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00D4AA"/>
                </a:solidFill>
              </a:defRPr>
            </a:pPr>
            <a:r>
              <a:t>📈 Sales</a:t>
            </a:r>
          </a:p>
        </p:txBody>
      </p:sp>
      <p:sp>
        <p:nvSpPr>
          <p:cNvPr id="9" name="Rounded Rectangle 8"/>
          <p:cNvSpPr/>
          <p:nvPr/>
        </p:nvSpPr>
        <p:spPr>
          <a:xfrm>
            <a:off x="4663440" y="5120640"/>
            <a:ext cx="1417320" cy="320040"/>
          </a:xfrm>
          <a:prstGeom prst="roundRect">
            <a:avLst>
              <a:gd name="adj" fmla="val 50000"/>
            </a:avLst>
          </a:prstGeom>
          <a:solidFill>
            <a:srgbClr val="262643"/>
          </a:solidFill>
          <a:ln w="12700">
            <a:solidFill>
              <a:srgbClr val="34315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A78BFA"/>
                </a:solidFill>
              </a:defRPr>
            </a:pPr>
            <a:r>
              <a:t>🔍 Data Governance</a:t>
            </a:r>
          </a:p>
        </p:txBody>
      </p:sp>
      <p:sp>
        <p:nvSpPr>
          <p:cNvPr id="10" name="Rounded Rectangle 9"/>
          <p:cNvSpPr/>
          <p:nvPr/>
        </p:nvSpPr>
        <p:spPr>
          <a:xfrm>
            <a:off x="6172199" y="5120640"/>
            <a:ext cx="1417320" cy="320040"/>
          </a:xfrm>
          <a:prstGeom prst="roundRect">
            <a:avLst>
              <a:gd name="adj" fmla="val 50000"/>
            </a:avLst>
          </a:prstGeom>
          <a:solidFill>
            <a:srgbClr val="332A1F"/>
          </a:solidFill>
          <a:ln w="12700">
            <a:solidFill>
              <a:srgbClr val="483822"/>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5A623"/>
                </a:solidFill>
              </a:defRPr>
            </a:pPr>
            <a:r>
              <a:t>⚙️ Operations</a:t>
            </a:r>
          </a:p>
        </p:txBody>
      </p:sp>
      <p:sp>
        <p:nvSpPr>
          <p:cNvPr id="11" name="Rounded Rectangle 10"/>
          <p:cNvSpPr/>
          <p:nvPr/>
        </p:nvSpPr>
        <p:spPr>
          <a:xfrm>
            <a:off x="7680960" y="5120640"/>
            <a:ext cx="1417320" cy="320040"/>
          </a:xfrm>
          <a:prstGeom prst="roundRect">
            <a:avLst>
              <a:gd name="adj" fmla="val 50000"/>
            </a:avLst>
          </a:prstGeom>
          <a:solidFill>
            <a:srgbClr val="17342F"/>
          </a:solidFill>
          <a:ln w="12700">
            <a:solidFill>
              <a:srgbClr val="1D463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ADE80"/>
                </a:solidFill>
              </a:defRPr>
            </a:pPr>
            <a:r>
              <a:t>💰 Finance</a:t>
            </a:r>
          </a:p>
        </p:txBody>
      </p:sp>
      <p:sp>
        <p:nvSpPr>
          <p:cNvPr id="12" name="Rounded Rectangle 11"/>
          <p:cNvSpPr/>
          <p:nvPr/>
        </p:nvSpPr>
        <p:spPr>
          <a:xfrm>
            <a:off x="9189720" y="5120640"/>
            <a:ext cx="1417320" cy="320040"/>
          </a:xfrm>
          <a:prstGeom prst="roundRect">
            <a:avLst>
              <a:gd name="adj" fmla="val 50000"/>
            </a:avLst>
          </a:prstGeom>
          <a:solidFill>
            <a:srgbClr val="35202B"/>
          </a:solidFill>
          <a:ln w="12700">
            <a:solidFill>
              <a:srgbClr val="4A293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6B6B"/>
                </a:solidFill>
              </a:defRPr>
            </a:pPr>
            <a:r>
              <a:t>👥 HR</a:t>
            </a:r>
          </a:p>
        </p:txBody>
      </p:sp>
      <p:sp>
        <p:nvSpPr>
          <p:cNvPr id="13" name="TextBox 12"/>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822960"/>
            <a:ext cx="1188720" cy="320040"/>
          </a:xfrm>
          <a:prstGeom prst="roundRect">
            <a:avLst>
              <a:gd name="adj" fmla="val 50000"/>
            </a:avLst>
          </a:prstGeom>
          <a:solidFill>
            <a:srgbClr val="182943"/>
          </a:solidFill>
          <a:ln w="12700">
            <a:solidFill>
              <a:srgbClr val="1E365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9CF9"/>
                </a:solidFill>
              </a:defRPr>
            </a:pPr>
            <a:r>
              <a:t>Overview</a:t>
            </a:r>
          </a:p>
        </p:txBody>
      </p:sp>
      <p:sp>
        <p:nvSpPr>
          <p:cNvPr id="5" name="TextBox 4"/>
          <p:cNvSpPr txBox="1"/>
          <p:nvPr/>
        </p:nvSpPr>
        <p:spPr>
          <a:xfrm>
            <a:off x="502920" y="1234440"/>
            <a:ext cx="7315200" cy="548640"/>
          </a:xfrm>
          <a:prstGeom prst="rect">
            <a:avLst/>
          </a:prstGeom>
          <a:noFill/>
        </p:spPr>
        <p:txBody>
          <a:bodyPr wrap="square">
            <a:spAutoFit/>
          </a:bodyPr>
          <a:lstStyle/>
          <a:p>
            <a:pPr algn="l">
              <a:defRPr sz="3000" b="1">
                <a:solidFill>
                  <a:srgbClr val="E8EDF5"/>
                </a:solidFill>
                <a:latin typeface="Calibri"/>
              </a:defRPr>
            </a:pPr>
            <a:r>
              <a:t>Six domains, one AI agent</a:t>
            </a:r>
          </a:p>
        </p:txBody>
      </p:sp>
      <p:sp>
        <p:nvSpPr>
          <p:cNvPr id="6" name="TextBox 5"/>
          <p:cNvSpPr txBox="1"/>
          <p:nvPr/>
        </p:nvSpPr>
        <p:spPr>
          <a:xfrm>
            <a:off x="502920" y="1737360"/>
            <a:ext cx="9144000" cy="365760"/>
          </a:xfrm>
          <a:prstGeom prst="rect">
            <a:avLst/>
          </a:prstGeom>
          <a:noFill/>
        </p:spPr>
        <p:txBody>
          <a:bodyPr wrap="square">
            <a:spAutoFit/>
          </a:bodyPr>
          <a:lstStyle/>
          <a:p>
            <a:pPr algn="l">
              <a:defRPr sz="1500" b="0">
                <a:solidFill>
                  <a:srgbClr val="6B7FA3"/>
                </a:solidFill>
                <a:latin typeface="Calibri"/>
              </a:defRPr>
            </a:pPr>
            <a:r>
              <a:t>Each use case connects conversational AI to live SAP data via Azure OpenAI + HANA SQL.</a:t>
            </a:r>
          </a:p>
        </p:txBody>
      </p:sp>
      <p:sp>
        <p:nvSpPr>
          <p:cNvPr id="7" name="Rounded Rectangle 6"/>
          <p:cNvSpPr/>
          <p:nvPr/>
        </p:nvSpPr>
        <p:spPr>
          <a:xfrm>
            <a:off x="502920" y="2286000"/>
            <a:ext cx="356616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423160"/>
            <a:ext cx="3200400" cy="320040"/>
          </a:xfrm>
          <a:prstGeom prst="rect">
            <a:avLst/>
          </a:prstGeom>
          <a:noFill/>
        </p:spPr>
        <p:txBody>
          <a:bodyPr wrap="square">
            <a:spAutoFit/>
          </a:bodyPr>
          <a:lstStyle/>
          <a:p>
            <a:pPr algn="l">
              <a:defRPr sz="2200" b="0">
                <a:solidFill>
                  <a:srgbClr val="E8EDF5"/>
                </a:solidFill>
                <a:latin typeface="Calibri"/>
              </a:defRPr>
            </a:pPr>
            <a:r>
              <a:t>📦</a:t>
            </a:r>
          </a:p>
        </p:txBody>
      </p:sp>
      <p:sp>
        <p:nvSpPr>
          <p:cNvPr id="9" name="TextBox 8"/>
          <p:cNvSpPr txBox="1"/>
          <p:nvPr/>
        </p:nvSpPr>
        <p:spPr>
          <a:xfrm>
            <a:off x="685800" y="2743200"/>
            <a:ext cx="3200400" cy="274320"/>
          </a:xfrm>
          <a:prstGeom prst="rect">
            <a:avLst/>
          </a:prstGeom>
          <a:noFill/>
        </p:spPr>
        <p:txBody>
          <a:bodyPr wrap="square">
            <a:spAutoFit/>
          </a:bodyPr>
          <a:lstStyle/>
          <a:p>
            <a:pPr algn="l">
              <a:defRPr sz="1300" b="1">
                <a:solidFill>
                  <a:srgbClr val="4F9CF9"/>
                </a:solidFill>
                <a:latin typeface="Calibri"/>
              </a:defRPr>
            </a:pPr>
            <a:r>
              <a:t>SUPPLY CHAIN</a:t>
            </a:r>
          </a:p>
        </p:txBody>
      </p:sp>
      <p:sp>
        <p:nvSpPr>
          <p:cNvPr id="10" name="TextBox 9"/>
          <p:cNvSpPr txBox="1"/>
          <p:nvPr/>
        </p:nvSpPr>
        <p:spPr>
          <a:xfrm>
            <a:off x="685800" y="3017520"/>
            <a:ext cx="3200400" cy="365760"/>
          </a:xfrm>
          <a:prstGeom prst="rect">
            <a:avLst/>
          </a:prstGeom>
          <a:noFill/>
        </p:spPr>
        <p:txBody>
          <a:bodyPr wrap="square">
            <a:spAutoFit/>
          </a:bodyPr>
          <a:lstStyle/>
          <a:p>
            <a:pPr algn="l">
              <a:defRPr sz="1600" b="1">
                <a:solidFill>
                  <a:srgbClr val="E8EDF5"/>
                </a:solidFill>
                <a:latin typeface="Calibri"/>
              </a:defRPr>
            </a:pPr>
            <a:r>
              <a:t>Inventory &amp; Supply Chain Queries</a:t>
            </a:r>
          </a:p>
        </p:txBody>
      </p:sp>
      <p:sp>
        <p:nvSpPr>
          <p:cNvPr id="11" name="TextBox 10"/>
          <p:cNvSpPr txBox="1"/>
          <p:nvPr/>
        </p:nvSpPr>
        <p:spPr>
          <a:xfrm>
            <a:off x="685800" y="3429000"/>
            <a:ext cx="3200400" cy="731520"/>
          </a:xfrm>
          <a:prstGeom prst="rect">
            <a:avLst/>
          </a:prstGeom>
          <a:noFill/>
        </p:spPr>
        <p:txBody>
          <a:bodyPr wrap="square">
            <a:spAutoFit/>
          </a:bodyPr>
          <a:lstStyle/>
          <a:p>
            <a:pPr algn="l">
              <a:defRPr sz="1300" b="0">
                <a:solidFill>
                  <a:srgbClr val="6B7FA3"/>
                </a:solidFill>
                <a:latin typeface="Calibri"/>
              </a:defRPr>
            </a:pPr>
            <a:r>
              <a:t>Stock levels, POs, in-transit — consolidated in one answer</a:t>
            </a:r>
          </a:p>
        </p:txBody>
      </p:sp>
      <p:sp>
        <p:nvSpPr>
          <p:cNvPr id="12" name="Rounded Rectangle 11"/>
          <p:cNvSpPr/>
          <p:nvPr/>
        </p:nvSpPr>
        <p:spPr>
          <a:xfrm>
            <a:off x="4251960" y="2286000"/>
            <a:ext cx="356616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2423160"/>
            <a:ext cx="3200400" cy="320040"/>
          </a:xfrm>
          <a:prstGeom prst="rect">
            <a:avLst/>
          </a:prstGeom>
          <a:noFill/>
        </p:spPr>
        <p:txBody>
          <a:bodyPr wrap="square">
            <a:spAutoFit/>
          </a:bodyPr>
          <a:lstStyle/>
          <a:p>
            <a:pPr algn="l">
              <a:defRPr sz="2200" b="0">
                <a:solidFill>
                  <a:srgbClr val="E8EDF5"/>
                </a:solidFill>
                <a:latin typeface="Calibri"/>
              </a:defRPr>
            </a:pPr>
            <a:r>
              <a:t>📈</a:t>
            </a:r>
          </a:p>
        </p:txBody>
      </p:sp>
      <p:sp>
        <p:nvSpPr>
          <p:cNvPr id="14" name="TextBox 13"/>
          <p:cNvSpPr txBox="1"/>
          <p:nvPr/>
        </p:nvSpPr>
        <p:spPr>
          <a:xfrm>
            <a:off x="4434840" y="2743200"/>
            <a:ext cx="3200400" cy="274320"/>
          </a:xfrm>
          <a:prstGeom prst="rect">
            <a:avLst/>
          </a:prstGeom>
          <a:noFill/>
        </p:spPr>
        <p:txBody>
          <a:bodyPr wrap="square">
            <a:spAutoFit/>
          </a:bodyPr>
          <a:lstStyle/>
          <a:p>
            <a:pPr algn="l">
              <a:defRPr sz="1300" b="1">
                <a:solidFill>
                  <a:srgbClr val="00D4AA"/>
                </a:solidFill>
                <a:latin typeface="Calibri"/>
              </a:defRPr>
            </a:pPr>
            <a:r>
              <a:t>SALES</a:t>
            </a:r>
          </a:p>
        </p:txBody>
      </p:sp>
      <p:sp>
        <p:nvSpPr>
          <p:cNvPr id="15" name="TextBox 14"/>
          <p:cNvSpPr txBox="1"/>
          <p:nvPr/>
        </p:nvSpPr>
        <p:spPr>
          <a:xfrm>
            <a:off x="4434840" y="3017520"/>
            <a:ext cx="3200400" cy="365760"/>
          </a:xfrm>
          <a:prstGeom prst="rect">
            <a:avLst/>
          </a:prstGeom>
          <a:noFill/>
        </p:spPr>
        <p:txBody>
          <a:bodyPr wrap="square">
            <a:spAutoFit/>
          </a:bodyPr>
          <a:lstStyle/>
          <a:p>
            <a:pPr algn="l">
              <a:defRPr sz="1600" b="1">
                <a:solidFill>
                  <a:srgbClr val="E8EDF5"/>
                </a:solidFill>
                <a:latin typeface="Calibri"/>
              </a:defRPr>
            </a:pPr>
            <a:r>
              <a:t>Sales &amp; Demand Trend Analysis</a:t>
            </a:r>
          </a:p>
        </p:txBody>
      </p:sp>
      <p:sp>
        <p:nvSpPr>
          <p:cNvPr id="16" name="TextBox 15"/>
          <p:cNvSpPr txBox="1"/>
          <p:nvPr/>
        </p:nvSpPr>
        <p:spPr>
          <a:xfrm>
            <a:off x="4434840" y="3429000"/>
            <a:ext cx="3200400" cy="731520"/>
          </a:xfrm>
          <a:prstGeom prst="rect">
            <a:avLst/>
          </a:prstGeom>
          <a:noFill/>
        </p:spPr>
        <p:txBody>
          <a:bodyPr wrap="square">
            <a:spAutoFit/>
          </a:bodyPr>
          <a:lstStyle/>
          <a:p>
            <a:pPr algn="l">
              <a:defRPr sz="1300" b="0">
                <a:solidFill>
                  <a:srgbClr val="6B7FA3"/>
                </a:solidFill>
                <a:latin typeface="Calibri"/>
              </a:defRPr>
            </a:pPr>
            <a:r>
              <a:t>Revenue trends, top products, customer breakdowns with charts</a:t>
            </a:r>
          </a:p>
        </p:txBody>
      </p:sp>
      <p:sp>
        <p:nvSpPr>
          <p:cNvPr id="17" name="Rounded Rectangle 16"/>
          <p:cNvSpPr/>
          <p:nvPr/>
        </p:nvSpPr>
        <p:spPr>
          <a:xfrm>
            <a:off x="8001000" y="2286000"/>
            <a:ext cx="356616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80" y="2423160"/>
            <a:ext cx="3200400" cy="320040"/>
          </a:xfrm>
          <a:prstGeom prst="rect">
            <a:avLst/>
          </a:prstGeom>
          <a:noFill/>
        </p:spPr>
        <p:txBody>
          <a:bodyPr wrap="square">
            <a:spAutoFit/>
          </a:bodyPr>
          <a:lstStyle/>
          <a:p>
            <a:pPr algn="l">
              <a:defRPr sz="2200" b="0">
                <a:solidFill>
                  <a:srgbClr val="E8EDF5"/>
                </a:solidFill>
                <a:latin typeface="Calibri"/>
              </a:defRPr>
            </a:pPr>
            <a:r>
              <a:t>🔍</a:t>
            </a:r>
          </a:p>
        </p:txBody>
      </p:sp>
      <p:sp>
        <p:nvSpPr>
          <p:cNvPr id="19" name="TextBox 18"/>
          <p:cNvSpPr txBox="1"/>
          <p:nvPr/>
        </p:nvSpPr>
        <p:spPr>
          <a:xfrm>
            <a:off x="8183880" y="2743200"/>
            <a:ext cx="3200400" cy="274320"/>
          </a:xfrm>
          <a:prstGeom prst="rect">
            <a:avLst/>
          </a:prstGeom>
          <a:noFill/>
        </p:spPr>
        <p:txBody>
          <a:bodyPr wrap="square">
            <a:spAutoFit/>
          </a:bodyPr>
          <a:lstStyle/>
          <a:p>
            <a:pPr algn="l">
              <a:defRPr sz="1300" b="1">
                <a:solidFill>
                  <a:srgbClr val="A78BFA"/>
                </a:solidFill>
                <a:latin typeface="Calibri"/>
              </a:defRPr>
            </a:pPr>
            <a:r>
              <a:t>DATA GOVERNANCE</a:t>
            </a:r>
          </a:p>
        </p:txBody>
      </p:sp>
      <p:sp>
        <p:nvSpPr>
          <p:cNvPr id="20" name="TextBox 19"/>
          <p:cNvSpPr txBox="1"/>
          <p:nvPr/>
        </p:nvSpPr>
        <p:spPr>
          <a:xfrm>
            <a:off x="8183880" y="3017520"/>
            <a:ext cx="3200400" cy="365760"/>
          </a:xfrm>
          <a:prstGeom prst="rect">
            <a:avLst/>
          </a:prstGeom>
          <a:noFill/>
        </p:spPr>
        <p:txBody>
          <a:bodyPr wrap="square">
            <a:spAutoFit/>
          </a:bodyPr>
          <a:lstStyle/>
          <a:p>
            <a:pPr algn="l">
              <a:defRPr sz="1600" b="1">
                <a:solidFill>
                  <a:srgbClr val="E8EDF5"/>
                </a:solidFill>
                <a:latin typeface="Calibri"/>
              </a:defRPr>
            </a:pPr>
            <a:r>
              <a:t>Data Quality &amp; Compliance Checks</a:t>
            </a:r>
          </a:p>
        </p:txBody>
      </p:sp>
      <p:sp>
        <p:nvSpPr>
          <p:cNvPr id="21" name="TextBox 20"/>
          <p:cNvSpPr txBox="1"/>
          <p:nvPr/>
        </p:nvSpPr>
        <p:spPr>
          <a:xfrm>
            <a:off x="8183880" y="3429000"/>
            <a:ext cx="3200400" cy="731520"/>
          </a:xfrm>
          <a:prstGeom prst="rect">
            <a:avLst/>
          </a:prstGeom>
          <a:noFill/>
        </p:spPr>
        <p:txBody>
          <a:bodyPr wrap="square">
            <a:spAutoFit/>
          </a:bodyPr>
          <a:lstStyle/>
          <a:p>
            <a:pPr algn="l">
              <a:defRPr sz="1300" b="0">
                <a:solidFill>
                  <a:srgbClr val="6B7FA3"/>
                </a:solidFill>
                <a:latin typeface="Calibri"/>
              </a:defRPr>
            </a:pPr>
            <a:r>
              <a:t>Exception reports and compliance audits in plain language</a:t>
            </a:r>
          </a:p>
        </p:txBody>
      </p:sp>
      <p:sp>
        <p:nvSpPr>
          <p:cNvPr id="22" name="Rounded Rectangle 21"/>
          <p:cNvSpPr/>
          <p:nvPr/>
        </p:nvSpPr>
        <p:spPr>
          <a:xfrm>
            <a:off x="502920" y="4480560"/>
            <a:ext cx="356616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617720"/>
            <a:ext cx="3200400" cy="320040"/>
          </a:xfrm>
          <a:prstGeom prst="rect">
            <a:avLst/>
          </a:prstGeom>
          <a:noFill/>
        </p:spPr>
        <p:txBody>
          <a:bodyPr wrap="square">
            <a:spAutoFit/>
          </a:bodyPr>
          <a:lstStyle/>
          <a:p>
            <a:pPr algn="l">
              <a:defRPr sz="2200" b="0">
                <a:solidFill>
                  <a:srgbClr val="E8EDF5"/>
                </a:solidFill>
                <a:latin typeface="Calibri"/>
              </a:defRPr>
            </a:pPr>
            <a:r>
              <a:t>⚙️</a:t>
            </a:r>
          </a:p>
        </p:txBody>
      </p:sp>
      <p:sp>
        <p:nvSpPr>
          <p:cNvPr id="24" name="TextBox 23"/>
          <p:cNvSpPr txBox="1"/>
          <p:nvPr/>
        </p:nvSpPr>
        <p:spPr>
          <a:xfrm>
            <a:off x="685800" y="4937760"/>
            <a:ext cx="3200400" cy="274320"/>
          </a:xfrm>
          <a:prstGeom prst="rect">
            <a:avLst/>
          </a:prstGeom>
          <a:noFill/>
        </p:spPr>
        <p:txBody>
          <a:bodyPr wrap="square">
            <a:spAutoFit/>
          </a:bodyPr>
          <a:lstStyle/>
          <a:p>
            <a:pPr algn="l">
              <a:defRPr sz="1300" b="1">
                <a:solidFill>
                  <a:srgbClr val="F5A623"/>
                </a:solidFill>
                <a:latin typeface="Calibri"/>
              </a:defRPr>
            </a:pPr>
            <a:r>
              <a:t>OPERATIONS</a:t>
            </a:r>
          </a:p>
        </p:txBody>
      </p:sp>
      <p:sp>
        <p:nvSpPr>
          <p:cNvPr id="25" name="TextBox 24"/>
          <p:cNvSpPr txBox="1"/>
          <p:nvPr/>
        </p:nvSpPr>
        <p:spPr>
          <a:xfrm>
            <a:off x="685800" y="5212080"/>
            <a:ext cx="3200400" cy="365760"/>
          </a:xfrm>
          <a:prstGeom prst="rect">
            <a:avLst/>
          </a:prstGeom>
          <a:noFill/>
        </p:spPr>
        <p:txBody>
          <a:bodyPr wrap="square">
            <a:spAutoFit/>
          </a:bodyPr>
          <a:lstStyle/>
          <a:p>
            <a:pPr algn="l">
              <a:defRPr sz="1600" b="1">
                <a:solidFill>
                  <a:srgbClr val="E8EDF5"/>
                </a:solidFill>
                <a:latin typeface="Calibri"/>
              </a:defRPr>
            </a:pPr>
            <a:r>
              <a:t>Operations Optimization &amp; Support</a:t>
            </a:r>
          </a:p>
        </p:txBody>
      </p:sp>
      <p:sp>
        <p:nvSpPr>
          <p:cNvPr id="26" name="TextBox 25"/>
          <p:cNvSpPr txBox="1"/>
          <p:nvPr/>
        </p:nvSpPr>
        <p:spPr>
          <a:xfrm>
            <a:off x="685800" y="5623560"/>
            <a:ext cx="3200400" cy="731520"/>
          </a:xfrm>
          <a:prstGeom prst="rect">
            <a:avLst/>
          </a:prstGeom>
          <a:noFill/>
        </p:spPr>
        <p:txBody>
          <a:bodyPr wrap="square">
            <a:spAutoFit/>
          </a:bodyPr>
          <a:lstStyle/>
          <a:p>
            <a:pPr algn="l">
              <a:defRPr sz="1300" b="0">
                <a:solidFill>
                  <a:srgbClr val="6B7FA3"/>
                </a:solidFill>
                <a:latin typeface="Calibri"/>
              </a:defRPr>
            </a:pPr>
            <a:r>
              <a:t>Utilisation metrics + PM order creation from chat</a:t>
            </a:r>
          </a:p>
        </p:txBody>
      </p:sp>
      <p:sp>
        <p:nvSpPr>
          <p:cNvPr id="27" name="Rounded Rectangle 26"/>
          <p:cNvSpPr/>
          <p:nvPr/>
        </p:nvSpPr>
        <p:spPr>
          <a:xfrm>
            <a:off x="4251960" y="4480560"/>
            <a:ext cx="356616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4617720"/>
            <a:ext cx="3200400" cy="320040"/>
          </a:xfrm>
          <a:prstGeom prst="rect">
            <a:avLst/>
          </a:prstGeom>
          <a:noFill/>
        </p:spPr>
        <p:txBody>
          <a:bodyPr wrap="square">
            <a:spAutoFit/>
          </a:bodyPr>
          <a:lstStyle/>
          <a:p>
            <a:pPr algn="l">
              <a:defRPr sz="2200" b="0">
                <a:solidFill>
                  <a:srgbClr val="E8EDF5"/>
                </a:solidFill>
                <a:latin typeface="Calibri"/>
              </a:defRPr>
            </a:pPr>
            <a:r>
              <a:t>💰</a:t>
            </a:r>
          </a:p>
        </p:txBody>
      </p:sp>
      <p:sp>
        <p:nvSpPr>
          <p:cNvPr id="29" name="TextBox 28"/>
          <p:cNvSpPr txBox="1"/>
          <p:nvPr/>
        </p:nvSpPr>
        <p:spPr>
          <a:xfrm>
            <a:off x="4434840" y="4937760"/>
            <a:ext cx="3200400" cy="274320"/>
          </a:xfrm>
          <a:prstGeom prst="rect">
            <a:avLst/>
          </a:prstGeom>
          <a:noFill/>
        </p:spPr>
        <p:txBody>
          <a:bodyPr wrap="square">
            <a:spAutoFit/>
          </a:bodyPr>
          <a:lstStyle/>
          <a:p>
            <a:pPr algn="l">
              <a:defRPr sz="1300" b="1">
                <a:solidFill>
                  <a:srgbClr val="4ADE80"/>
                </a:solidFill>
                <a:latin typeface="Calibri"/>
              </a:defRPr>
            </a:pPr>
            <a:r>
              <a:t>FINANCE</a:t>
            </a:r>
          </a:p>
        </p:txBody>
      </p:sp>
      <p:sp>
        <p:nvSpPr>
          <p:cNvPr id="30" name="TextBox 29"/>
          <p:cNvSpPr txBox="1"/>
          <p:nvPr/>
        </p:nvSpPr>
        <p:spPr>
          <a:xfrm>
            <a:off x="4434840" y="5212080"/>
            <a:ext cx="3200400" cy="365760"/>
          </a:xfrm>
          <a:prstGeom prst="rect">
            <a:avLst/>
          </a:prstGeom>
          <a:noFill/>
        </p:spPr>
        <p:txBody>
          <a:bodyPr wrap="square">
            <a:spAutoFit/>
          </a:bodyPr>
          <a:lstStyle/>
          <a:p>
            <a:pPr algn="l">
              <a:defRPr sz="1600" b="1">
                <a:solidFill>
                  <a:srgbClr val="E8EDF5"/>
                </a:solidFill>
                <a:latin typeface="Calibri"/>
              </a:defRPr>
            </a:pPr>
            <a:r>
              <a:t>Financial Insights on Demand</a:t>
            </a:r>
          </a:p>
        </p:txBody>
      </p:sp>
      <p:sp>
        <p:nvSpPr>
          <p:cNvPr id="31" name="TextBox 30"/>
          <p:cNvSpPr txBox="1"/>
          <p:nvPr/>
        </p:nvSpPr>
        <p:spPr>
          <a:xfrm>
            <a:off x="4434840" y="5623560"/>
            <a:ext cx="3200400" cy="731520"/>
          </a:xfrm>
          <a:prstGeom prst="rect">
            <a:avLst/>
          </a:prstGeom>
          <a:noFill/>
        </p:spPr>
        <p:txBody>
          <a:bodyPr wrap="square">
            <a:spAutoFit/>
          </a:bodyPr>
          <a:lstStyle/>
          <a:p>
            <a:pPr algn="l">
              <a:defRPr sz="1300" b="0">
                <a:solidFill>
                  <a:srgbClr val="6B7FA3"/>
                </a:solidFill>
                <a:latin typeface="Calibri"/>
              </a:defRPr>
            </a:pPr>
            <a:r>
              <a:t>Real-time P&amp;L, cash, CAPEX, budget-vs-actual by any dimension</a:t>
            </a:r>
          </a:p>
        </p:txBody>
      </p:sp>
      <p:sp>
        <p:nvSpPr>
          <p:cNvPr id="32" name="Rounded Rectangle 31"/>
          <p:cNvSpPr/>
          <p:nvPr/>
        </p:nvSpPr>
        <p:spPr>
          <a:xfrm>
            <a:off x="8001000" y="4480560"/>
            <a:ext cx="356616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83880" y="4617720"/>
            <a:ext cx="3200400" cy="320040"/>
          </a:xfrm>
          <a:prstGeom prst="rect">
            <a:avLst/>
          </a:prstGeom>
          <a:noFill/>
        </p:spPr>
        <p:txBody>
          <a:bodyPr wrap="square">
            <a:spAutoFit/>
          </a:bodyPr>
          <a:lstStyle/>
          <a:p>
            <a:pPr algn="l">
              <a:defRPr sz="2200" b="0">
                <a:solidFill>
                  <a:srgbClr val="E8EDF5"/>
                </a:solidFill>
                <a:latin typeface="Calibri"/>
              </a:defRPr>
            </a:pPr>
            <a:r>
              <a:t>👥</a:t>
            </a:r>
          </a:p>
        </p:txBody>
      </p:sp>
      <p:sp>
        <p:nvSpPr>
          <p:cNvPr id="34" name="TextBox 33"/>
          <p:cNvSpPr txBox="1"/>
          <p:nvPr/>
        </p:nvSpPr>
        <p:spPr>
          <a:xfrm>
            <a:off x="8183880" y="4937760"/>
            <a:ext cx="3200400" cy="274320"/>
          </a:xfrm>
          <a:prstGeom prst="rect">
            <a:avLst/>
          </a:prstGeom>
          <a:noFill/>
        </p:spPr>
        <p:txBody>
          <a:bodyPr wrap="square">
            <a:spAutoFit/>
          </a:bodyPr>
          <a:lstStyle/>
          <a:p>
            <a:pPr algn="l">
              <a:defRPr sz="1300" b="1">
                <a:solidFill>
                  <a:srgbClr val="FF6B6B"/>
                </a:solidFill>
                <a:latin typeface="Calibri"/>
              </a:defRPr>
            </a:pPr>
            <a:r>
              <a:t>HR</a:t>
            </a:r>
          </a:p>
        </p:txBody>
      </p:sp>
      <p:sp>
        <p:nvSpPr>
          <p:cNvPr id="35" name="TextBox 34"/>
          <p:cNvSpPr txBox="1"/>
          <p:nvPr/>
        </p:nvSpPr>
        <p:spPr>
          <a:xfrm>
            <a:off x="8183880" y="5212080"/>
            <a:ext cx="3200400" cy="365760"/>
          </a:xfrm>
          <a:prstGeom prst="rect">
            <a:avLst/>
          </a:prstGeom>
          <a:noFill/>
        </p:spPr>
        <p:txBody>
          <a:bodyPr wrap="square">
            <a:spAutoFit/>
          </a:bodyPr>
          <a:lstStyle/>
          <a:p>
            <a:pPr algn="l">
              <a:defRPr sz="1600" b="1">
                <a:solidFill>
                  <a:srgbClr val="E8EDF5"/>
                </a:solidFill>
                <a:latin typeface="Calibri"/>
              </a:defRPr>
            </a:pPr>
            <a:r>
              <a:t>HR Analytics &amp; People Insights</a:t>
            </a:r>
          </a:p>
        </p:txBody>
      </p:sp>
      <p:sp>
        <p:nvSpPr>
          <p:cNvPr id="36" name="TextBox 35"/>
          <p:cNvSpPr txBox="1"/>
          <p:nvPr/>
        </p:nvSpPr>
        <p:spPr>
          <a:xfrm>
            <a:off x="8183880" y="5623560"/>
            <a:ext cx="3200400" cy="731520"/>
          </a:xfrm>
          <a:prstGeom prst="rect">
            <a:avLst/>
          </a:prstGeom>
          <a:noFill/>
        </p:spPr>
        <p:txBody>
          <a:bodyPr wrap="square">
            <a:spAutoFit/>
          </a:bodyPr>
          <a:lstStyle/>
          <a:p>
            <a:pPr algn="l">
              <a:defRPr sz="1300" b="0">
                <a:solidFill>
                  <a:srgbClr val="6B7FA3"/>
                </a:solidFill>
                <a:latin typeface="Calibri"/>
              </a:defRPr>
            </a:pPr>
            <a:r>
              <a:t>Workforce metrics, training compliance, org data on demand</a:t>
            </a:r>
          </a:p>
        </p:txBody>
      </p:sp>
      <p:sp>
        <p:nvSpPr>
          <p:cNvPr id="37" name="TextBox 36"/>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914400"/>
            <a:ext cx="2231136" cy="320040"/>
          </a:xfrm>
          <a:prstGeom prst="roundRect">
            <a:avLst>
              <a:gd name="adj" fmla="val 50000"/>
            </a:avLst>
          </a:prstGeom>
          <a:solidFill>
            <a:srgbClr val="182943"/>
          </a:solidFill>
          <a:ln w="12700">
            <a:solidFill>
              <a:srgbClr val="1E365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9CF9"/>
                </a:solidFill>
              </a:defRPr>
            </a:pPr>
            <a:r>
              <a:t>📦 Supply Chain</a:t>
            </a:r>
          </a:p>
        </p:txBody>
      </p:sp>
      <p:sp>
        <p:nvSpPr>
          <p:cNvPr id="5" name="TextBox 4"/>
          <p:cNvSpPr txBox="1"/>
          <p:nvPr/>
        </p:nvSpPr>
        <p:spPr>
          <a:xfrm>
            <a:off x="502920" y="5303520"/>
            <a:ext cx="1828800" cy="914400"/>
          </a:xfrm>
          <a:prstGeom prst="rect">
            <a:avLst/>
          </a:prstGeom>
          <a:noFill/>
        </p:spPr>
        <p:txBody>
          <a:bodyPr wrap="square">
            <a:spAutoFit/>
          </a:bodyPr>
          <a:lstStyle/>
          <a:p>
            <a:pPr algn="l">
              <a:defRPr sz="7200" b="1">
                <a:solidFill>
                  <a:srgbClr val="121E32"/>
                </a:solidFill>
                <a:latin typeface="Calibri"/>
              </a:defRPr>
            </a:pPr>
            <a:r>
              <a:t>01</a:t>
            </a:r>
          </a:p>
        </p:txBody>
      </p:sp>
      <p:sp>
        <p:nvSpPr>
          <p:cNvPr id="6" name="TextBox 5"/>
          <p:cNvSpPr txBox="1"/>
          <p:nvPr/>
        </p:nvSpPr>
        <p:spPr>
          <a:xfrm>
            <a:off x="502920" y="1371600"/>
            <a:ext cx="5029200" cy="914400"/>
          </a:xfrm>
          <a:prstGeom prst="rect">
            <a:avLst/>
          </a:prstGeom>
          <a:noFill/>
        </p:spPr>
        <p:txBody>
          <a:bodyPr wrap="square">
            <a:spAutoFit/>
          </a:bodyPr>
          <a:lstStyle/>
          <a:p>
            <a:pPr algn="l">
              <a:defRPr sz="2800" b="1">
                <a:solidFill>
                  <a:srgbClr val="E8EDF5"/>
                </a:solidFill>
                <a:latin typeface="Calibri"/>
              </a:defRPr>
            </a:pPr>
            <a:r>
              <a:t>Inventory &amp;</a:t>
            </a:r>
            <a:br/>
            <a:r>
              <a:t>Supply Chain Queries</a:t>
            </a:r>
          </a:p>
        </p:txBody>
      </p:sp>
      <p:sp>
        <p:nvSpPr>
          <p:cNvPr id="7" name="TextBox 6"/>
          <p:cNvSpPr txBox="1"/>
          <p:nvPr/>
        </p:nvSpPr>
        <p:spPr>
          <a:xfrm>
            <a:off x="502920" y="2286000"/>
            <a:ext cx="5029200" cy="1097280"/>
          </a:xfrm>
          <a:prstGeom prst="rect">
            <a:avLst/>
          </a:prstGeom>
          <a:noFill/>
        </p:spPr>
        <p:txBody>
          <a:bodyPr wrap="square">
            <a:spAutoFit/>
          </a:bodyPr>
          <a:lstStyle/>
          <a:p>
            <a:pPr algn="l">
              <a:defRPr sz="1400" b="0">
                <a:solidFill>
                  <a:srgbClr val="A8BDD4"/>
                </a:solidFill>
                <a:latin typeface="Calibri"/>
              </a:defRPr>
            </a:pPr>
            <a:r>
              <a:t>Ask complex supply chain questions in plain English. Get consolidated answers across stock, purchase orders, and in-transit shipments — without navigating multiple SAP transactions.</a:t>
            </a:r>
          </a:p>
        </p:txBody>
      </p:sp>
      <p:sp>
        <p:nvSpPr>
          <p:cNvPr id="8" name="TextBox 7"/>
          <p:cNvSpPr txBox="1"/>
          <p:nvPr/>
        </p:nvSpPr>
        <p:spPr>
          <a:xfrm>
            <a:off x="502920" y="3383280"/>
            <a:ext cx="1828800" cy="274320"/>
          </a:xfrm>
          <a:prstGeom prst="rect">
            <a:avLst/>
          </a:prstGeom>
          <a:noFill/>
        </p:spPr>
        <p:txBody>
          <a:bodyPr wrap="square">
            <a:spAutoFit/>
          </a:bodyPr>
          <a:lstStyle/>
          <a:p>
            <a:pPr algn="l">
              <a:defRPr sz="1300" b="1">
                <a:solidFill>
                  <a:srgbClr val="3D506E"/>
                </a:solidFill>
                <a:latin typeface="Calibri"/>
              </a:defRPr>
            </a:pPr>
            <a:r>
              <a:t>KEY BENEFITS</a:t>
            </a:r>
          </a:p>
        </p:txBody>
      </p:sp>
      <p:sp>
        <p:nvSpPr>
          <p:cNvPr id="9" name="TextBox 8"/>
          <p:cNvSpPr txBox="1"/>
          <p:nvPr/>
        </p:nvSpPr>
        <p:spPr>
          <a:xfrm>
            <a:off x="731520" y="3703320"/>
            <a:ext cx="4754880" cy="365760"/>
          </a:xfrm>
          <a:prstGeom prst="rect">
            <a:avLst/>
          </a:prstGeom>
          <a:noFill/>
        </p:spPr>
        <p:txBody>
          <a:bodyPr wrap="square">
            <a:spAutoFit/>
          </a:bodyPr>
          <a:lstStyle/>
          <a:p>
            <a:pPr algn="l">
              <a:defRPr sz="1300" b="0">
                <a:solidFill>
                  <a:srgbClr val="A8BDD4"/>
                </a:solidFill>
                <a:latin typeface="Calibri"/>
              </a:defRPr>
            </a:pPr>
            <a:r>
              <a:t>✓  Real-time inventory visibility across all plants</a:t>
            </a:r>
          </a:p>
        </p:txBody>
      </p:sp>
      <p:sp>
        <p:nvSpPr>
          <p:cNvPr id="10" name="TextBox 9"/>
          <p:cNvSpPr txBox="1"/>
          <p:nvPr/>
        </p:nvSpPr>
        <p:spPr>
          <a:xfrm>
            <a:off x="502920" y="3703320"/>
            <a:ext cx="228600" cy="365760"/>
          </a:xfrm>
          <a:prstGeom prst="rect">
            <a:avLst/>
          </a:prstGeom>
          <a:noFill/>
        </p:spPr>
        <p:txBody>
          <a:bodyPr wrap="square">
            <a:spAutoFit/>
          </a:bodyPr>
          <a:lstStyle/>
          <a:p>
            <a:pPr algn="l">
              <a:defRPr sz="1300" b="1">
                <a:solidFill>
                  <a:srgbClr val="4F9CF9"/>
                </a:solidFill>
                <a:latin typeface="Calibri"/>
              </a:defRPr>
            </a:pPr>
            <a:r>
              <a:t>✓</a:t>
            </a:r>
          </a:p>
        </p:txBody>
      </p:sp>
      <p:sp>
        <p:nvSpPr>
          <p:cNvPr id="11" name="TextBox 10"/>
          <p:cNvSpPr txBox="1"/>
          <p:nvPr/>
        </p:nvSpPr>
        <p:spPr>
          <a:xfrm>
            <a:off x="731520" y="4087368"/>
            <a:ext cx="4754880" cy="365760"/>
          </a:xfrm>
          <a:prstGeom prst="rect">
            <a:avLst/>
          </a:prstGeom>
          <a:noFill/>
        </p:spPr>
        <p:txBody>
          <a:bodyPr wrap="square">
            <a:spAutoFit/>
          </a:bodyPr>
          <a:lstStyle/>
          <a:p>
            <a:pPr algn="l">
              <a:defRPr sz="1300" b="0">
                <a:solidFill>
                  <a:srgbClr val="A8BDD4"/>
                </a:solidFill>
                <a:latin typeface="Calibri"/>
              </a:defRPr>
            </a:pPr>
            <a:r>
              <a:t>✓  Non-technical planners can query during customer calls</a:t>
            </a:r>
          </a:p>
        </p:txBody>
      </p:sp>
      <p:sp>
        <p:nvSpPr>
          <p:cNvPr id="12" name="TextBox 11"/>
          <p:cNvSpPr txBox="1"/>
          <p:nvPr/>
        </p:nvSpPr>
        <p:spPr>
          <a:xfrm>
            <a:off x="502920" y="4087368"/>
            <a:ext cx="228600" cy="365760"/>
          </a:xfrm>
          <a:prstGeom prst="rect">
            <a:avLst/>
          </a:prstGeom>
          <a:noFill/>
        </p:spPr>
        <p:txBody>
          <a:bodyPr wrap="square">
            <a:spAutoFit/>
          </a:bodyPr>
          <a:lstStyle/>
          <a:p>
            <a:pPr algn="l">
              <a:defRPr sz="1300" b="1">
                <a:solidFill>
                  <a:srgbClr val="4F9CF9"/>
                </a:solidFill>
                <a:latin typeface="Calibri"/>
              </a:defRPr>
            </a:pPr>
            <a:r>
              <a:t>✓</a:t>
            </a:r>
          </a:p>
        </p:txBody>
      </p:sp>
      <p:sp>
        <p:nvSpPr>
          <p:cNvPr id="13" name="TextBox 12"/>
          <p:cNvSpPr txBox="1"/>
          <p:nvPr/>
        </p:nvSpPr>
        <p:spPr>
          <a:xfrm>
            <a:off x="731520" y="4471416"/>
            <a:ext cx="4754880" cy="365760"/>
          </a:xfrm>
          <a:prstGeom prst="rect">
            <a:avLst/>
          </a:prstGeom>
          <a:noFill/>
        </p:spPr>
        <p:txBody>
          <a:bodyPr wrap="square">
            <a:spAutoFit/>
          </a:bodyPr>
          <a:lstStyle/>
          <a:p>
            <a:pPr algn="l">
              <a:defRPr sz="1300" b="0">
                <a:solidFill>
                  <a:srgbClr val="A8BDD4"/>
                </a:solidFill>
                <a:latin typeface="Calibri"/>
              </a:defRPr>
            </a:pPr>
            <a:r>
              <a:t>✓  Stock + open POs + in-transit combined in one answer</a:t>
            </a:r>
          </a:p>
        </p:txBody>
      </p:sp>
      <p:sp>
        <p:nvSpPr>
          <p:cNvPr id="14" name="TextBox 13"/>
          <p:cNvSpPr txBox="1"/>
          <p:nvPr/>
        </p:nvSpPr>
        <p:spPr>
          <a:xfrm>
            <a:off x="502920" y="4471416"/>
            <a:ext cx="228600" cy="365760"/>
          </a:xfrm>
          <a:prstGeom prst="rect">
            <a:avLst/>
          </a:prstGeom>
          <a:noFill/>
        </p:spPr>
        <p:txBody>
          <a:bodyPr wrap="square">
            <a:spAutoFit/>
          </a:bodyPr>
          <a:lstStyle/>
          <a:p>
            <a:pPr algn="l">
              <a:defRPr sz="1300" b="1">
                <a:solidFill>
                  <a:srgbClr val="4F9CF9"/>
                </a:solidFill>
                <a:latin typeface="Calibri"/>
              </a:defRPr>
            </a:pPr>
            <a:r>
              <a:t>✓</a:t>
            </a:r>
          </a:p>
        </p:txBody>
      </p:sp>
      <p:sp>
        <p:nvSpPr>
          <p:cNvPr id="15" name="TextBox 14"/>
          <p:cNvSpPr txBox="1"/>
          <p:nvPr/>
        </p:nvSpPr>
        <p:spPr>
          <a:xfrm>
            <a:off x="731520" y="4855464"/>
            <a:ext cx="4754880" cy="365760"/>
          </a:xfrm>
          <a:prstGeom prst="rect">
            <a:avLst/>
          </a:prstGeom>
          <a:noFill/>
        </p:spPr>
        <p:txBody>
          <a:bodyPr wrap="square">
            <a:spAutoFit/>
          </a:bodyPr>
          <a:lstStyle/>
          <a:p>
            <a:pPr algn="l">
              <a:defRPr sz="1300" b="0">
                <a:solidFill>
                  <a:srgbClr val="A8BDD4"/>
                </a:solidFill>
                <a:latin typeface="Calibri"/>
              </a:defRPr>
            </a:pPr>
            <a:r>
              <a:t>✓  Proactive shortage alerts via scheduled queries</a:t>
            </a:r>
          </a:p>
        </p:txBody>
      </p:sp>
      <p:sp>
        <p:nvSpPr>
          <p:cNvPr id="16" name="TextBox 15"/>
          <p:cNvSpPr txBox="1"/>
          <p:nvPr/>
        </p:nvSpPr>
        <p:spPr>
          <a:xfrm>
            <a:off x="502920" y="4855464"/>
            <a:ext cx="228600" cy="365760"/>
          </a:xfrm>
          <a:prstGeom prst="rect">
            <a:avLst/>
          </a:prstGeom>
          <a:noFill/>
        </p:spPr>
        <p:txBody>
          <a:bodyPr wrap="square">
            <a:spAutoFit/>
          </a:bodyPr>
          <a:lstStyle/>
          <a:p>
            <a:pPr algn="l">
              <a:defRPr sz="1300" b="1">
                <a:solidFill>
                  <a:srgbClr val="4F9CF9"/>
                </a:solidFill>
                <a:latin typeface="Calibri"/>
              </a:defRPr>
            </a:pPr>
            <a:r>
              <a:t>✓</a:t>
            </a:r>
          </a:p>
        </p:txBody>
      </p:sp>
      <p:sp>
        <p:nvSpPr>
          <p:cNvPr id="17" name="Rectangle 16"/>
          <p:cNvSpPr/>
          <p:nvPr/>
        </p:nvSpPr>
        <p:spPr>
          <a:xfrm>
            <a:off x="6095390" y="0"/>
            <a:ext cx="9144" cy="6858000"/>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0" y="914400"/>
            <a:ext cx="5303520" cy="3474720"/>
          </a:xfrm>
          <a:prstGeom prst="roundRect">
            <a:avLst>
              <a:gd name="adj" fmla="val 5000"/>
            </a:avLst>
          </a:prstGeom>
          <a:solidFill>
            <a:srgbClr val="0D1220"/>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914400"/>
            <a:ext cx="5303520" cy="4572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0" y="960120"/>
            <a:ext cx="3657600" cy="365760"/>
          </a:xfrm>
          <a:prstGeom prst="rect">
            <a:avLst/>
          </a:prstGeom>
          <a:noFill/>
        </p:spPr>
        <p:txBody>
          <a:bodyPr wrap="square">
            <a:spAutoFit/>
          </a:bodyPr>
          <a:lstStyle/>
          <a:p>
            <a:pPr algn="l">
              <a:defRPr sz="1400" b="1">
                <a:solidFill>
                  <a:srgbClr val="6B7FA3"/>
                </a:solidFill>
                <a:latin typeface="Calibri"/>
              </a:defRPr>
            </a:pPr>
            <a:r>
              <a:t>📦  SAP Supply Chain Agent</a:t>
            </a:r>
          </a:p>
        </p:txBody>
      </p:sp>
      <p:sp>
        <p:nvSpPr>
          <p:cNvPr id="21" name="Rounded Rectangle 20"/>
          <p:cNvSpPr/>
          <p:nvPr/>
        </p:nvSpPr>
        <p:spPr>
          <a:xfrm>
            <a:off x="7132320" y="1554480"/>
            <a:ext cx="4389120" cy="548640"/>
          </a:xfrm>
          <a:prstGeom prst="roundRect">
            <a:avLst>
              <a:gd name="adj" fmla="val 5000"/>
            </a:avLst>
          </a:prstGeom>
          <a:solidFill>
            <a:srgbClr val="182943"/>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1581912"/>
            <a:ext cx="4023360" cy="502920"/>
          </a:xfrm>
          <a:prstGeom prst="rect">
            <a:avLst/>
          </a:prstGeom>
          <a:noFill/>
        </p:spPr>
        <p:txBody>
          <a:bodyPr wrap="square">
            <a:spAutoFit/>
          </a:bodyPr>
          <a:lstStyle/>
          <a:p>
            <a:pPr algn="l">
              <a:defRPr sz="1200" b="0">
                <a:solidFill>
                  <a:srgbClr val="E8EDF5"/>
                </a:solidFill>
                <a:latin typeface="Calibri"/>
              </a:defRPr>
            </a:pPr>
            <a:r>
              <a:t>What is my current stock of Material A from Vendor X across all factories?</a:t>
            </a:r>
          </a:p>
        </p:txBody>
      </p:sp>
      <p:sp>
        <p:nvSpPr>
          <p:cNvPr id="23" name="Rounded Rectangle 22"/>
          <p:cNvSpPr/>
          <p:nvPr/>
        </p:nvSpPr>
        <p:spPr>
          <a:xfrm>
            <a:off x="6537960" y="2240280"/>
            <a:ext cx="502920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2286000"/>
            <a:ext cx="2743200" cy="274320"/>
          </a:xfrm>
          <a:prstGeom prst="rect">
            <a:avLst/>
          </a:prstGeom>
          <a:noFill/>
        </p:spPr>
        <p:txBody>
          <a:bodyPr wrap="square">
            <a:spAutoFit/>
          </a:bodyPr>
          <a:lstStyle/>
          <a:p>
            <a:pPr algn="l">
              <a:defRPr sz="1100" b="1">
                <a:solidFill>
                  <a:srgbClr val="4F9CF9"/>
                </a:solidFill>
                <a:latin typeface="Calibri"/>
              </a:defRPr>
            </a:pPr>
            <a:r>
              <a:t>✦ SAP AGENT</a:t>
            </a:r>
          </a:p>
        </p:txBody>
      </p:sp>
      <p:sp>
        <p:nvSpPr>
          <p:cNvPr id="25" name="TextBox 24"/>
          <p:cNvSpPr txBox="1"/>
          <p:nvPr/>
        </p:nvSpPr>
        <p:spPr>
          <a:xfrm>
            <a:off x="6675120" y="2606040"/>
            <a:ext cx="4754880" cy="1554480"/>
          </a:xfrm>
          <a:prstGeom prst="rect">
            <a:avLst/>
          </a:prstGeom>
          <a:noFill/>
        </p:spPr>
        <p:txBody>
          <a:bodyPr wrap="square">
            <a:spAutoFit/>
          </a:bodyPr>
          <a:lstStyle/>
          <a:p>
            <a:pPr algn="l">
              <a:defRPr sz="1100" b="0">
                <a:solidFill>
                  <a:srgbClr val="A8BDD4"/>
                </a:solidFill>
                <a:latin typeface="Consolas"/>
              </a:defRPr>
            </a:pPr>
            <a:r>
              <a:t>Material A stock across all factories:</a:t>
            </a:r>
            <a:br/>
            <a:r>
              <a:t>• Plant DE01 — 850 units</a:t>
            </a:r>
            <a:br/>
            <a:r>
              <a:t>• Plant US02 — 320 units</a:t>
            </a:r>
            <a:br/>
            <a:r>
              <a:t>• Plant SG03 — 140 units</a:t>
            </a:r>
            <a:br/>
            <a:br/>
            <a:r>
              <a:t>Total: 1,310 units | 3 open POs arriving next week (+680 units)</a:t>
            </a:r>
          </a:p>
        </p:txBody>
      </p:sp>
      <p:sp>
        <p:nvSpPr>
          <p:cNvPr id="26" name="TextBox 25"/>
          <p:cNvSpPr txBox="1"/>
          <p:nvPr/>
        </p:nvSpPr>
        <p:spPr>
          <a:xfrm>
            <a:off x="6400800" y="4663440"/>
            <a:ext cx="2743200" cy="274320"/>
          </a:xfrm>
          <a:prstGeom prst="rect">
            <a:avLst/>
          </a:prstGeom>
          <a:noFill/>
        </p:spPr>
        <p:txBody>
          <a:bodyPr wrap="square">
            <a:spAutoFit/>
          </a:bodyPr>
          <a:lstStyle/>
          <a:p>
            <a:pPr algn="l">
              <a:defRPr sz="1300" b="1">
                <a:solidFill>
                  <a:srgbClr val="3D506E"/>
                </a:solidFill>
                <a:latin typeface="Calibri"/>
              </a:defRPr>
            </a:pPr>
            <a:r>
              <a:t>SAP DATA ACCESSED</a:t>
            </a:r>
          </a:p>
        </p:txBody>
      </p:sp>
      <p:sp>
        <p:nvSpPr>
          <p:cNvPr id="27" name="Rounded Rectangle 26"/>
          <p:cNvSpPr/>
          <p:nvPr/>
        </p:nvSpPr>
        <p:spPr>
          <a:xfrm>
            <a:off x="6400800" y="4983480"/>
            <a:ext cx="1906524"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5001768"/>
            <a:ext cx="1760220" cy="256032"/>
          </a:xfrm>
          <a:prstGeom prst="rect">
            <a:avLst/>
          </a:prstGeom>
          <a:noFill/>
        </p:spPr>
        <p:txBody>
          <a:bodyPr wrap="square">
            <a:spAutoFit/>
          </a:bodyPr>
          <a:lstStyle/>
          <a:p>
            <a:pPr algn="l">
              <a:defRPr sz="1100" b="0">
                <a:solidFill>
                  <a:srgbClr val="A8BDD4"/>
                </a:solidFill>
                <a:latin typeface="Consolas"/>
              </a:defRPr>
            </a:pPr>
            <a:r>
              <a:t>MARD (Stock by Plant)</a:t>
            </a:r>
          </a:p>
        </p:txBody>
      </p:sp>
      <p:sp>
        <p:nvSpPr>
          <p:cNvPr id="29" name="Rounded Rectangle 28"/>
          <p:cNvSpPr/>
          <p:nvPr/>
        </p:nvSpPr>
        <p:spPr>
          <a:xfrm>
            <a:off x="8398764" y="4983480"/>
            <a:ext cx="1440180"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71916" y="5001768"/>
            <a:ext cx="1293876" cy="256032"/>
          </a:xfrm>
          <a:prstGeom prst="rect">
            <a:avLst/>
          </a:prstGeom>
          <a:noFill/>
        </p:spPr>
        <p:txBody>
          <a:bodyPr wrap="square">
            <a:spAutoFit/>
          </a:bodyPr>
          <a:lstStyle/>
          <a:p>
            <a:pPr algn="l">
              <a:defRPr sz="1100" b="0">
                <a:solidFill>
                  <a:srgbClr val="A8BDD4"/>
                </a:solidFill>
                <a:latin typeface="Consolas"/>
              </a:defRPr>
            </a:pPr>
            <a:r>
              <a:t>EKKO/EKPO (POs)</a:t>
            </a:r>
          </a:p>
        </p:txBody>
      </p:sp>
      <p:sp>
        <p:nvSpPr>
          <p:cNvPr id="31" name="Rounded Rectangle 30"/>
          <p:cNvSpPr/>
          <p:nvPr/>
        </p:nvSpPr>
        <p:spPr>
          <a:xfrm>
            <a:off x="6400800" y="5330952"/>
            <a:ext cx="1984248"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3952" y="5349240"/>
            <a:ext cx="1837944" cy="256032"/>
          </a:xfrm>
          <a:prstGeom prst="rect">
            <a:avLst/>
          </a:prstGeom>
          <a:noFill/>
        </p:spPr>
        <p:txBody>
          <a:bodyPr wrap="square">
            <a:spAutoFit/>
          </a:bodyPr>
          <a:lstStyle/>
          <a:p>
            <a:pPr algn="l">
              <a:defRPr sz="1100" b="0">
                <a:solidFill>
                  <a:srgbClr val="A8BDD4"/>
                </a:solidFill>
                <a:latin typeface="Consolas"/>
              </a:defRPr>
            </a:pPr>
            <a:r>
              <a:t>LIKP/LIPS (Deliveries)</a:t>
            </a:r>
          </a:p>
        </p:txBody>
      </p:sp>
      <p:sp>
        <p:nvSpPr>
          <p:cNvPr id="33" name="Rounded Rectangle 32"/>
          <p:cNvSpPr/>
          <p:nvPr/>
        </p:nvSpPr>
        <p:spPr>
          <a:xfrm>
            <a:off x="8476488" y="5330952"/>
            <a:ext cx="1984248"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49640" y="5349240"/>
            <a:ext cx="1837944" cy="256032"/>
          </a:xfrm>
          <a:prstGeom prst="rect">
            <a:avLst/>
          </a:prstGeom>
          <a:noFill/>
        </p:spPr>
        <p:txBody>
          <a:bodyPr wrap="square">
            <a:spAutoFit/>
          </a:bodyPr>
          <a:lstStyle/>
          <a:p>
            <a:pPr algn="l">
              <a:defRPr sz="1100" b="0">
                <a:solidFill>
                  <a:srgbClr val="A8BDD4"/>
                </a:solidFill>
                <a:latin typeface="Consolas"/>
              </a:defRPr>
            </a:pPr>
            <a:r>
              <a:t>MARA (Material Master)</a:t>
            </a:r>
          </a:p>
        </p:txBody>
      </p:sp>
      <p:sp>
        <p:nvSpPr>
          <p:cNvPr id="35" name="TextBox 34"/>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868680"/>
            <a:ext cx="2231136" cy="320040"/>
          </a:xfrm>
          <a:prstGeom prst="roundRect">
            <a:avLst>
              <a:gd name="adj" fmla="val 50000"/>
            </a:avLst>
          </a:prstGeom>
          <a:solidFill>
            <a:srgbClr val="182943"/>
          </a:solidFill>
          <a:ln w="12700">
            <a:solidFill>
              <a:srgbClr val="1E365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9CF9"/>
                </a:solidFill>
              </a:defRPr>
            </a:pPr>
            <a:r>
              <a:t>📦 Supply Chain</a:t>
            </a:r>
          </a:p>
        </p:txBody>
      </p:sp>
      <p:sp>
        <p:nvSpPr>
          <p:cNvPr id="5" name="TextBox 4"/>
          <p:cNvSpPr txBox="1"/>
          <p:nvPr/>
        </p:nvSpPr>
        <p:spPr>
          <a:xfrm>
            <a:off x="2871216" y="841248"/>
            <a:ext cx="3657600" cy="411480"/>
          </a:xfrm>
          <a:prstGeom prst="rect">
            <a:avLst/>
          </a:prstGeom>
          <a:noFill/>
        </p:spPr>
        <p:txBody>
          <a:bodyPr wrap="square">
            <a:spAutoFit/>
          </a:bodyPr>
          <a:lstStyle/>
          <a:p>
            <a:pPr algn="l">
              <a:defRPr sz="2400" b="1">
                <a:solidFill>
                  <a:srgbClr val="E8EDF5"/>
                </a:solidFill>
                <a:latin typeface="Calibri"/>
              </a:defRPr>
            </a:pPr>
            <a:r>
              <a:t>Implementation Guide</a:t>
            </a:r>
          </a:p>
        </p:txBody>
      </p:sp>
      <p:sp>
        <p:nvSpPr>
          <p:cNvPr id="6" name="Rounded Rectangle 5"/>
          <p:cNvSpPr/>
          <p:nvPr/>
        </p:nvSpPr>
        <p:spPr>
          <a:xfrm>
            <a:off x="502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45920"/>
            <a:ext cx="320040" cy="320040"/>
          </a:xfrm>
          <a:prstGeom prst="roundRect">
            <a:avLst>
              <a:gd name="adj" fmla="val 15000"/>
            </a:avLst>
          </a:prstGeom>
          <a:solidFill>
            <a:srgbClr val="1A2E4B"/>
          </a:solidFill>
          <a:ln>
            <a:solidFill>
              <a:srgbClr val="1E3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4F9CF9"/>
                </a:solidFill>
              </a:defRPr>
            </a:pPr>
            <a:r>
              <a:t>1</a:t>
            </a:r>
          </a:p>
        </p:txBody>
      </p:sp>
      <p:sp>
        <p:nvSpPr>
          <p:cNvPr id="8" name="TextBox 7"/>
          <p:cNvSpPr txBox="1"/>
          <p:nvPr/>
        </p:nvSpPr>
        <p:spPr>
          <a:xfrm>
            <a:off x="685800" y="2103120"/>
            <a:ext cx="1783080" cy="548640"/>
          </a:xfrm>
          <a:prstGeom prst="rect">
            <a:avLst/>
          </a:prstGeom>
          <a:noFill/>
        </p:spPr>
        <p:txBody>
          <a:bodyPr wrap="square">
            <a:spAutoFit/>
          </a:bodyPr>
          <a:lstStyle/>
          <a:p>
            <a:pPr algn="l">
              <a:defRPr sz="1600" b="1">
                <a:solidFill>
                  <a:srgbClr val="E8EDF5"/>
                </a:solidFill>
                <a:latin typeface="Calibri"/>
              </a:defRPr>
            </a:pPr>
            <a:r>
              <a:t>Start read-only</a:t>
            </a:r>
          </a:p>
        </p:txBody>
      </p:sp>
      <p:sp>
        <p:nvSpPr>
          <p:cNvPr id="9" name="TextBox 8"/>
          <p:cNvSpPr txBox="1"/>
          <p:nvPr/>
        </p:nvSpPr>
        <p:spPr>
          <a:xfrm>
            <a:off x="685800" y="2651760"/>
            <a:ext cx="1783080" cy="3108960"/>
          </a:xfrm>
          <a:prstGeom prst="rect">
            <a:avLst/>
          </a:prstGeom>
          <a:noFill/>
        </p:spPr>
        <p:txBody>
          <a:bodyPr wrap="square">
            <a:spAutoFit/>
          </a:bodyPr>
          <a:lstStyle/>
          <a:p>
            <a:pPr algn="l">
              <a:defRPr sz="1300" b="0">
                <a:solidFill>
                  <a:srgbClr val="6B7FA3"/>
                </a:solidFill>
                <a:latin typeface="Calibri"/>
              </a:defRPr>
            </a:pPr>
            <a:r>
              <a:t>Focus on informational queries first (stock levels, order lists). Compare bot output to standard SAP reports like MB52 to validate accuracy before expanding scope.</a:t>
            </a:r>
          </a:p>
        </p:txBody>
      </p:sp>
      <p:sp>
        <p:nvSpPr>
          <p:cNvPr id="10" name="TextBox 9"/>
          <p:cNvSpPr txBox="1"/>
          <p:nvPr/>
        </p:nvSpPr>
        <p:spPr>
          <a:xfrm>
            <a:off x="1920240" y="5212080"/>
            <a:ext cx="640080" cy="731520"/>
          </a:xfrm>
          <a:prstGeom prst="rect">
            <a:avLst/>
          </a:prstGeom>
          <a:noFill/>
        </p:spPr>
        <p:txBody>
          <a:bodyPr wrap="square">
            <a:spAutoFit/>
          </a:bodyPr>
          <a:lstStyle/>
          <a:p>
            <a:pPr algn="r">
              <a:defRPr sz="5400" b="1">
                <a:solidFill>
                  <a:srgbClr val="1B2131"/>
                </a:solidFill>
                <a:latin typeface="Calibri"/>
              </a:defRPr>
            </a:pPr>
            <a:r>
              <a:t>1</a:t>
            </a:r>
          </a:p>
        </p:txBody>
      </p:sp>
      <p:sp>
        <p:nvSpPr>
          <p:cNvPr id="11" name="Rounded Rectangle 10"/>
          <p:cNvSpPr/>
          <p:nvPr/>
        </p:nvSpPr>
        <p:spPr>
          <a:xfrm>
            <a:off x="2788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71800" y="1645920"/>
            <a:ext cx="320040" cy="320040"/>
          </a:xfrm>
          <a:prstGeom prst="roundRect">
            <a:avLst>
              <a:gd name="adj" fmla="val 15000"/>
            </a:avLst>
          </a:prstGeom>
          <a:solidFill>
            <a:srgbClr val="1A2E4B"/>
          </a:solidFill>
          <a:ln>
            <a:solidFill>
              <a:srgbClr val="1E3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4F9CF9"/>
                </a:solidFill>
              </a:defRPr>
            </a:pPr>
            <a:r>
              <a:t>2</a:t>
            </a:r>
          </a:p>
        </p:txBody>
      </p:sp>
      <p:sp>
        <p:nvSpPr>
          <p:cNvPr id="13" name="TextBox 12"/>
          <p:cNvSpPr txBox="1"/>
          <p:nvPr/>
        </p:nvSpPr>
        <p:spPr>
          <a:xfrm>
            <a:off x="2971800" y="2103120"/>
            <a:ext cx="1783080" cy="548640"/>
          </a:xfrm>
          <a:prstGeom prst="rect">
            <a:avLst/>
          </a:prstGeom>
          <a:noFill/>
        </p:spPr>
        <p:txBody>
          <a:bodyPr wrap="square">
            <a:spAutoFit/>
          </a:bodyPr>
          <a:lstStyle/>
          <a:p>
            <a:pPr algn="l">
              <a:defRPr sz="1600" b="1">
                <a:solidFill>
                  <a:srgbClr val="E8EDF5"/>
                </a:solidFill>
                <a:latin typeface="Calibri"/>
              </a:defRPr>
            </a:pPr>
            <a:r>
              <a:t>Create HANA views</a:t>
            </a:r>
          </a:p>
        </p:txBody>
      </p:sp>
      <p:sp>
        <p:nvSpPr>
          <p:cNvPr id="14" name="TextBox 13"/>
          <p:cNvSpPr txBox="1"/>
          <p:nvPr/>
        </p:nvSpPr>
        <p:spPr>
          <a:xfrm>
            <a:off x="2971800" y="2651760"/>
            <a:ext cx="1783080" cy="3108960"/>
          </a:xfrm>
          <a:prstGeom prst="rect">
            <a:avLst/>
          </a:prstGeom>
          <a:noFill/>
        </p:spPr>
        <p:txBody>
          <a:bodyPr wrap="square">
            <a:spAutoFit/>
          </a:bodyPr>
          <a:lstStyle/>
          <a:p>
            <a:pPr algn="l">
              <a:defRPr sz="1300" b="0">
                <a:solidFill>
                  <a:srgbClr val="6B7FA3"/>
                </a:solidFill>
                <a:latin typeface="Calibri"/>
              </a:defRPr>
            </a:pPr>
            <a:r>
              <a:t>Build an InventoryStatus view joining stock, open POs, and in-transit data. Let the bot query this simple view rather than composing complex joins.</a:t>
            </a:r>
          </a:p>
        </p:txBody>
      </p:sp>
      <p:sp>
        <p:nvSpPr>
          <p:cNvPr id="15" name="TextBox 14"/>
          <p:cNvSpPr txBox="1"/>
          <p:nvPr/>
        </p:nvSpPr>
        <p:spPr>
          <a:xfrm>
            <a:off x="4206240" y="5212080"/>
            <a:ext cx="640080" cy="731520"/>
          </a:xfrm>
          <a:prstGeom prst="rect">
            <a:avLst/>
          </a:prstGeom>
          <a:noFill/>
        </p:spPr>
        <p:txBody>
          <a:bodyPr wrap="square">
            <a:spAutoFit/>
          </a:bodyPr>
          <a:lstStyle/>
          <a:p>
            <a:pPr algn="r">
              <a:defRPr sz="5400" b="1">
                <a:solidFill>
                  <a:srgbClr val="1B2131"/>
                </a:solidFill>
                <a:latin typeface="Calibri"/>
              </a:defRPr>
            </a:pPr>
            <a:r>
              <a:t>2</a:t>
            </a:r>
          </a:p>
        </p:txBody>
      </p:sp>
      <p:sp>
        <p:nvSpPr>
          <p:cNvPr id="16" name="Rounded Rectangle 15"/>
          <p:cNvSpPr/>
          <p:nvPr/>
        </p:nvSpPr>
        <p:spPr>
          <a:xfrm>
            <a:off x="5074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257800" y="1645920"/>
            <a:ext cx="320040" cy="320040"/>
          </a:xfrm>
          <a:prstGeom prst="roundRect">
            <a:avLst>
              <a:gd name="adj" fmla="val 15000"/>
            </a:avLst>
          </a:prstGeom>
          <a:solidFill>
            <a:srgbClr val="1A2E4B"/>
          </a:solidFill>
          <a:ln>
            <a:solidFill>
              <a:srgbClr val="1E3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4F9CF9"/>
                </a:solidFill>
              </a:defRPr>
            </a:pPr>
            <a:r>
              <a:t>3</a:t>
            </a:r>
          </a:p>
        </p:txBody>
      </p:sp>
      <p:sp>
        <p:nvSpPr>
          <p:cNvPr id="18" name="TextBox 17"/>
          <p:cNvSpPr txBox="1"/>
          <p:nvPr/>
        </p:nvSpPr>
        <p:spPr>
          <a:xfrm>
            <a:off x="5257800" y="2103120"/>
            <a:ext cx="1783080" cy="548640"/>
          </a:xfrm>
          <a:prstGeom prst="rect">
            <a:avLst/>
          </a:prstGeom>
          <a:noFill/>
        </p:spPr>
        <p:txBody>
          <a:bodyPr wrap="square">
            <a:spAutoFit/>
          </a:bodyPr>
          <a:lstStyle/>
          <a:p>
            <a:pPr algn="l">
              <a:defRPr sz="1600" b="1">
                <a:solidFill>
                  <a:srgbClr val="E8EDF5"/>
                </a:solidFill>
                <a:latin typeface="Calibri"/>
              </a:defRPr>
            </a:pPr>
            <a:r>
              <a:t>Enable chart output</a:t>
            </a:r>
          </a:p>
        </p:txBody>
      </p:sp>
      <p:sp>
        <p:nvSpPr>
          <p:cNvPr id="19" name="TextBox 18"/>
          <p:cNvSpPr txBox="1"/>
          <p:nvPr/>
        </p:nvSpPr>
        <p:spPr>
          <a:xfrm>
            <a:off x="5257800" y="2651760"/>
            <a:ext cx="1783080" cy="3108960"/>
          </a:xfrm>
          <a:prstGeom prst="rect">
            <a:avLst/>
          </a:prstGeom>
          <a:noFill/>
        </p:spPr>
        <p:txBody>
          <a:bodyPr wrap="square">
            <a:spAutoFit/>
          </a:bodyPr>
          <a:lstStyle/>
          <a:p>
            <a:pPr algn="l">
              <a:defRPr sz="1300" b="0">
                <a:solidFill>
                  <a:srgbClr val="6B7FA3"/>
                </a:solidFill>
                <a:latin typeface="Calibri"/>
              </a:defRPr>
            </a:pPr>
            <a:r>
              <a:t>Configure the chart.js step in Power Automate. Bar charts of stock by warehouse or trend lines are highly valued by supply chain managers.</a:t>
            </a:r>
          </a:p>
        </p:txBody>
      </p:sp>
      <p:sp>
        <p:nvSpPr>
          <p:cNvPr id="20" name="TextBox 19"/>
          <p:cNvSpPr txBox="1"/>
          <p:nvPr/>
        </p:nvSpPr>
        <p:spPr>
          <a:xfrm>
            <a:off x="6492240" y="5212080"/>
            <a:ext cx="640080" cy="731520"/>
          </a:xfrm>
          <a:prstGeom prst="rect">
            <a:avLst/>
          </a:prstGeom>
          <a:noFill/>
        </p:spPr>
        <p:txBody>
          <a:bodyPr wrap="square">
            <a:spAutoFit/>
          </a:bodyPr>
          <a:lstStyle/>
          <a:p>
            <a:pPr algn="r">
              <a:defRPr sz="5400" b="1">
                <a:solidFill>
                  <a:srgbClr val="1B2131"/>
                </a:solidFill>
                <a:latin typeface="Calibri"/>
              </a:defRPr>
            </a:pPr>
            <a:r>
              <a:t>3</a:t>
            </a:r>
          </a:p>
        </p:txBody>
      </p:sp>
      <p:sp>
        <p:nvSpPr>
          <p:cNvPr id="21" name="Rounded Rectangle 20"/>
          <p:cNvSpPr/>
          <p:nvPr/>
        </p:nvSpPr>
        <p:spPr>
          <a:xfrm>
            <a:off x="7360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43800" y="1645920"/>
            <a:ext cx="320040" cy="320040"/>
          </a:xfrm>
          <a:prstGeom prst="roundRect">
            <a:avLst>
              <a:gd name="adj" fmla="val 15000"/>
            </a:avLst>
          </a:prstGeom>
          <a:solidFill>
            <a:srgbClr val="1A2E4B"/>
          </a:solidFill>
          <a:ln>
            <a:solidFill>
              <a:srgbClr val="1E3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4F9CF9"/>
                </a:solidFill>
              </a:defRPr>
            </a:pPr>
            <a:r>
              <a:t>4</a:t>
            </a:r>
          </a:p>
        </p:txBody>
      </p:sp>
      <p:sp>
        <p:nvSpPr>
          <p:cNvPr id="23" name="TextBox 22"/>
          <p:cNvSpPr txBox="1"/>
          <p:nvPr/>
        </p:nvSpPr>
        <p:spPr>
          <a:xfrm>
            <a:off x="7543800" y="2103120"/>
            <a:ext cx="1783080" cy="548640"/>
          </a:xfrm>
          <a:prstGeom prst="rect">
            <a:avLst/>
          </a:prstGeom>
          <a:noFill/>
        </p:spPr>
        <p:txBody>
          <a:bodyPr wrap="square">
            <a:spAutoFit/>
          </a:bodyPr>
          <a:lstStyle/>
          <a:p>
            <a:pPr algn="l">
              <a:defRPr sz="1600" b="1">
                <a:solidFill>
                  <a:srgbClr val="E8EDF5"/>
                </a:solidFill>
                <a:latin typeface="Calibri"/>
              </a:defRPr>
            </a:pPr>
            <a:r>
              <a:t>Add proactive alerts</a:t>
            </a:r>
          </a:p>
        </p:txBody>
      </p:sp>
      <p:sp>
        <p:nvSpPr>
          <p:cNvPr id="24" name="TextBox 23"/>
          <p:cNvSpPr txBox="1"/>
          <p:nvPr/>
        </p:nvSpPr>
        <p:spPr>
          <a:xfrm>
            <a:off x="7543800" y="2651760"/>
            <a:ext cx="1783080" cy="3108960"/>
          </a:xfrm>
          <a:prstGeom prst="rect">
            <a:avLst/>
          </a:prstGeom>
          <a:noFill/>
        </p:spPr>
        <p:txBody>
          <a:bodyPr wrap="square">
            <a:spAutoFit/>
          </a:bodyPr>
          <a:lstStyle/>
          <a:p>
            <a:pPr algn="l">
              <a:defRPr sz="1300" b="0">
                <a:solidFill>
                  <a:srgbClr val="6B7FA3"/>
                </a:solidFill>
                <a:latin typeface="Calibri"/>
              </a:defRPr>
            </a:pPr>
            <a:r>
              <a:t>Schedule Power Automate to run daily checks for parts below safety stock and post Teams alerts. Turns Q&amp;A into a proactive assistant.</a:t>
            </a:r>
          </a:p>
        </p:txBody>
      </p:sp>
      <p:sp>
        <p:nvSpPr>
          <p:cNvPr id="25" name="TextBox 24"/>
          <p:cNvSpPr txBox="1"/>
          <p:nvPr/>
        </p:nvSpPr>
        <p:spPr>
          <a:xfrm>
            <a:off x="8778240" y="5212080"/>
            <a:ext cx="640080" cy="731520"/>
          </a:xfrm>
          <a:prstGeom prst="rect">
            <a:avLst/>
          </a:prstGeom>
          <a:noFill/>
        </p:spPr>
        <p:txBody>
          <a:bodyPr wrap="square">
            <a:spAutoFit/>
          </a:bodyPr>
          <a:lstStyle/>
          <a:p>
            <a:pPr algn="r">
              <a:defRPr sz="5400" b="1">
                <a:solidFill>
                  <a:srgbClr val="1B2131"/>
                </a:solidFill>
                <a:latin typeface="Calibri"/>
              </a:defRPr>
            </a:pPr>
            <a:r>
              <a:t>4</a:t>
            </a:r>
          </a:p>
        </p:txBody>
      </p:sp>
      <p:sp>
        <p:nvSpPr>
          <p:cNvPr id="26" name="Rounded Rectangle 25"/>
          <p:cNvSpPr/>
          <p:nvPr/>
        </p:nvSpPr>
        <p:spPr>
          <a:xfrm>
            <a:off x="9646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29800" y="1645920"/>
            <a:ext cx="320040" cy="320040"/>
          </a:xfrm>
          <a:prstGeom prst="roundRect">
            <a:avLst>
              <a:gd name="adj" fmla="val 15000"/>
            </a:avLst>
          </a:prstGeom>
          <a:solidFill>
            <a:srgbClr val="1A2E4B"/>
          </a:solidFill>
          <a:ln>
            <a:solidFill>
              <a:srgbClr val="1E3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4F9CF9"/>
                </a:solidFill>
              </a:defRPr>
            </a:pPr>
            <a:r>
              <a:t>5</a:t>
            </a:r>
          </a:p>
        </p:txBody>
      </p:sp>
      <p:sp>
        <p:nvSpPr>
          <p:cNvPr id="28" name="TextBox 27"/>
          <p:cNvSpPr txBox="1"/>
          <p:nvPr/>
        </p:nvSpPr>
        <p:spPr>
          <a:xfrm>
            <a:off x="9829800" y="2103120"/>
            <a:ext cx="1783080" cy="548640"/>
          </a:xfrm>
          <a:prstGeom prst="rect">
            <a:avLst/>
          </a:prstGeom>
          <a:noFill/>
        </p:spPr>
        <p:txBody>
          <a:bodyPr wrap="square">
            <a:spAutoFit/>
          </a:bodyPr>
          <a:lstStyle/>
          <a:p>
            <a:pPr algn="l">
              <a:defRPr sz="1600" b="1">
                <a:solidFill>
                  <a:srgbClr val="E8EDF5"/>
                </a:solidFill>
                <a:latin typeface="Calibri"/>
              </a:defRPr>
            </a:pPr>
            <a:r>
              <a:t>Define schema in prompt</a:t>
            </a:r>
          </a:p>
        </p:txBody>
      </p:sp>
      <p:sp>
        <p:nvSpPr>
          <p:cNvPr id="29" name="TextBox 28"/>
          <p:cNvSpPr txBox="1"/>
          <p:nvPr/>
        </p:nvSpPr>
        <p:spPr>
          <a:xfrm>
            <a:off x="9829800" y="2651760"/>
            <a:ext cx="1783080" cy="3108960"/>
          </a:xfrm>
          <a:prstGeom prst="rect">
            <a:avLst/>
          </a:prstGeom>
          <a:noFill/>
        </p:spPr>
        <p:txBody>
          <a:bodyPr wrap="square">
            <a:spAutoFit/>
          </a:bodyPr>
          <a:lstStyle/>
          <a:p>
            <a:pPr algn="l">
              <a:defRPr sz="1300" b="0">
                <a:solidFill>
                  <a:srgbClr val="6B7FA3"/>
                </a:solidFill>
                <a:latin typeface="Calibri"/>
              </a:defRPr>
            </a:pPr>
            <a:r>
              <a:t>Include field definitions: material, plant, vendor, quantity fields, and join keys. Incomplete schema = wrong SQL. Test with varied phrasings.</a:t>
            </a:r>
          </a:p>
        </p:txBody>
      </p:sp>
      <p:sp>
        <p:nvSpPr>
          <p:cNvPr id="30" name="TextBox 29"/>
          <p:cNvSpPr txBox="1"/>
          <p:nvPr/>
        </p:nvSpPr>
        <p:spPr>
          <a:xfrm>
            <a:off x="11064240" y="5212080"/>
            <a:ext cx="640080" cy="731520"/>
          </a:xfrm>
          <a:prstGeom prst="rect">
            <a:avLst/>
          </a:prstGeom>
          <a:noFill/>
        </p:spPr>
        <p:txBody>
          <a:bodyPr wrap="square">
            <a:spAutoFit/>
          </a:bodyPr>
          <a:lstStyle/>
          <a:p>
            <a:pPr algn="r">
              <a:defRPr sz="5400" b="1">
                <a:solidFill>
                  <a:srgbClr val="1B2131"/>
                </a:solidFill>
                <a:latin typeface="Calibri"/>
              </a:defRPr>
            </a:pPr>
            <a:r>
              <a:t>5</a:t>
            </a:r>
          </a:p>
        </p:txBody>
      </p:sp>
      <p:sp>
        <p:nvSpPr>
          <p:cNvPr id="31" name="TextBox 30"/>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914400"/>
            <a:ext cx="1463040" cy="320040"/>
          </a:xfrm>
          <a:prstGeom prst="roundRect">
            <a:avLst>
              <a:gd name="adj" fmla="val 50000"/>
            </a:avLst>
          </a:prstGeom>
          <a:solidFill>
            <a:srgbClr val="0B3236"/>
          </a:solidFill>
          <a:ln w="12700">
            <a:solidFill>
              <a:srgbClr val="0B444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00D4AA"/>
                </a:solidFill>
              </a:defRPr>
            </a:pPr>
            <a:r>
              <a:t>📈 Sales</a:t>
            </a:r>
          </a:p>
        </p:txBody>
      </p:sp>
      <p:sp>
        <p:nvSpPr>
          <p:cNvPr id="5" name="TextBox 4"/>
          <p:cNvSpPr txBox="1"/>
          <p:nvPr/>
        </p:nvSpPr>
        <p:spPr>
          <a:xfrm>
            <a:off x="502920" y="5303520"/>
            <a:ext cx="1828800" cy="914400"/>
          </a:xfrm>
          <a:prstGeom prst="rect">
            <a:avLst/>
          </a:prstGeom>
          <a:noFill/>
        </p:spPr>
        <p:txBody>
          <a:bodyPr wrap="square">
            <a:spAutoFit/>
          </a:bodyPr>
          <a:lstStyle/>
          <a:p>
            <a:pPr algn="l">
              <a:defRPr sz="7200" b="1">
                <a:solidFill>
                  <a:srgbClr val="0B242B"/>
                </a:solidFill>
                <a:latin typeface="Calibri"/>
              </a:defRPr>
            </a:pPr>
            <a:r>
              <a:t>02</a:t>
            </a:r>
          </a:p>
        </p:txBody>
      </p:sp>
      <p:sp>
        <p:nvSpPr>
          <p:cNvPr id="6" name="TextBox 5"/>
          <p:cNvSpPr txBox="1"/>
          <p:nvPr/>
        </p:nvSpPr>
        <p:spPr>
          <a:xfrm>
            <a:off x="502920" y="1371600"/>
            <a:ext cx="5029200" cy="914400"/>
          </a:xfrm>
          <a:prstGeom prst="rect">
            <a:avLst/>
          </a:prstGeom>
          <a:noFill/>
        </p:spPr>
        <p:txBody>
          <a:bodyPr wrap="square">
            <a:spAutoFit/>
          </a:bodyPr>
          <a:lstStyle/>
          <a:p>
            <a:pPr algn="l">
              <a:defRPr sz="2800" b="1">
                <a:solidFill>
                  <a:srgbClr val="E8EDF5"/>
                </a:solidFill>
                <a:latin typeface="Calibri"/>
              </a:defRPr>
            </a:pPr>
            <a:r>
              <a:t>Sales &amp; Demand</a:t>
            </a:r>
            <a:br/>
            <a:r>
              <a:t>Trend Analysis</a:t>
            </a:r>
          </a:p>
        </p:txBody>
      </p:sp>
      <p:sp>
        <p:nvSpPr>
          <p:cNvPr id="7" name="TextBox 6"/>
          <p:cNvSpPr txBox="1"/>
          <p:nvPr/>
        </p:nvSpPr>
        <p:spPr>
          <a:xfrm>
            <a:off x="502920" y="2286000"/>
            <a:ext cx="5029200" cy="1097280"/>
          </a:xfrm>
          <a:prstGeom prst="rect">
            <a:avLst/>
          </a:prstGeom>
          <a:noFill/>
        </p:spPr>
        <p:txBody>
          <a:bodyPr wrap="square">
            <a:spAutoFit/>
          </a:bodyPr>
          <a:lstStyle/>
          <a:p>
            <a:pPr algn="l">
              <a:defRPr sz="1400" b="0">
                <a:solidFill>
                  <a:srgbClr val="A8BDD4"/>
                </a:solidFill>
                <a:latin typeface="Calibri"/>
              </a:defRPr>
            </a:pPr>
            <a:r>
              <a:t>Conversational OLAP — no BI tool required. Sales VPs and account managers query revenue trends, top products, and customer breakdowns in Teams, with chart output.</a:t>
            </a:r>
          </a:p>
        </p:txBody>
      </p:sp>
      <p:sp>
        <p:nvSpPr>
          <p:cNvPr id="8" name="TextBox 7"/>
          <p:cNvSpPr txBox="1"/>
          <p:nvPr/>
        </p:nvSpPr>
        <p:spPr>
          <a:xfrm>
            <a:off x="502920" y="3383280"/>
            <a:ext cx="1828800" cy="274320"/>
          </a:xfrm>
          <a:prstGeom prst="rect">
            <a:avLst/>
          </a:prstGeom>
          <a:noFill/>
        </p:spPr>
        <p:txBody>
          <a:bodyPr wrap="square">
            <a:spAutoFit/>
          </a:bodyPr>
          <a:lstStyle/>
          <a:p>
            <a:pPr algn="l">
              <a:defRPr sz="1300" b="1">
                <a:solidFill>
                  <a:srgbClr val="3D506E"/>
                </a:solidFill>
                <a:latin typeface="Calibri"/>
              </a:defRPr>
            </a:pPr>
            <a:r>
              <a:t>KEY BENEFITS</a:t>
            </a:r>
          </a:p>
        </p:txBody>
      </p:sp>
      <p:sp>
        <p:nvSpPr>
          <p:cNvPr id="9" name="TextBox 8"/>
          <p:cNvSpPr txBox="1"/>
          <p:nvPr/>
        </p:nvSpPr>
        <p:spPr>
          <a:xfrm>
            <a:off x="731520" y="3703320"/>
            <a:ext cx="4754880" cy="365760"/>
          </a:xfrm>
          <a:prstGeom prst="rect">
            <a:avLst/>
          </a:prstGeom>
          <a:noFill/>
        </p:spPr>
        <p:txBody>
          <a:bodyPr wrap="square">
            <a:spAutoFit/>
          </a:bodyPr>
          <a:lstStyle/>
          <a:p>
            <a:pPr algn="l">
              <a:defRPr sz="1300" b="0">
                <a:solidFill>
                  <a:srgbClr val="A8BDD4"/>
                </a:solidFill>
                <a:latin typeface="Calibri"/>
              </a:defRPr>
            </a:pPr>
            <a:r>
              <a:t>✓  Immediate answers in board meetings — no BI wait time</a:t>
            </a:r>
          </a:p>
        </p:txBody>
      </p:sp>
      <p:sp>
        <p:nvSpPr>
          <p:cNvPr id="10" name="TextBox 9"/>
          <p:cNvSpPr txBox="1"/>
          <p:nvPr/>
        </p:nvSpPr>
        <p:spPr>
          <a:xfrm>
            <a:off x="502920" y="3703320"/>
            <a:ext cx="228600" cy="365760"/>
          </a:xfrm>
          <a:prstGeom prst="rect">
            <a:avLst/>
          </a:prstGeom>
          <a:noFill/>
        </p:spPr>
        <p:txBody>
          <a:bodyPr wrap="square">
            <a:spAutoFit/>
          </a:bodyPr>
          <a:lstStyle/>
          <a:p>
            <a:pPr algn="l">
              <a:defRPr sz="1300" b="1">
                <a:solidFill>
                  <a:srgbClr val="00D4AA"/>
                </a:solidFill>
                <a:latin typeface="Calibri"/>
              </a:defRPr>
            </a:pPr>
            <a:r>
              <a:t>✓</a:t>
            </a:r>
          </a:p>
        </p:txBody>
      </p:sp>
      <p:sp>
        <p:nvSpPr>
          <p:cNvPr id="11" name="TextBox 10"/>
          <p:cNvSpPr txBox="1"/>
          <p:nvPr/>
        </p:nvSpPr>
        <p:spPr>
          <a:xfrm>
            <a:off x="731520" y="4087368"/>
            <a:ext cx="4754880" cy="365760"/>
          </a:xfrm>
          <a:prstGeom prst="rect">
            <a:avLst/>
          </a:prstGeom>
          <a:noFill/>
        </p:spPr>
        <p:txBody>
          <a:bodyPr wrap="square">
            <a:spAutoFit/>
          </a:bodyPr>
          <a:lstStyle/>
          <a:p>
            <a:pPr algn="l">
              <a:defRPr sz="1300" b="0">
                <a:solidFill>
                  <a:srgbClr val="A8BDD4"/>
                </a:solidFill>
                <a:latin typeface="Calibri"/>
              </a:defRPr>
            </a:pPr>
            <a:r>
              <a:t>✓  Follow-up drill-downs: 'Which customer caused the dip?'</a:t>
            </a:r>
          </a:p>
        </p:txBody>
      </p:sp>
      <p:sp>
        <p:nvSpPr>
          <p:cNvPr id="12" name="TextBox 11"/>
          <p:cNvSpPr txBox="1"/>
          <p:nvPr/>
        </p:nvSpPr>
        <p:spPr>
          <a:xfrm>
            <a:off x="502920" y="4087368"/>
            <a:ext cx="228600" cy="365760"/>
          </a:xfrm>
          <a:prstGeom prst="rect">
            <a:avLst/>
          </a:prstGeom>
          <a:noFill/>
        </p:spPr>
        <p:txBody>
          <a:bodyPr wrap="square">
            <a:spAutoFit/>
          </a:bodyPr>
          <a:lstStyle/>
          <a:p>
            <a:pPr algn="l">
              <a:defRPr sz="1300" b="1">
                <a:solidFill>
                  <a:srgbClr val="00D4AA"/>
                </a:solidFill>
                <a:latin typeface="Calibri"/>
              </a:defRPr>
            </a:pPr>
            <a:r>
              <a:t>✓</a:t>
            </a:r>
          </a:p>
        </p:txBody>
      </p:sp>
      <p:sp>
        <p:nvSpPr>
          <p:cNvPr id="13" name="TextBox 12"/>
          <p:cNvSpPr txBox="1"/>
          <p:nvPr/>
        </p:nvSpPr>
        <p:spPr>
          <a:xfrm>
            <a:off x="731520" y="4471416"/>
            <a:ext cx="4754880" cy="365760"/>
          </a:xfrm>
          <a:prstGeom prst="rect">
            <a:avLst/>
          </a:prstGeom>
          <a:noFill/>
        </p:spPr>
        <p:txBody>
          <a:bodyPr wrap="square">
            <a:spAutoFit/>
          </a:bodyPr>
          <a:lstStyle/>
          <a:p>
            <a:pPr algn="l">
              <a:defRPr sz="1300" b="0">
                <a:solidFill>
                  <a:srgbClr val="A8BDD4"/>
                </a:solidFill>
                <a:latin typeface="Calibri"/>
              </a:defRPr>
            </a:pPr>
            <a:r>
              <a:t>✓  Bar/line charts rendered directly in Teams</a:t>
            </a:r>
          </a:p>
        </p:txBody>
      </p:sp>
      <p:sp>
        <p:nvSpPr>
          <p:cNvPr id="14" name="TextBox 13"/>
          <p:cNvSpPr txBox="1"/>
          <p:nvPr/>
        </p:nvSpPr>
        <p:spPr>
          <a:xfrm>
            <a:off x="502920" y="4471416"/>
            <a:ext cx="228600" cy="365760"/>
          </a:xfrm>
          <a:prstGeom prst="rect">
            <a:avLst/>
          </a:prstGeom>
          <a:noFill/>
        </p:spPr>
        <p:txBody>
          <a:bodyPr wrap="square">
            <a:spAutoFit/>
          </a:bodyPr>
          <a:lstStyle/>
          <a:p>
            <a:pPr algn="l">
              <a:defRPr sz="1300" b="1">
                <a:solidFill>
                  <a:srgbClr val="00D4AA"/>
                </a:solidFill>
                <a:latin typeface="Calibri"/>
              </a:defRPr>
            </a:pPr>
            <a:r>
              <a:t>✓</a:t>
            </a:r>
          </a:p>
        </p:txBody>
      </p:sp>
      <p:sp>
        <p:nvSpPr>
          <p:cNvPr id="15" name="TextBox 14"/>
          <p:cNvSpPr txBox="1"/>
          <p:nvPr/>
        </p:nvSpPr>
        <p:spPr>
          <a:xfrm>
            <a:off x="731520" y="4855464"/>
            <a:ext cx="4754880" cy="365760"/>
          </a:xfrm>
          <a:prstGeom prst="rect">
            <a:avLst/>
          </a:prstGeom>
          <a:noFill/>
        </p:spPr>
        <p:txBody>
          <a:bodyPr wrap="square">
            <a:spAutoFit/>
          </a:bodyPr>
          <a:lstStyle/>
          <a:p>
            <a:pPr algn="l">
              <a:defRPr sz="1300" b="0">
                <a:solidFill>
                  <a:srgbClr val="A8BDD4"/>
                </a:solidFill>
                <a:latin typeface="Calibri"/>
              </a:defRPr>
            </a:pPr>
            <a:r>
              <a:t>✓  Field reps get data before client calls — no SAP login needed</a:t>
            </a:r>
          </a:p>
        </p:txBody>
      </p:sp>
      <p:sp>
        <p:nvSpPr>
          <p:cNvPr id="16" name="TextBox 15"/>
          <p:cNvSpPr txBox="1"/>
          <p:nvPr/>
        </p:nvSpPr>
        <p:spPr>
          <a:xfrm>
            <a:off x="502920" y="4855464"/>
            <a:ext cx="228600" cy="365760"/>
          </a:xfrm>
          <a:prstGeom prst="rect">
            <a:avLst/>
          </a:prstGeom>
          <a:noFill/>
        </p:spPr>
        <p:txBody>
          <a:bodyPr wrap="square">
            <a:spAutoFit/>
          </a:bodyPr>
          <a:lstStyle/>
          <a:p>
            <a:pPr algn="l">
              <a:defRPr sz="1300" b="1">
                <a:solidFill>
                  <a:srgbClr val="00D4AA"/>
                </a:solidFill>
                <a:latin typeface="Calibri"/>
              </a:defRPr>
            </a:pPr>
            <a:r>
              <a:t>✓</a:t>
            </a:r>
          </a:p>
        </p:txBody>
      </p:sp>
      <p:sp>
        <p:nvSpPr>
          <p:cNvPr id="17" name="Rectangle 16"/>
          <p:cNvSpPr/>
          <p:nvPr/>
        </p:nvSpPr>
        <p:spPr>
          <a:xfrm>
            <a:off x="6095390" y="0"/>
            <a:ext cx="9144" cy="6858000"/>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0" y="914400"/>
            <a:ext cx="5303520" cy="3474720"/>
          </a:xfrm>
          <a:prstGeom prst="roundRect">
            <a:avLst>
              <a:gd name="adj" fmla="val 5000"/>
            </a:avLst>
          </a:prstGeom>
          <a:solidFill>
            <a:srgbClr val="0D1220"/>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914400"/>
            <a:ext cx="5303520" cy="4572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0" y="960120"/>
            <a:ext cx="3657600" cy="365760"/>
          </a:xfrm>
          <a:prstGeom prst="rect">
            <a:avLst/>
          </a:prstGeom>
          <a:noFill/>
        </p:spPr>
        <p:txBody>
          <a:bodyPr wrap="square">
            <a:spAutoFit/>
          </a:bodyPr>
          <a:lstStyle/>
          <a:p>
            <a:pPr algn="l">
              <a:defRPr sz="1400" b="1">
                <a:solidFill>
                  <a:srgbClr val="6B7FA3"/>
                </a:solidFill>
                <a:latin typeface="Calibri"/>
              </a:defRPr>
            </a:pPr>
            <a:r>
              <a:t>📈  SAP Sales Agent</a:t>
            </a:r>
          </a:p>
        </p:txBody>
      </p:sp>
      <p:sp>
        <p:nvSpPr>
          <p:cNvPr id="21" name="Rounded Rectangle 20"/>
          <p:cNvSpPr/>
          <p:nvPr/>
        </p:nvSpPr>
        <p:spPr>
          <a:xfrm>
            <a:off x="7132320" y="1554480"/>
            <a:ext cx="4389120" cy="548640"/>
          </a:xfrm>
          <a:prstGeom prst="roundRect">
            <a:avLst>
              <a:gd name="adj" fmla="val 5000"/>
            </a:avLst>
          </a:prstGeom>
          <a:solidFill>
            <a:srgbClr val="0B3236"/>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1581912"/>
            <a:ext cx="4023360" cy="502920"/>
          </a:xfrm>
          <a:prstGeom prst="rect">
            <a:avLst/>
          </a:prstGeom>
          <a:noFill/>
        </p:spPr>
        <p:txBody>
          <a:bodyPr wrap="square">
            <a:spAutoFit/>
          </a:bodyPr>
          <a:lstStyle/>
          <a:p>
            <a:pPr algn="l">
              <a:defRPr sz="1200" b="0">
                <a:solidFill>
                  <a:srgbClr val="E8EDF5"/>
                </a:solidFill>
                <a:latin typeface="Calibri"/>
              </a:defRPr>
            </a:pPr>
            <a:r>
              <a:t>How are sales progressing over the last 6 weeks for Product Z?</a:t>
            </a:r>
          </a:p>
        </p:txBody>
      </p:sp>
      <p:sp>
        <p:nvSpPr>
          <p:cNvPr id="23" name="Rounded Rectangle 22"/>
          <p:cNvSpPr/>
          <p:nvPr/>
        </p:nvSpPr>
        <p:spPr>
          <a:xfrm>
            <a:off x="6537960" y="2240280"/>
            <a:ext cx="502920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2286000"/>
            <a:ext cx="2743200" cy="274320"/>
          </a:xfrm>
          <a:prstGeom prst="rect">
            <a:avLst/>
          </a:prstGeom>
          <a:noFill/>
        </p:spPr>
        <p:txBody>
          <a:bodyPr wrap="square">
            <a:spAutoFit/>
          </a:bodyPr>
          <a:lstStyle/>
          <a:p>
            <a:pPr algn="l">
              <a:defRPr sz="1100" b="1">
                <a:solidFill>
                  <a:srgbClr val="00D4AA"/>
                </a:solidFill>
                <a:latin typeface="Calibri"/>
              </a:defRPr>
            </a:pPr>
            <a:r>
              <a:t>✦ SAP AGENT</a:t>
            </a:r>
          </a:p>
        </p:txBody>
      </p:sp>
      <p:sp>
        <p:nvSpPr>
          <p:cNvPr id="25" name="TextBox 24"/>
          <p:cNvSpPr txBox="1"/>
          <p:nvPr/>
        </p:nvSpPr>
        <p:spPr>
          <a:xfrm>
            <a:off x="6675120" y="2606040"/>
            <a:ext cx="4754880" cy="1554480"/>
          </a:xfrm>
          <a:prstGeom prst="rect">
            <a:avLst/>
          </a:prstGeom>
          <a:noFill/>
        </p:spPr>
        <p:txBody>
          <a:bodyPr wrap="square">
            <a:spAutoFit/>
          </a:bodyPr>
          <a:lstStyle/>
          <a:p>
            <a:pPr algn="l">
              <a:defRPr sz="1100" b="0">
                <a:solidFill>
                  <a:srgbClr val="A8BDD4"/>
                </a:solidFill>
                <a:latin typeface="Consolas"/>
              </a:defRPr>
            </a:pPr>
            <a:r>
              <a:t>Product Z — 6-week trend:</a:t>
            </a:r>
            <a:br/>
            <a:r>
              <a:t>Wk 39: $1.2M ↑  Wk 42: $1.8M ↑ ← peak</a:t>
            </a:r>
            <a:br/>
            <a:r>
              <a:t>Wk 40: $1.5M ↑  Wk 43: $1.1M ↓</a:t>
            </a:r>
            <a:br/>
            <a:r>
              <a:t>Wk 41: $1.3M ↓  Wk 44: $1.6M ↑</a:t>
            </a:r>
            <a:br/>
            <a:br/>
            <a:r>
              <a:t>Top customer: Acme Corp ($4.2M, 31%)</a:t>
            </a:r>
          </a:p>
        </p:txBody>
      </p:sp>
      <p:sp>
        <p:nvSpPr>
          <p:cNvPr id="26" name="TextBox 25"/>
          <p:cNvSpPr txBox="1"/>
          <p:nvPr/>
        </p:nvSpPr>
        <p:spPr>
          <a:xfrm>
            <a:off x="6400800" y="4663440"/>
            <a:ext cx="2743200" cy="274320"/>
          </a:xfrm>
          <a:prstGeom prst="rect">
            <a:avLst/>
          </a:prstGeom>
          <a:noFill/>
        </p:spPr>
        <p:txBody>
          <a:bodyPr wrap="square">
            <a:spAutoFit/>
          </a:bodyPr>
          <a:lstStyle/>
          <a:p>
            <a:pPr algn="l">
              <a:defRPr sz="1300" b="1">
                <a:solidFill>
                  <a:srgbClr val="3D506E"/>
                </a:solidFill>
                <a:latin typeface="Calibri"/>
              </a:defRPr>
            </a:pPr>
            <a:r>
              <a:t>SAP DATA ACCESSED</a:t>
            </a:r>
          </a:p>
        </p:txBody>
      </p:sp>
      <p:sp>
        <p:nvSpPr>
          <p:cNvPr id="27" name="Rounded Rectangle 26"/>
          <p:cNvSpPr/>
          <p:nvPr/>
        </p:nvSpPr>
        <p:spPr>
          <a:xfrm>
            <a:off x="6400800" y="4983480"/>
            <a:ext cx="1751076"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5001768"/>
            <a:ext cx="1604772" cy="256032"/>
          </a:xfrm>
          <a:prstGeom prst="rect">
            <a:avLst/>
          </a:prstGeom>
          <a:noFill/>
        </p:spPr>
        <p:txBody>
          <a:bodyPr wrap="square">
            <a:spAutoFit/>
          </a:bodyPr>
          <a:lstStyle/>
          <a:p>
            <a:pPr algn="l">
              <a:defRPr sz="1100" b="0">
                <a:solidFill>
                  <a:srgbClr val="A8BDD4"/>
                </a:solidFill>
                <a:latin typeface="Consolas"/>
              </a:defRPr>
            </a:pPr>
            <a:r>
              <a:t>VBRK/VBRP (Billing)</a:t>
            </a:r>
          </a:p>
        </p:txBody>
      </p:sp>
      <p:sp>
        <p:nvSpPr>
          <p:cNvPr id="29" name="Rounded Rectangle 28"/>
          <p:cNvSpPr/>
          <p:nvPr/>
        </p:nvSpPr>
        <p:spPr>
          <a:xfrm>
            <a:off x="8243316" y="4983480"/>
            <a:ext cx="2139696"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16468" y="5001768"/>
            <a:ext cx="1993392" cy="256032"/>
          </a:xfrm>
          <a:prstGeom prst="rect">
            <a:avLst/>
          </a:prstGeom>
          <a:noFill/>
        </p:spPr>
        <p:txBody>
          <a:bodyPr wrap="square">
            <a:spAutoFit/>
          </a:bodyPr>
          <a:lstStyle/>
          <a:p>
            <a:pPr algn="l">
              <a:defRPr sz="1100" b="0">
                <a:solidFill>
                  <a:srgbClr val="A8BDD4"/>
                </a:solidFill>
                <a:latin typeface="Consolas"/>
              </a:defRPr>
            </a:pPr>
            <a:r>
              <a:t>VBAK/VBAP (Sales Orders)</a:t>
            </a:r>
          </a:p>
        </p:txBody>
      </p:sp>
      <p:sp>
        <p:nvSpPr>
          <p:cNvPr id="31" name="Rounded Rectangle 30"/>
          <p:cNvSpPr/>
          <p:nvPr/>
        </p:nvSpPr>
        <p:spPr>
          <a:xfrm>
            <a:off x="6400800" y="5330952"/>
            <a:ext cx="1984248"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3952" y="5349240"/>
            <a:ext cx="1837944" cy="256032"/>
          </a:xfrm>
          <a:prstGeom prst="rect">
            <a:avLst/>
          </a:prstGeom>
          <a:noFill/>
        </p:spPr>
        <p:txBody>
          <a:bodyPr wrap="square">
            <a:spAutoFit/>
          </a:bodyPr>
          <a:lstStyle/>
          <a:p>
            <a:pPr algn="l">
              <a:defRPr sz="1100" b="0">
                <a:solidFill>
                  <a:srgbClr val="A8BDD4"/>
                </a:solidFill>
                <a:latin typeface="Consolas"/>
              </a:defRPr>
            </a:pPr>
            <a:r>
              <a:t>KNA1 (Customer Master)</a:t>
            </a:r>
          </a:p>
        </p:txBody>
      </p:sp>
      <p:sp>
        <p:nvSpPr>
          <p:cNvPr id="33" name="Rounded Rectangle 32"/>
          <p:cNvSpPr/>
          <p:nvPr/>
        </p:nvSpPr>
        <p:spPr>
          <a:xfrm>
            <a:off x="8476488" y="5330952"/>
            <a:ext cx="1906524"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49640" y="5349240"/>
            <a:ext cx="1760220" cy="256032"/>
          </a:xfrm>
          <a:prstGeom prst="rect">
            <a:avLst/>
          </a:prstGeom>
          <a:noFill/>
        </p:spPr>
        <p:txBody>
          <a:bodyPr wrap="square">
            <a:spAutoFit/>
          </a:bodyPr>
          <a:lstStyle/>
          <a:p>
            <a:pPr algn="l">
              <a:defRPr sz="1100" b="0">
                <a:solidFill>
                  <a:srgbClr val="A8BDD4"/>
                </a:solidFill>
                <a:latin typeface="Consolas"/>
              </a:defRPr>
            </a:pPr>
            <a:r>
              <a:t>CO-PA (Profitability)</a:t>
            </a:r>
          </a:p>
        </p:txBody>
      </p:sp>
      <p:sp>
        <p:nvSpPr>
          <p:cNvPr id="35" name="TextBox 34"/>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868680"/>
            <a:ext cx="1463040" cy="320040"/>
          </a:xfrm>
          <a:prstGeom prst="roundRect">
            <a:avLst>
              <a:gd name="adj" fmla="val 50000"/>
            </a:avLst>
          </a:prstGeom>
          <a:solidFill>
            <a:srgbClr val="0B3236"/>
          </a:solidFill>
          <a:ln w="12700">
            <a:solidFill>
              <a:srgbClr val="0B444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00D4AA"/>
                </a:solidFill>
              </a:defRPr>
            </a:pPr>
            <a:r>
              <a:t>📈 Sales</a:t>
            </a:r>
          </a:p>
        </p:txBody>
      </p:sp>
      <p:sp>
        <p:nvSpPr>
          <p:cNvPr id="5" name="TextBox 4"/>
          <p:cNvSpPr txBox="1"/>
          <p:nvPr/>
        </p:nvSpPr>
        <p:spPr>
          <a:xfrm>
            <a:off x="2103120" y="841248"/>
            <a:ext cx="3657600" cy="411480"/>
          </a:xfrm>
          <a:prstGeom prst="rect">
            <a:avLst/>
          </a:prstGeom>
          <a:noFill/>
        </p:spPr>
        <p:txBody>
          <a:bodyPr wrap="square">
            <a:spAutoFit/>
          </a:bodyPr>
          <a:lstStyle/>
          <a:p>
            <a:pPr algn="l">
              <a:defRPr sz="2400" b="1">
                <a:solidFill>
                  <a:srgbClr val="E8EDF5"/>
                </a:solidFill>
                <a:latin typeface="Calibri"/>
              </a:defRPr>
            </a:pPr>
            <a:r>
              <a:t>Implementation Guide</a:t>
            </a:r>
          </a:p>
        </p:txBody>
      </p:sp>
      <p:sp>
        <p:nvSpPr>
          <p:cNvPr id="6" name="Rounded Rectangle 5"/>
          <p:cNvSpPr/>
          <p:nvPr/>
        </p:nvSpPr>
        <p:spPr>
          <a:xfrm>
            <a:off x="502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45920"/>
            <a:ext cx="320040" cy="320040"/>
          </a:xfrm>
          <a:prstGeom prst="roundRect">
            <a:avLst>
              <a:gd name="adj" fmla="val 15000"/>
            </a:avLst>
          </a:prstGeom>
          <a:solidFill>
            <a:srgbClr val="0B393C"/>
          </a:solidFill>
          <a:ln>
            <a:solidFill>
              <a:srgbClr val="0B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D4AA"/>
                </a:solidFill>
              </a:defRPr>
            </a:pPr>
            <a:r>
              <a:t>1</a:t>
            </a:r>
          </a:p>
        </p:txBody>
      </p:sp>
      <p:sp>
        <p:nvSpPr>
          <p:cNvPr id="8" name="TextBox 7"/>
          <p:cNvSpPr txBox="1"/>
          <p:nvPr/>
        </p:nvSpPr>
        <p:spPr>
          <a:xfrm>
            <a:off x="685800" y="2103120"/>
            <a:ext cx="1783080" cy="548640"/>
          </a:xfrm>
          <a:prstGeom prst="rect">
            <a:avLst/>
          </a:prstGeom>
          <a:noFill/>
        </p:spPr>
        <p:txBody>
          <a:bodyPr wrap="square">
            <a:spAutoFit/>
          </a:bodyPr>
          <a:lstStyle/>
          <a:p>
            <a:pPr algn="l">
              <a:defRPr sz="1600" b="1">
                <a:solidFill>
                  <a:srgbClr val="E8EDF5"/>
                </a:solidFill>
                <a:latin typeface="Calibri"/>
              </a:defRPr>
            </a:pPr>
            <a:r>
              <a:t>Pre-define common queries</a:t>
            </a:r>
          </a:p>
        </p:txBody>
      </p:sp>
      <p:sp>
        <p:nvSpPr>
          <p:cNvPr id="9" name="TextBox 8"/>
          <p:cNvSpPr txBox="1"/>
          <p:nvPr/>
        </p:nvSpPr>
        <p:spPr>
          <a:xfrm>
            <a:off x="685800" y="2651760"/>
            <a:ext cx="1783080" cy="3108960"/>
          </a:xfrm>
          <a:prstGeom prst="rect">
            <a:avLst/>
          </a:prstGeom>
          <a:noFill/>
        </p:spPr>
        <p:txBody>
          <a:bodyPr wrap="square">
            <a:spAutoFit/>
          </a:bodyPr>
          <a:lstStyle/>
          <a:p>
            <a:pPr algn="l">
              <a:defRPr sz="1300" b="0">
                <a:solidFill>
                  <a:srgbClr val="6B7FA3"/>
                </a:solidFill>
                <a:latin typeface="Calibri"/>
              </a:defRPr>
            </a:pPr>
            <a:r>
              <a:t>Include 6-week trend and top-5-products examples in the system prompt as few-shot examples. This anchors the LLM to produce correct SQL.</a:t>
            </a:r>
          </a:p>
        </p:txBody>
      </p:sp>
      <p:sp>
        <p:nvSpPr>
          <p:cNvPr id="10" name="TextBox 9"/>
          <p:cNvSpPr txBox="1"/>
          <p:nvPr/>
        </p:nvSpPr>
        <p:spPr>
          <a:xfrm>
            <a:off x="1920240" y="5212080"/>
            <a:ext cx="640080" cy="731520"/>
          </a:xfrm>
          <a:prstGeom prst="rect">
            <a:avLst/>
          </a:prstGeom>
          <a:noFill/>
        </p:spPr>
        <p:txBody>
          <a:bodyPr wrap="square">
            <a:spAutoFit/>
          </a:bodyPr>
          <a:lstStyle/>
          <a:p>
            <a:pPr algn="r">
              <a:defRPr sz="5400" b="1">
                <a:solidFill>
                  <a:srgbClr val="1B2131"/>
                </a:solidFill>
                <a:latin typeface="Calibri"/>
              </a:defRPr>
            </a:pPr>
            <a:r>
              <a:t>1</a:t>
            </a:r>
          </a:p>
        </p:txBody>
      </p:sp>
      <p:sp>
        <p:nvSpPr>
          <p:cNvPr id="11" name="Rounded Rectangle 10"/>
          <p:cNvSpPr/>
          <p:nvPr/>
        </p:nvSpPr>
        <p:spPr>
          <a:xfrm>
            <a:off x="2788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71800" y="1645920"/>
            <a:ext cx="320040" cy="320040"/>
          </a:xfrm>
          <a:prstGeom prst="roundRect">
            <a:avLst>
              <a:gd name="adj" fmla="val 15000"/>
            </a:avLst>
          </a:prstGeom>
          <a:solidFill>
            <a:srgbClr val="0B393C"/>
          </a:solidFill>
          <a:ln>
            <a:solidFill>
              <a:srgbClr val="0B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D4AA"/>
                </a:solidFill>
              </a:defRPr>
            </a:pPr>
            <a:r>
              <a:t>2</a:t>
            </a:r>
          </a:p>
        </p:txBody>
      </p:sp>
      <p:sp>
        <p:nvSpPr>
          <p:cNvPr id="13" name="TextBox 12"/>
          <p:cNvSpPr txBox="1"/>
          <p:nvPr/>
        </p:nvSpPr>
        <p:spPr>
          <a:xfrm>
            <a:off x="2971800" y="2103120"/>
            <a:ext cx="1783080" cy="548640"/>
          </a:xfrm>
          <a:prstGeom prst="rect">
            <a:avLst/>
          </a:prstGeom>
          <a:noFill/>
        </p:spPr>
        <p:txBody>
          <a:bodyPr wrap="square">
            <a:spAutoFit/>
          </a:bodyPr>
          <a:lstStyle/>
          <a:p>
            <a:pPr algn="l">
              <a:defRPr sz="1600" b="1">
                <a:solidFill>
                  <a:srgbClr val="E8EDF5"/>
                </a:solidFill>
                <a:latin typeface="Calibri"/>
              </a:defRPr>
            </a:pPr>
            <a:r>
              <a:t>Inject date intelligence</a:t>
            </a:r>
          </a:p>
        </p:txBody>
      </p:sp>
      <p:sp>
        <p:nvSpPr>
          <p:cNvPr id="14" name="TextBox 13"/>
          <p:cNvSpPr txBox="1"/>
          <p:nvPr/>
        </p:nvSpPr>
        <p:spPr>
          <a:xfrm>
            <a:off x="2971800" y="2651760"/>
            <a:ext cx="1783080" cy="3108960"/>
          </a:xfrm>
          <a:prstGeom prst="rect">
            <a:avLst/>
          </a:prstGeom>
          <a:noFill/>
        </p:spPr>
        <p:txBody>
          <a:bodyPr wrap="square">
            <a:spAutoFit/>
          </a:bodyPr>
          <a:lstStyle/>
          <a:p>
            <a:pPr algn="l">
              <a:defRPr sz="1300" b="0">
                <a:solidFill>
                  <a:srgbClr val="6B7FA3"/>
                </a:solidFill>
                <a:latin typeface="Calibri"/>
              </a:defRPr>
            </a:pPr>
            <a:r>
              <a:t>Power Automate can detect phrases like 'last quarter' and insert actual date ranges before passing to the LLM. Maintain a calendar table with fiscal quarters.</a:t>
            </a:r>
          </a:p>
        </p:txBody>
      </p:sp>
      <p:sp>
        <p:nvSpPr>
          <p:cNvPr id="15" name="TextBox 14"/>
          <p:cNvSpPr txBox="1"/>
          <p:nvPr/>
        </p:nvSpPr>
        <p:spPr>
          <a:xfrm>
            <a:off x="4206240" y="5212080"/>
            <a:ext cx="640080" cy="731520"/>
          </a:xfrm>
          <a:prstGeom prst="rect">
            <a:avLst/>
          </a:prstGeom>
          <a:noFill/>
        </p:spPr>
        <p:txBody>
          <a:bodyPr wrap="square">
            <a:spAutoFit/>
          </a:bodyPr>
          <a:lstStyle/>
          <a:p>
            <a:pPr algn="r">
              <a:defRPr sz="5400" b="1">
                <a:solidFill>
                  <a:srgbClr val="1B2131"/>
                </a:solidFill>
                <a:latin typeface="Calibri"/>
              </a:defRPr>
            </a:pPr>
            <a:r>
              <a:t>2</a:t>
            </a:r>
          </a:p>
        </p:txBody>
      </p:sp>
      <p:sp>
        <p:nvSpPr>
          <p:cNvPr id="16" name="Rounded Rectangle 15"/>
          <p:cNvSpPr/>
          <p:nvPr/>
        </p:nvSpPr>
        <p:spPr>
          <a:xfrm>
            <a:off x="5074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257800" y="1645920"/>
            <a:ext cx="320040" cy="320040"/>
          </a:xfrm>
          <a:prstGeom prst="roundRect">
            <a:avLst>
              <a:gd name="adj" fmla="val 15000"/>
            </a:avLst>
          </a:prstGeom>
          <a:solidFill>
            <a:srgbClr val="0B393C"/>
          </a:solidFill>
          <a:ln>
            <a:solidFill>
              <a:srgbClr val="0B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D4AA"/>
                </a:solidFill>
              </a:defRPr>
            </a:pPr>
            <a:r>
              <a:t>3</a:t>
            </a:r>
          </a:p>
        </p:txBody>
      </p:sp>
      <p:sp>
        <p:nvSpPr>
          <p:cNvPr id="18" name="TextBox 17"/>
          <p:cNvSpPr txBox="1"/>
          <p:nvPr/>
        </p:nvSpPr>
        <p:spPr>
          <a:xfrm>
            <a:off x="5257800" y="2103120"/>
            <a:ext cx="1783080" cy="548640"/>
          </a:xfrm>
          <a:prstGeom prst="rect">
            <a:avLst/>
          </a:prstGeom>
          <a:noFill/>
        </p:spPr>
        <p:txBody>
          <a:bodyPr wrap="square">
            <a:spAutoFit/>
          </a:bodyPr>
          <a:lstStyle/>
          <a:p>
            <a:pPr algn="l">
              <a:defRPr sz="1600" b="1">
                <a:solidFill>
                  <a:srgbClr val="E8EDF5"/>
                </a:solidFill>
                <a:latin typeface="Calibri"/>
              </a:defRPr>
            </a:pPr>
            <a:r>
              <a:t>Maintain summary tables</a:t>
            </a:r>
          </a:p>
        </p:txBody>
      </p:sp>
      <p:sp>
        <p:nvSpPr>
          <p:cNvPr id="19" name="TextBox 18"/>
          <p:cNvSpPr txBox="1"/>
          <p:nvPr/>
        </p:nvSpPr>
        <p:spPr>
          <a:xfrm>
            <a:off x="5257800" y="2651760"/>
            <a:ext cx="1783080" cy="3108960"/>
          </a:xfrm>
          <a:prstGeom prst="rect">
            <a:avLst/>
          </a:prstGeom>
          <a:noFill/>
        </p:spPr>
        <p:txBody>
          <a:bodyPr wrap="square">
            <a:spAutoFit/>
          </a:bodyPr>
          <a:lstStyle/>
          <a:p>
            <a:pPr algn="l">
              <a:defRPr sz="1300" b="0">
                <a:solidFill>
                  <a:srgbClr val="6B7FA3"/>
                </a:solidFill>
                <a:latin typeface="Calibri"/>
              </a:defRPr>
            </a:pPr>
            <a:r>
              <a:t>Pre-aggregate sales by week/product/region. Let the bot query these instead of raw line-item tables. Enables sub-second responses.</a:t>
            </a:r>
          </a:p>
        </p:txBody>
      </p:sp>
      <p:sp>
        <p:nvSpPr>
          <p:cNvPr id="20" name="TextBox 19"/>
          <p:cNvSpPr txBox="1"/>
          <p:nvPr/>
        </p:nvSpPr>
        <p:spPr>
          <a:xfrm>
            <a:off x="6492240" y="5212080"/>
            <a:ext cx="640080" cy="731520"/>
          </a:xfrm>
          <a:prstGeom prst="rect">
            <a:avLst/>
          </a:prstGeom>
          <a:noFill/>
        </p:spPr>
        <p:txBody>
          <a:bodyPr wrap="square">
            <a:spAutoFit/>
          </a:bodyPr>
          <a:lstStyle/>
          <a:p>
            <a:pPr algn="r">
              <a:defRPr sz="5400" b="1">
                <a:solidFill>
                  <a:srgbClr val="1B2131"/>
                </a:solidFill>
                <a:latin typeface="Calibri"/>
              </a:defRPr>
            </a:pPr>
            <a:r>
              <a:t>3</a:t>
            </a:r>
          </a:p>
        </p:txBody>
      </p:sp>
      <p:sp>
        <p:nvSpPr>
          <p:cNvPr id="21" name="Rounded Rectangle 20"/>
          <p:cNvSpPr/>
          <p:nvPr/>
        </p:nvSpPr>
        <p:spPr>
          <a:xfrm>
            <a:off x="7360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43800" y="1645920"/>
            <a:ext cx="320040" cy="320040"/>
          </a:xfrm>
          <a:prstGeom prst="roundRect">
            <a:avLst>
              <a:gd name="adj" fmla="val 15000"/>
            </a:avLst>
          </a:prstGeom>
          <a:solidFill>
            <a:srgbClr val="0B393C"/>
          </a:solidFill>
          <a:ln>
            <a:solidFill>
              <a:srgbClr val="0B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D4AA"/>
                </a:solidFill>
              </a:defRPr>
            </a:pPr>
            <a:r>
              <a:t>4</a:t>
            </a:r>
          </a:p>
        </p:txBody>
      </p:sp>
      <p:sp>
        <p:nvSpPr>
          <p:cNvPr id="23" name="TextBox 22"/>
          <p:cNvSpPr txBox="1"/>
          <p:nvPr/>
        </p:nvSpPr>
        <p:spPr>
          <a:xfrm>
            <a:off x="7543800" y="2103120"/>
            <a:ext cx="1783080" cy="548640"/>
          </a:xfrm>
          <a:prstGeom prst="rect">
            <a:avLst/>
          </a:prstGeom>
          <a:noFill/>
        </p:spPr>
        <p:txBody>
          <a:bodyPr wrap="square">
            <a:spAutoFit/>
          </a:bodyPr>
          <a:lstStyle/>
          <a:p>
            <a:pPr algn="l">
              <a:defRPr sz="1600" b="1">
                <a:solidFill>
                  <a:srgbClr val="E8EDF5"/>
                </a:solidFill>
                <a:latin typeface="Calibri"/>
              </a:defRPr>
            </a:pPr>
            <a:r>
              <a:t>Enable chart rendering</a:t>
            </a:r>
          </a:p>
        </p:txBody>
      </p:sp>
      <p:sp>
        <p:nvSpPr>
          <p:cNvPr id="24" name="TextBox 23"/>
          <p:cNvSpPr txBox="1"/>
          <p:nvPr/>
        </p:nvSpPr>
        <p:spPr>
          <a:xfrm>
            <a:off x="7543800" y="2651760"/>
            <a:ext cx="1783080" cy="3108960"/>
          </a:xfrm>
          <a:prstGeom prst="rect">
            <a:avLst/>
          </a:prstGeom>
          <a:noFill/>
        </p:spPr>
        <p:txBody>
          <a:bodyPr wrap="square">
            <a:spAutoFit/>
          </a:bodyPr>
          <a:lstStyle/>
          <a:p>
            <a:pPr algn="l">
              <a:defRPr sz="1300" b="0">
                <a:solidFill>
                  <a:srgbClr val="6B7FA3"/>
                </a:solidFill>
                <a:latin typeface="Calibri"/>
              </a:defRPr>
            </a:pPr>
            <a:r>
              <a:t>Configure the chart.js connector in Power Automate. For trend queries, a line chart in Teams is far more impactful than a table of numbers.</a:t>
            </a:r>
          </a:p>
        </p:txBody>
      </p:sp>
      <p:sp>
        <p:nvSpPr>
          <p:cNvPr id="25" name="TextBox 24"/>
          <p:cNvSpPr txBox="1"/>
          <p:nvPr/>
        </p:nvSpPr>
        <p:spPr>
          <a:xfrm>
            <a:off x="8778240" y="5212080"/>
            <a:ext cx="640080" cy="731520"/>
          </a:xfrm>
          <a:prstGeom prst="rect">
            <a:avLst/>
          </a:prstGeom>
          <a:noFill/>
        </p:spPr>
        <p:txBody>
          <a:bodyPr wrap="square">
            <a:spAutoFit/>
          </a:bodyPr>
          <a:lstStyle/>
          <a:p>
            <a:pPr algn="r">
              <a:defRPr sz="5400" b="1">
                <a:solidFill>
                  <a:srgbClr val="1B2131"/>
                </a:solidFill>
                <a:latin typeface="Calibri"/>
              </a:defRPr>
            </a:pPr>
            <a:r>
              <a:t>4</a:t>
            </a:r>
          </a:p>
        </p:txBody>
      </p:sp>
      <p:sp>
        <p:nvSpPr>
          <p:cNvPr id="26" name="Rounded Rectangle 25"/>
          <p:cNvSpPr/>
          <p:nvPr/>
        </p:nvSpPr>
        <p:spPr>
          <a:xfrm>
            <a:off x="9646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29800" y="1645920"/>
            <a:ext cx="320040" cy="320040"/>
          </a:xfrm>
          <a:prstGeom prst="roundRect">
            <a:avLst>
              <a:gd name="adj" fmla="val 15000"/>
            </a:avLst>
          </a:prstGeom>
          <a:solidFill>
            <a:srgbClr val="0B393C"/>
          </a:solidFill>
          <a:ln>
            <a:solidFill>
              <a:srgbClr val="0B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D4AA"/>
                </a:solidFill>
              </a:defRPr>
            </a:pPr>
            <a:r>
              <a:t>5</a:t>
            </a:r>
          </a:p>
        </p:txBody>
      </p:sp>
      <p:sp>
        <p:nvSpPr>
          <p:cNvPr id="28" name="TextBox 27"/>
          <p:cNvSpPr txBox="1"/>
          <p:nvPr/>
        </p:nvSpPr>
        <p:spPr>
          <a:xfrm>
            <a:off x="9829800" y="2103120"/>
            <a:ext cx="1783080" cy="548640"/>
          </a:xfrm>
          <a:prstGeom prst="rect">
            <a:avLst/>
          </a:prstGeom>
          <a:noFill/>
        </p:spPr>
        <p:txBody>
          <a:bodyPr wrap="square">
            <a:spAutoFit/>
          </a:bodyPr>
          <a:lstStyle/>
          <a:p>
            <a:pPr algn="l">
              <a:defRPr sz="1600" b="1">
                <a:solidFill>
                  <a:srgbClr val="E8EDF5"/>
                </a:solidFill>
                <a:latin typeface="Calibri"/>
              </a:defRPr>
            </a:pPr>
            <a:r>
              <a:t>Test multi-turn context</a:t>
            </a:r>
          </a:p>
        </p:txBody>
      </p:sp>
      <p:sp>
        <p:nvSpPr>
          <p:cNvPr id="29" name="TextBox 28"/>
          <p:cNvSpPr txBox="1"/>
          <p:nvPr/>
        </p:nvSpPr>
        <p:spPr>
          <a:xfrm>
            <a:off x="9829800" y="2651760"/>
            <a:ext cx="1783080" cy="3108960"/>
          </a:xfrm>
          <a:prstGeom prst="rect">
            <a:avLst/>
          </a:prstGeom>
          <a:noFill/>
        </p:spPr>
        <p:txBody>
          <a:bodyPr wrap="square">
            <a:spAutoFit/>
          </a:bodyPr>
          <a:lstStyle/>
          <a:p>
            <a:pPr algn="l">
              <a:defRPr sz="1300" b="0">
                <a:solidFill>
                  <a:srgbClr val="6B7FA3"/>
                </a:solidFill>
                <a:latin typeface="Calibri"/>
              </a:defRPr>
            </a:pPr>
            <a:r>
              <a:t>Verify conversation history is passed in the OpenAI payload. Users often ask 'which week was highest?' after a trend query.</a:t>
            </a:r>
          </a:p>
        </p:txBody>
      </p:sp>
      <p:sp>
        <p:nvSpPr>
          <p:cNvPr id="30" name="TextBox 29"/>
          <p:cNvSpPr txBox="1"/>
          <p:nvPr/>
        </p:nvSpPr>
        <p:spPr>
          <a:xfrm>
            <a:off x="11064240" y="5212080"/>
            <a:ext cx="640080" cy="731520"/>
          </a:xfrm>
          <a:prstGeom prst="rect">
            <a:avLst/>
          </a:prstGeom>
          <a:noFill/>
        </p:spPr>
        <p:txBody>
          <a:bodyPr wrap="square">
            <a:spAutoFit/>
          </a:bodyPr>
          <a:lstStyle/>
          <a:p>
            <a:pPr algn="r">
              <a:defRPr sz="5400" b="1">
                <a:solidFill>
                  <a:srgbClr val="1B2131"/>
                </a:solidFill>
                <a:latin typeface="Calibri"/>
              </a:defRPr>
            </a:pPr>
            <a:r>
              <a:t>5</a:t>
            </a:r>
          </a:p>
        </p:txBody>
      </p:sp>
      <p:sp>
        <p:nvSpPr>
          <p:cNvPr id="31" name="TextBox 30"/>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914400"/>
            <a:ext cx="2560320" cy="320040"/>
          </a:xfrm>
          <a:prstGeom prst="roundRect">
            <a:avLst>
              <a:gd name="adj" fmla="val 50000"/>
            </a:avLst>
          </a:prstGeom>
          <a:solidFill>
            <a:srgbClr val="262643"/>
          </a:solidFill>
          <a:ln w="12700">
            <a:solidFill>
              <a:srgbClr val="34315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A78BFA"/>
                </a:solidFill>
              </a:defRPr>
            </a:pPr>
            <a:r>
              <a:t>🔍 Data Governance</a:t>
            </a:r>
          </a:p>
        </p:txBody>
      </p:sp>
      <p:sp>
        <p:nvSpPr>
          <p:cNvPr id="5" name="TextBox 4"/>
          <p:cNvSpPr txBox="1"/>
          <p:nvPr/>
        </p:nvSpPr>
        <p:spPr>
          <a:xfrm>
            <a:off x="502920" y="5303520"/>
            <a:ext cx="1828800" cy="914400"/>
          </a:xfrm>
          <a:prstGeom prst="rect">
            <a:avLst/>
          </a:prstGeom>
          <a:noFill/>
        </p:spPr>
        <p:txBody>
          <a:bodyPr wrap="square">
            <a:spAutoFit/>
          </a:bodyPr>
          <a:lstStyle/>
          <a:p>
            <a:pPr algn="l">
              <a:defRPr sz="7200" b="1">
                <a:solidFill>
                  <a:srgbClr val="1B1C33"/>
                </a:solidFill>
                <a:latin typeface="Calibri"/>
              </a:defRPr>
            </a:pPr>
            <a:r>
              <a:t>03</a:t>
            </a:r>
          </a:p>
        </p:txBody>
      </p:sp>
      <p:sp>
        <p:nvSpPr>
          <p:cNvPr id="6" name="TextBox 5"/>
          <p:cNvSpPr txBox="1"/>
          <p:nvPr/>
        </p:nvSpPr>
        <p:spPr>
          <a:xfrm>
            <a:off x="502920" y="1371600"/>
            <a:ext cx="5029200" cy="914400"/>
          </a:xfrm>
          <a:prstGeom prst="rect">
            <a:avLst/>
          </a:prstGeom>
          <a:noFill/>
        </p:spPr>
        <p:txBody>
          <a:bodyPr wrap="square">
            <a:spAutoFit/>
          </a:bodyPr>
          <a:lstStyle/>
          <a:p>
            <a:pPr algn="l">
              <a:defRPr sz="2800" b="1">
                <a:solidFill>
                  <a:srgbClr val="E8EDF5"/>
                </a:solidFill>
                <a:latin typeface="Calibri"/>
              </a:defRPr>
            </a:pPr>
            <a:r>
              <a:t>Data Quality &amp;</a:t>
            </a:r>
            <a:br/>
            <a:r>
              <a:t>Compliance Checks</a:t>
            </a:r>
          </a:p>
        </p:txBody>
      </p:sp>
      <p:sp>
        <p:nvSpPr>
          <p:cNvPr id="7" name="TextBox 6"/>
          <p:cNvSpPr txBox="1"/>
          <p:nvPr/>
        </p:nvSpPr>
        <p:spPr>
          <a:xfrm>
            <a:off x="502920" y="2286000"/>
            <a:ext cx="5029200" cy="1097280"/>
          </a:xfrm>
          <a:prstGeom prst="rect">
            <a:avLst/>
          </a:prstGeom>
          <a:noFill/>
        </p:spPr>
        <p:txBody>
          <a:bodyPr wrap="square">
            <a:spAutoFit/>
          </a:bodyPr>
          <a:lstStyle/>
          <a:p>
            <a:pPr algn="l">
              <a:defRPr sz="1400" b="0">
                <a:solidFill>
                  <a:srgbClr val="A8BDD4"/>
                </a:solidFill>
                <a:latin typeface="Calibri"/>
              </a:defRPr>
            </a:pPr>
            <a:r>
              <a:t>Data stewards and compliance officers ask for exception reports in plain English. The bot identifies records violating completeness or accuracy rules across any SAP module.</a:t>
            </a:r>
          </a:p>
        </p:txBody>
      </p:sp>
      <p:sp>
        <p:nvSpPr>
          <p:cNvPr id="8" name="TextBox 7"/>
          <p:cNvSpPr txBox="1"/>
          <p:nvPr/>
        </p:nvSpPr>
        <p:spPr>
          <a:xfrm>
            <a:off x="502920" y="3383280"/>
            <a:ext cx="1828800" cy="274320"/>
          </a:xfrm>
          <a:prstGeom prst="rect">
            <a:avLst/>
          </a:prstGeom>
          <a:noFill/>
        </p:spPr>
        <p:txBody>
          <a:bodyPr wrap="square">
            <a:spAutoFit/>
          </a:bodyPr>
          <a:lstStyle/>
          <a:p>
            <a:pPr algn="l">
              <a:defRPr sz="1300" b="1">
                <a:solidFill>
                  <a:srgbClr val="3D506E"/>
                </a:solidFill>
                <a:latin typeface="Calibri"/>
              </a:defRPr>
            </a:pPr>
            <a:r>
              <a:t>KEY BENEFITS</a:t>
            </a:r>
          </a:p>
        </p:txBody>
      </p:sp>
      <p:sp>
        <p:nvSpPr>
          <p:cNvPr id="9" name="TextBox 8"/>
          <p:cNvSpPr txBox="1"/>
          <p:nvPr/>
        </p:nvSpPr>
        <p:spPr>
          <a:xfrm>
            <a:off x="731520" y="3703320"/>
            <a:ext cx="4754880" cy="365760"/>
          </a:xfrm>
          <a:prstGeom prst="rect">
            <a:avLst/>
          </a:prstGeom>
          <a:noFill/>
        </p:spPr>
        <p:txBody>
          <a:bodyPr wrap="square">
            <a:spAutoFit/>
          </a:bodyPr>
          <a:lstStyle/>
          <a:p>
            <a:pPr algn="l">
              <a:defRPr sz="1300" b="0">
                <a:solidFill>
                  <a:srgbClr val="A8BDD4"/>
                </a:solidFill>
                <a:latin typeface="Calibri"/>
              </a:defRPr>
            </a:pPr>
            <a:r>
              <a:t>✓  Business users spot and fix their own data errors</a:t>
            </a:r>
          </a:p>
        </p:txBody>
      </p:sp>
      <p:sp>
        <p:nvSpPr>
          <p:cNvPr id="10" name="TextBox 9"/>
          <p:cNvSpPr txBox="1"/>
          <p:nvPr/>
        </p:nvSpPr>
        <p:spPr>
          <a:xfrm>
            <a:off x="502920" y="3703320"/>
            <a:ext cx="228600" cy="365760"/>
          </a:xfrm>
          <a:prstGeom prst="rect">
            <a:avLst/>
          </a:prstGeom>
          <a:noFill/>
        </p:spPr>
        <p:txBody>
          <a:bodyPr wrap="square">
            <a:spAutoFit/>
          </a:bodyPr>
          <a:lstStyle/>
          <a:p>
            <a:pPr algn="l">
              <a:defRPr sz="1300" b="1">
                <a:solidFill>
                  <a:srgbClr val="A78BFA"/>
                </a:solidFill>
                <a:latin typeface="Calibri"/>
              </a:defRPr>
            </a:pPr>
            <a:r>
              <a:t>✓</a:t>
            </a:r>
          </a:p>
        </p:txBody>
      </p:sp>
      <p:sp>
        <p:nvSpPr>
          <p:cNvPr id="11" name="TextBox 10"/>
          <p:cNvSpPr txBox="1"/>
          <p:nvPr/>
        </p:nvSpPr>
        <p:spPr>
          <a:xfrm>
            <a:off x="731520" y="4087368"/>
            <a:ext cx="4754880" cy="365760"/>
          </a:xfrm>
          <a:prstGeom prst="rect">
            <a:avLst/>
          </a:prstGeom>
          <a:noFill/>
        </p:spPr>
        <p:txBody>
          <a:bodyPr wrap="square">
            <a:spAutoFit/>
          </a:bodyPr>
          <a:lstStyle/>
          <a:p>
            <a:pPr algn="l">
              <a:defRPr sz="1300" b="0">
                <a:solidFill>
                  <a:srgbClr val="A8BDD4"/>
                </a:solidFill>
                <a:latin typeface="Calibri"/>
              </a:defRPr>
            </a:pPr>
            <a:r>
              <a:t>✓  Instant audit evidence for compliance teams</a:t>
            </a:r>
          </a:p>
        </p:txBody>
      </p:sp>
      <p:sp>
        <p:nvSpPr>
          <p:cNvPr id="12" name="TextBox 11"/>
          <p:cNvSpPr txBox="1"/>
          <p:nvPr/>
        </p:nvSpPr>
        <p:spPr>
          <a:xfrm>
            <a:off x="502920" y="4087368"/>
            <a:ext cx="228600" cy="365760"/>
          </a:xfrm>
          <a:prstGeom prst="rect">
            <a:avLst/>
          </a:prstGeom>
          <a:noFill/>
        </p:spPr>
        <p:txBody>
          <a:bodyPr wrap="square">
            <a:spAutoFit/>
          </a:bodyPr>
          <a:lstStyle/>
          <a:p>
            <a:pPr algn="l">
              <a:defRPr sz="1300" b="1">
                <a:solidFill>
                  <a:srgbClr val="A78BFA"/>
                </a:solidFill>
                <a:latin typeface="Calibri"/>
              </a:defRPr>
            </a:pPr>
            <a:r>
              <a:t>✓</a:t>
            </a:r>
          </a:p>
        </p:txBody>
      </p:sp>
      <p:sp>
        <p:nvSpPr>
          <p:cNvPr id="13" name="TextBox 12"/>
          <p:cNvSpPr txBox="1"/>
          <p:nvPr/>
        </p:nvSpPr>
        <p:spPr>
          <a:xfrm>
            <a:off x="731520" y="4471416"/>
            <a:ext cx="4754880" cy="365760"/>
          </a:xfrm>
          <a:prstGeom prst="rect">
            <a:avLst/>
          </a:prstGeom>
          <a:noFill/>
        </p:spPr>
        <p:txBody>
          <a:bodyPr wrap="square">
            <a:spAutoFit/>
          </a:bodyPr>
          <a:lstStyle/>
          <a:p>
            <a:pPr algn="l">
              <a:defRPr sz="1300" b="0">
                <a:solidFill>
                  <a:srgbClr val="A8BDD4"/>
                </a:solidFill>
                <a:latin typeface="Calibri"/>
              </a:defRPr>
            </a:pPr>
            <a:r>
              <a:t>✓  Prevents downstream failures (missing ship-to addresses, etc.)</a:t>
            </a:r>
          </a:p>
        </p:txBody>
      </p:sp>
      <p:sp>
        <p:nvSpPr>
          <p:cNvPr id="14" name="TextBox 13"/>
          <p:cNvSpPr txBox="1"/>
          <p:nvPr/>
        </p:nvSpPr>
        <p:spPr>
          <a:xfrm>
            <a:off x="502920" y="4471416"/>
            <a:ext cx="228600" cy="365760"/>
          </a:xfrm>
          <a:prstGeom prst="rect">
            <a:avLst/>
          </a:prstGeom>
          <a:noFill/>
        </p:spPr>
        <p:txBody>
          <a:bodyPr wrap="square">
            <a:spAutoFit/>
          </a:bodyPr>
          <a:lstStyle/>
          <a:p>
            <a:pPr algn="l">
              <a:defRPr sz="1300" b="1">
                <a:solidFill>
                  <a:srgbClr val="A78BFA"/>
                </a:solidFill>
                <a:latin typeface="Calibri"/>
              </a:defRPr>
            </a:pPr>
            <a:r>
              <a:t>✓</a:t>
            </a:r>
          </a:p>
        </p:txBody>
      </p:sp>
      <p:sp>
        <p:nvSpPr>
          <p:cNvPr id="15" name="TextBox 14"/>
          <p:cNvSpPr txBox="1"/>
          <p:nvPr/>
        </p:nvSpPr>
        <p:spPr>
          <a:xfrm>
            <a:off x="731520" y="4855464"/>
            <a:ext cx="4754880" cy="365760"/>
          </a:xfrm>
          <a:prstGeom prst="rect">
            <a:avLst/>
          </a:prstGeom>
          <a:noFill/>
        </p:spPr>
        <p:txBody>
          <a:bodyPr wrap="square">
            <a:spAutoFit/>
          </a:bodyPr>
          <a:lstStyle/>
          <a:p>
            <a:pPr algn="l">
              <a:defRPr sz="1300" b="0">
                <a:solidFill>
                  <a:srgbClr val="A8BDD4"/>
                </a:solidFill>
                <a:latin typeface="Calibri"/>
              </a:defRPr>
            </a:pPr>
            <a:r>
              <a:t>✓  Schedule weekly data quality digest to Teams channel</a:t>
            </a:r>
          </a:p>
        </p:txBody>
      </p:sp>
      <p:sp>
        <p:nvSpPr>
          <p:cNvPr id="16" name="TextBox 15"/>
          <p:cNvSpPr txBox="1"/>
          <p:nvPr/>
        </p:nvSpPr>
        <p:spPr>
          <a:xfrm>
            <a:off x="502920" y="4855464"/>
            <a:ext cx="228600" cy="365760"/>
          </a:xfrm>
          <a:prstGeom prst="rect">
            <a:avLst/>
          </a:prstGeom>
          <a:noFill/>
        </p:spPr>
        <p:txBody>
          <a:bodyPr wrap="square">
            <a:spAutoFit/>
          </a:bodyPr>
          <a:lstStyle/>
          <a:p>
            <a:pPr algn="l">
              <a:defRPr sz="1300" b="1">
                <a:solidFill>
                  <a:srgbClr val="A78BFA"/>
                </a:solidFill>
                <a:latin typeface="Calibri"/>
              </a:defRPr>
            </a:pPr>
            <a:r>
              <a:t>✓</a:t>
            </a:r>
          </a:p>
        </p:txBody>
      </p:sp>
      <p:sp>
        <p:nvSpPr>
          <p:cNvPr id="17" name="Rectangle 16"/>
          <p:cNvSpPr/>
          <p:nvPr/>
        </p:nvSpPr>
        <p:spPr>
          <a:xfrm>
            <a:off x="6095390" y="0"/>
            <a:ext cx="9144" cy="6858000"/>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0" y="914400"/>
            <a:ext cx="5303520" cy="3474720"/>
          </a:xfrm>
          <a:prstGeom prst="roundRect">
            <a:avLst>
              <a:gd name="adj" fmla="val 5000"/>
            </a:avLst>
          </a:prstGeom>
          <a:solidFill>
            <a:srgbClr val="0D1220"/>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914400"/>
            <a:ext cx="5303520" cy="4572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0" y="960120"/>
            <a:ext cx="3657600" cy="365760"/>
          </a:xfrm>
          <a:prstGeom prst="rect">
            <a:avLst/>
          </a:prstGeom>
          <a:noFill/>
        </p:spPr>
        <p:txBody>
          <a:bodyPr wrap="square">
            <a:spAutoFit/>
          </a:bodyPr>
          <a:lstStyle/>
          <a:p>
            <a:pPr algn="l">
              <a:defRPr sz="1400" b="1">
                <a:solidFill>
                  <a:srgbClr val="6B7FA3"/>
                </a:solidFill>
                <a:latin typeface="Calibri"/>
              </a:defRPr>
            </a:pPr>
            <a:r>
              <a:t>🔍  SAP Data Governance Agent</a:t>
            </a:r>
          </a:p>
        </p:txBody>
      </p:sp>
      <p:sp>
        <p:nvSpPr>
          <p:cNvPr id="21" name="Rounded Rectangle 20"/>
          <p:cNvSpPr/>
          <p:nvPr/>
        </p:nvSpPr>
        <p:spPr>
          <a:xfrm>
            <a:off x="7132320" y="1554480"/>
            <a:ext cx="4389120" cy="548640"/>
          </a:xfrm>
          <a:prstGeom prst="roundRect">
            <a:avLst>
              <a:gd name="adj" fmla="val 5000"/>
            </a:avLst>
          </a:prstGeom>
          <a:solidFill>
            <a:srgbClr val="262643"/>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1581912"/>
            <a:ext cx="4023360" cy="502920"/>
          </a:xfrm>
          <a:prstGeom prst="rect">
            <a:avLst/>
          </a:prstGeom>
          <a:noFill/>
        </p:spPr>
        <p:txBody>
          <a:bodyPr wrap="square">
            <a:spAutoFit/>
          </a:bodyPr>
          <a:lstStyle/>
          <a:p>
            <a:pPr algn="l">
              <a:defRPr sz="1200" b="0">
                <a:solidFill>
                  <a:srgbClr val="E8EDF5"/>
                </a:solidFill>
                <a:latin typeface="Calibri"/>
              </a:defRPr>
            </a:pPr>
            <a:r>
              <a:t>Show me sold products that have incomplete owner data.</a:t>
            </a:r>
          </a:p>
        </p:txBody>
      </p:sp>
      <p:sp>
        <p:nvSpPr>
          <p:cNvPr id="23" name="Rounded Rectangle 22"/>
          <p:cNvSpPr/>
          <p:nvPr/>
        </p:nvSpPr>
        <p:spPr>
          <a:xfrm>
            <a:off x="6537960" y="2240280"/>
            <a:ext cx="502920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2286000"/>
            <a:ext cx="2743200" cy="274320"/>
          </a:xfrm>
          <a:prstGeom prst="rect">
            <a:avLst/>
          </a:prstGeom>
          <a:noFill/>
        </p:spPr>
        <p:txBody>
          <a:bodyPr wrap="square">
            <a:spAutoFit/>
          </a:bodyPr>
          <a:lstStyle/>
          <a:p>
            <a:pPr algn="l">
              <a:defRPr sz="1100" b="1">
                <a:solidFill>
                  <a:srgbClr val="A78BFA"/>
                </a:solidFill>
                <a:latin typeface="Calibri"/>
              </a:defRPr>
            </a:pPr>
            <a:r>
              <a:t>✦ SAP AGENT</a:t>
            </a:r>
          </a:p>
        </p:txBody>
      </p:sp>
      <p:sp>
        <p:nvSpPr>
          <p:cNvPr id="25" name="TextBox 24"/>
          <p:cNvSpPr txBox="1"/>
          <p:nvPr/>
        </p:nvSpPr>
        <p:spPr>
          <a:xfrm>
            <a:off x="6675120" y="2606040"/>
            <a:ext cx="4754880" cy="1554480"/>
          </a:xfrm>
          <a:prstGeom prst="rect">
            <a:avLst/>
          </a:prstGeom>
          <a:noFill/>
        </p:spPr>
        <p:txBody>
          <a:bodyPr wrap="square">
            <a:spAutoFit/>
          </a:bodyPr>
          <a:lstStyle/>
          <a:p>
            <a:pPr algn="l">
              <a:defRPr sz="1100" b="0">
                <a:solidFill>
                  <a:srgbClr val="A8BDD4"/>
                </a:solidFill>
                <a:latin typeface="Consolas"/>
              </a:defRPr>
            </a:pPr>
            <a:r>
              <a:t>Found 23 products sold in last 30 days with no owner:</a:t>
            </a:r>
            <a:br/>
            <a:br/>
            <a:r>
              <a:t>1. MAT-4892 — Hydraulic Valve  (18 Oct)</a:t>
            </a:r>
            <a:br/>
            <a:r>
              <a:t>2. MAT-2234 — Sensor Module B  (21 Oct)</a:t>
            </a:r>
            <a:br/>
            <a:r>
              <a:t>3. MAT-7701 — Cable Assembly   (22 Oct)</a:t>
            </a:r>
            <a:br/>
            <a:r>
              <a:t>…and 20 more.  Export full list?</a:t>
            </a:r>
          </a:p>
        </p:txBody>
      </p:sp>
      <p:sp>
        <p:nvSpPr>
          <p:cNvPr id="26" name="TextBox 25"/>
          <p:cNvSpPr txBox="1"/>
          <p:nvPr/>
        </p:nvSpPr>
        <p:spPr>
          <a:xfrm>
            <a:off x="6400800" y="4663440"/>
            <a:ext cx="2743200" cy="274320"/>
          </a:xfrm>
          <a:prstGeom prst="rect">
            <a:avLst/>
          </a:prstGeom>
          <a:noFill/>
        </p:spPr>
        <p:txBody>
          <a:bodyPr wrap="square">
            <a:spAutoFit/>
          </a:bodyPr>
          <a:lstStyle/>
          <a:p>
            <a:pPr algn="l">
              <a:defRPr sz="1300" b="1">
                <a:solidFill>
                  <a:srgbClr val="3D506E"/>
                </a:solidFill>
                <a:latin typeface="Calibri"/>
              </a:defRPr>
            </a:pPr>
            <a:r>
              <a:t>SAP DATA ACCESSED</a:t>
            </a:r>
          </a:p>
        </p:txBody>
      </p:sp>
      <p:sp>
        <p:nvSpPr>
          <p:cNvPr id="27" name="Rounded Rectangle 26"/>
          <p:cNvSpPr/>
          <p:nvPr/>
        </p:nvSpPr>
        <p:spPr>
          <a:xfrm>
            <a:off x="6400800" y="4983480"/>
            <a:ext cx="1984248"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5001768"/>
            <a:ext cx="1837944" cy="256032"/>
          </a:xfrm>
          <a:prstGeom prst="rect">
            <a:avLst/>
          </a:prstGeom>
          <a:noFill/>
        </p:spPr>
        <p:txBody>
          <a:bodyPr wrap="square">
            <a:spAutoFit/>
          </a:bodyPr>
          <a:lstStyle/>
          <a:p>
            <a:pPr algn="l">
              <a:defRPr sz="1100" b="0">
                <a:solidFill>
                  <a:srgbClr val="A8BDD4"/>
                </a:solidFill>
                <a:latin typeface="Consolas"/>
              </a:defRPr>
            </a:pPr>
            <a:r>
              <a:t>MARA (Material Master)</a:t>
            </a:r>
          </a:p>
        </p:txBody>
      </p:sp>
      <p:sp>
        <p:nvSpPr>
          <p:cNvPr id="29" name="Rounded Rectangle 28"/>
          <p:cNvSpPr/>
          <p:nvPr/>
        </p:nvSpPr>
        <p:spPr>
          <a:xfrm>
            <a:off x="8476488" y="4983480"/>
            <a:ext cx="1517904"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49640" y="5001768"/>
            <a:ext cx="1371600" cy="256032"/>
          </a:xfrm>
          <a:prstGeom prst="rect">
            <a:avLst/>
          </a:prstGeom>
          <a:noFill/>
        </p:spPr>
        <p:txBody>
          <a:bodyPr wrap="square">
            <a:spAutoFit/>
          </a:bodyPr>
          <a:lstStyle/>
          <a:p>
            <a:pPr algn="l">
              <a:defRPr sz="1100" b="0">
                <a:solidFill>
                  <a:srgbClr val="A8BDD4"/>
                </a:solidFill>
                <a:latin typeface="Consolas"/>
              </a:defRPr>
            </a:pPr>
            <a:r>
              <a:t>KNA1 (Customers)</a:t>
            </a:r>
          </a:p>
        </p:txBody>
      </p:sp>
      <p:sp>
        <p:nvSpPr>
          <p:cNvPr id="31" name="Rounded Rectangle 30"/>
          <p:cNvSpPr/>
          <p:nvPr/>
        </p:nvSpPr>
        <p:spPr>
          <a:xfrm>
            <a:off x="10085832" y="4983480"/>
            <a:ext cx="1362456"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58984" y="5001768"/>
            <a:ext cx="1216152" cy="256032"/>
          </a:xfrm>
          <a:prstGeom prst="rect">
            <a:avLst/>
          </a:prstGeom>
          <a:noFill/>
        </p:spPr>
        <p:txBody>
          <a:bodyPr wrap="square">
            <a:spAutoFit/>
          </a:bodyPr>
          <a:lstStyle/>
          <a:p>
            <a:pPr algn="l">
              <a:defRPr sz="1100" b="0">
                <a:solidFill>
                  <a:srgbClr val="A8BDD4"/>
                </a:solidFill>
                <a:latin typeface="Consolas"/>
              </a:defRPr>
            </a:pPr>
            <a:r>
              <a:t>LFA1 (Vendors)</a:t>
            </a:r>
          </a:p>
        </p:txBody>
      </p:sp>
      <p:sp>
        <p:nvSpPr>
          <p:cNvPr id="33" name="Rounded Rectangle 32"/>
          <p:cNvSpPr/>
          <p:nvPr/>
        </p:nvSpPr>
        <p:spPr>
          <a:xfrm>
            <a:off x="6400800" y="5330952"/>
            <a:ext cx="2061972"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73952" y="5349240"/>
            <a:ext cx="1915668" cy="256032"/>
          </a:xfrm>
          <a:prstGeom prst="rect">
            <a:avLst/>
          </a:prstGeom>
          <a:noFill/>
        </p:spPr>
        <p:txBody>
          <a:bodyPr wrap="square">
            <a:spAutoFit/>
          </a:bodyPr>
          <a:lstStyle/>
          <a:p>
            <a:pPr algn="l">
              <a:defRPr sz="1100" b="0">
                <a:solidFill>
                  <a:srgbClr val="A8BDD4"/>
                </a:solidFill>
                <a:latin typeface="Consolas"/>
              </a:defRPr>
            </a:pPr>
            <a:r>
              <a:t>BSEG/BKPF (FI Postings)</a:t>
            </a:r>
          </a:p>
        </p:txBody>
      </p:sp>
      <p:sp>
        <p:nvSpPr>
          <p:cNvPr id="35" name="TextBox 34"/>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868680"/>
            <a:ext cx="2560320" cy="320040"/>
          </a:xfrm>
          <a:prstGeom prst="roundRect">
            <a:avLst>
              <a:gd name="adj" fmla="val 50000"/>
            </a:avLst>
          </a:prstGeom>
          <a:solidFill>
            <a:srgbClr val="262643"/>
          </a:solidFill>
          <a:ln w="12700">
            <a:solidFill>
              <a:srgbClr val="34315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A78BFA"/>
                </a:solidFill>
              </a:defRPr>
            </a:pPr>
            <a:r>
              <a:t>🔍 Data Governance</a:t>
            </a:r>
          </a:p>
        </p:txBody>
      </p:sp>
      <p:sp>
        <p:nvSpPr>
          <p:cNvPr id="5" name="TextBox 4"/>
          <p:cNvSpPr txBox="1"/>
          <p:nvPr/>
        </p:nvSpPr>
        <p:spPr>
          <a:xfrm>
            <a:off x="3200399" y="841248"/>
            <a:ext cx="3657600" cy="411480"/>
          </a:xfrm>
          <a:prstGeom prst="rect">
            <a:avLst/>
          </a:prstGeom>
          <a:noFill/>
        </p:spPr>
        <p:txBody>
          <a:bodyPr wrap="square">
            <a:spAutoFit/>
          </a:bodyPr>
          <a:lstStyle/>
          <a:p>
            <a:pPr algn="l">
              <a:defRPr sz="2400" b="1">
                <a:solidFill>
                  <a:srgbClr val="E8EDF5"/>
                </a:solidFill>
                <a:latin typeface="Calibri"/>
              </a:defRPr>
            </a:pPr>
            <a:r>
              <a:t>Implementation Guide</a:t>
            </a:r>
          </a:p>
        </p:txBody>
      </p:sp>
      <p:sp>
        <p:nvSpPr>
          <p:cNvPr id="6" name="Rounded Rectangle 5"/>
          <p:cNvSpPr/>
          <p:nvPr/>
        </p:nvSpPr>
        <p:spPr>
          <a:xfrm>
            <a:off x="502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45920"/>
            <a:ext cx="320040" cy="320040"/>
          </a:xfrm>
          <a:prstGeom prst="roundRect">
            <a:avLst>
              <a:gd name="adj" fmla="val 15000"/>
            </a:avLst>
          </a:prstGeom>
          <a:solidFill>
            <a:srgbClr val="2C2A4C"/>
          </a:solidFill>
          <a:ln>
            <a:solidFill>
              <a:srgbClr val="343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A78BFA"/>
                </a:solidFill>
              </a:defRPr>
            </a:pPr>
            <a:r>
              <a:t>1</a:t>
            </a:r>
          </a:p>
        </p:txBody>
      </p:sp>
      <p:sp>
        <p:nvSpPr>
          <p:cNvPr id="8" name="TextBox 7"/>
          <p:cNvSpPr txBox="1"/>
          <p:nvPr/>
        </p:nvSpPr>
        <p:spPr>
          <a:xfrm>
            <a:off x="685800" y="2103120"/>
            <a:ext cx="1783080" cy="548640"/>
          </a:xfrm>
          <a:prstGeom prst="rect">
            <a:avLst/>
          </a:prstGeom>
          <a:noFill/>
        </p:spPr>
        <p:txBody>
          <a:bodyPr wrap="square">
            <a:spAutoFit/>
          </a:bodyPr>
          <a:lstStyle/>
          <a:p>
            <a:pPr algn="l">
              <a:defRPr sz="1600" b="1">
                <a:solidFill>
                  <a:srgbClr val="E8EDF5"/>
                </a:solidFill>
                <a:latin typeface="Calibri"/>
              </a:defRPr>
            </a:pPr>
            <a:r>
              <a:t>Pre-define check queries</a:t>
            </a:r>
          </a:p>
        </p:txBody>
      </p:sp>
      <p:sp>
        <p:nvSpPr>
          <p:cNvPr id="9" name="TextBox 8"/>
          <p:cNvSpPr txBox="1"/>
          <p:nvPr/>
        </p:nvSpPr>
        <p:spPr>
          <a:xfrm>
            <a:off x="685800" y="2651760"/>
            <a:ext cx="1783080" cy="3108960"/>
          </a:xfrm>
          <a:prstGeom prst="rect">
            <a:avLst/>
          </a:prstGeom>
          <a:noFill/>
        </p:spPr>
        <p:txBody>
          <a:bodyPr wrap="square">
            <a:spAutoFit/>
          </a:bodyPr>
          <a:lstStyle/>
          <a:p>
            <a:pPr algn="l">
              <a:defRPr sz="1300" b="0">
                <a:solidFill>
                  <a:srgbClr val="6B7FA3"/>
                </a:solidFill>
                <a:latin typeface="Calibri"/>
              </a:defRPr>
            </a:pPr>
            <a:r>
              <a:t>Build a library of SQL queries for known data quality rules. The LLM selects the right one based on user intent. Wrong SQL means wrong audit results.</a:t>
            </a:r>
          </a:p>
        </p:txBody>
      </p:sp>
      <p:sp>
        <p:nvSpPr>
          <p:cNvPr id="10" name="TextBox 9"/>
          <p:cNvSpPr txBox="1"/>
          <p:nvPr/>
        </p:nvSpPr>
        <p:spPr>
          <a:xfrm>
            <a:off x="1920240" y="5212080"/>
            <a:ext cx="640080" cy="731520"/>
          </a:xfrm>
          <a:prstGeom prst="rect">
            <a:avLst/>
          </a:prstGeom>
          <a:noFill/>
        </p:spPr>
        <p:txBody>
          <a:bodyPr wrap="square">
            <a:spAutoFit/>
          </a:bodyPr>
          <a:lstStyle/>
          <a:p>
            <a:pPr algn="r">
              <a:defRPr sz="5400" b="1">
                <a:solidFill>
                  <a:srgbClr val="1B2131"/>
                </a:solidFill>
                <a:latin typeface="Calibri"/>
              </a:defRPr>
            </a:pPr>
            <a:r>
              <a:t>1</a:t>
            </a:r>
          </a:p>
        </p:txBody>
      </p:sp>
      <p:sp>
        <p:nvSpPr>
          <p:cNvPr id="11" name="Rounded Rectangle 10"/>
          <p:cNvSpPr/>
          <p:nvPr/>
        </p:nvSpPr>
        <p:spPr>
          <a:xfrm>
            <a:off x="2788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71800" y="1645920"/>
            <a:ext cx="320040" cy="320040"/>
          </a:xfrm>
          <a:prstGeom prst="roundRect">
            <a:avLst>
              <a:gd name="adj" fmla="val 15000"/>
            </a:avLst>
          </a:prstGeom>
          <a:solidFill>
            <a:srgbClr val="2C2A4C"/>
          </a:solidFill>
          <a:ln>
            <a:solidFill>
              <a:srgbClr val="343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A78BFA"/>
                </a:solidFill>
              </a:defRPr>
            </a:pPr>
            <a:r>
              <a:t>2</a:t>
            </a:r>
          </a:p>
        </p:txBody>
      </p:sp>
      <p:sp>
        <p:nvSpPr>
          <p:cNvPr id="13" name="TextBox 12"/>
          <p:cNvSpPr txBox="1"/>
          <p:nvPr/>
        </p:nvSpPr>
        <p:spPr>
          <a:xfrm>
            <a:off x="2971800" y="2103120"/>
            <a:ext cx="1783080" cy="548640"/>
          </a:xfrm>
          <a:prstGeom prst="rect">
            <a:avLst/>
          </a:prstGeom>
          <a:noFill/>
        </p:spPr>
        <p:txBody>
          <a:bodyPr wrap="square">
            <a:spAutoFit/>
          </a:bodyPr>
          <a:lstStyle/>
          <a:p>
            <a:pPr algn="l">
              <a:defRPr sz="1600" b="1">
                <a:solidFill>
                  <a:srgbClr val="E8EDF5"/>
                </a:solidFill>
                <a:latin typeface="Calibri"/>
              </a:defRPr>
            </a:pPr>
            <a:r>
              <a:t>Count-first pattern</a:t>
            </a:r>
          </a:p>
        </p:txBody>
      </p:sp>
      <p:sp>
        <p:nvSpPr>
          <p:cNvPr id="14" name="TextBox 13"/>
          <p:cNvSpPr txBox="1"/>
          <p:nvPr/>
        </p:nvSpPr>
        <p:spPr>
          <a:xfrm>
            <a:off x="2971800" y="2651760"/>
            <a:ext cx="1783080" cy="3108960"/>
          </a:xfrm>
          <a:prstGeom prst="rect">
            <a:avLst/>
          </a:prstGeom>
          <a:noFill/>
        </p:spPr>
        <p:txBody>
          <a:bodyPr wrap="square">
            <a:spAutoFit/>
          </a:bodyPr>
          <a:lstStyle/>
          <a:p>
            <a:pPr algn="l">
              <a:defRPr sz="1300" b="0">
                <a:solidFill>
                  <a:srgbClr val="6B7FA3"/>
                </a:solidFill>
                <a:latin typeface="Calibri"/>
              </a:defRPr>
            </a:pPr>
            <a:r>
              <a:t>Run COUNT(*) first. If ≤ 20 records, list inline. If &gt; 20, summarise and offer export to SharePoint/Excel. Keeps chat readable.</a:t>
            </a:r>
          </a:p>
        </p:txBody>
      </p:sp>
      <p:sp>
        <p:nvSpPr>
          <p:cNvPr id="15" name="TextBox 14"/>
          <p:cNvSpPr txBox="1"/>
          <p:nvPr/>
        </p:nvSpPr>
        <p:spPr>
          <a:xfrm>
            <a:off x="4206240" y="5212080"/>
            <a:ext cx="640080" cy="731520"/>
          </a:xfrm>
          <a:prstGeom prst="rect">
            <a:avLst/>
          </a:prstGeom>
          <a:noFill/>
        </p:spPr>
        <p:txBody>
          <a:bodyPr wrap="square">
            <a:spAutoFit/>
          </a:bodyPr>
          <a:lstStyle/>
          <a:p>
            <a:pPr algn="r">
              <a:defRPr sz="5400" b="1">
                <a:solidFill>
                  <a:srgbClr val="1B2131"/>
                </a:solidFill>
                <a:latin typeface="Calibri"/>
              </a:defRPr>
            </a:pPr>
            <a:r>
              <a:t>2</a:t>
            </a:r>
          </a:p>
        </p:txBody>
      </p:sp>
      <p:sp>
        <p:nvSpPr>
          <p:cNvPr id="16" name="Rounded Rectangle 15"/>
          <p:cNvSpPr/>
          <p:nvPr/>
        </p:nvSpPr>
        <p:spPr>
          <a:xfrm>
            <a:off x="5074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257800" y="1645920"/>
            <a:ext cx="320040" cy="320040"/>
          </a:xfrm>
          <a:prstGeom prst="roundRect">
            <a:avLst>
              <a:gd name="adj" fmla="val 15000"/>
            </a:avLst>
          </a:prstGeom>
          <a:solidFill>
            <a:srgbClr val="2C2A4C"/>
          </a:solidFill>
          <a:ln>
            <a:solidFill>
              <a:srgbClr val="343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A78BFA"/>
                </a:solidFill>
              </a:defRPr>
            </a:pPr>
            <a:r>
              <a:t>3</a:t>
            </a:r>
          </a:p>
        </p:txBody>
      </p:sp>
      <p:sp>
        <p:nvSpPr>
          <p:cNvPr id="18" name="TextBox 17"/>
          <p:cNvSpPr txBox="1"/>
          <p:nvPr/>
        </p:nvSpPr>
        <p:spPr>
          <a:xfrm>
            <a:off x="5257800" y="2103120"/>
            <a:ext cx="1783080" cy="548640"/>
          </a:xfrm>
          <a:prstGeom prst="rect">
            <a:avLst/>
          </a:prstGeom>
          <a:noFill/>
        </p:spPr>
        <p:txBody>
          <a:bodyPr wrap="square">
            <a:spAutoFit/>
          </a:bodyPr>
          <a:lstStyle/>
          <a:p>
            <a:pPr algn="l">
              <a:defRPr sz="1600" b="1">
                <a:solidFill>
                  <a:srgbClr val="E8EDF5"/>
                </a:solidFill>
                <a:latin typeface="Calibri"/>
              </a:defRPr>
            </a:pPr>
            <a:r>
              <a:t>Schedule weekly digest</a:t>
            </a:r>
          </a:p>
        </p:txBody>
      </p:sp>
      <p:sp>
        <p:nvSpPr>
          <p:cNvPr id="19" name="TextBox 18"/>
          <p:cNvSpPr txBox="1"/>
          <p:nvPr/>
        </p:nvSpPr>
        <p:spPr>
          <a:xfrm>
            <a:off x="5257800" y="2651760"/>
            <a:ext cx="1783080" cy="3108960"/>
          </a:xfrm>
          <a:prstGeom prst="rect">
            <a:avLst/>
          </a:prstGeom>
          <a:noFill/>
        </p:spPr>
        <p:txBody>
          <a:bodyPr wrap="square">
            <a:spAutoFit/>
          </a:bodyPr>
          <a:lstStyle/>
          <a:p>
            <a:pPr algn="l">
              <a:defRPr sz="1300" b="0">
                <a:solidFill>
                  <a:srgbClr val="6B7FA3"/>
                </a:solidFill>
                <a:latin typeface="Calibri"/>
              </a:defRPr>
            </a:pPr>
            <a:r>
              <a:t>Post an automated weekly Data Quality report to a governance Teams channel. Users ask follow-ups inline.</a:t>
            </a:r>
          </a:p>
        </p:txBody>
      </p:sp>
      <p:sp>
        <p:nvSpPr>
          <p:cNvPr id="20" name="TextBox 19"/>
          <p:cNvSpPr txBox="1"/>
          <p:nvPr/>
        </p:nvSpPr>
        <p:spPr>
          <a:xfrm>
            <a:off x="6492240" y="5212080"/>
            <a:ext cx="640080" cy="731520"/>
          </a:xfrm>
          <a:prstGeom prst="rect">
            <a:avLst/>
          </a:prstGeom>
          <a:noFill/>
        </p:spPr>
        <p:txBody>
          <a:bodyPr wrap="square">
            <a:spAutoFit/>
          </a:bodyPr>
          <a:lstStyle/>
          <a:p>
            <a:pPr algn="r">
              <a:defRPr sz="5400" b="1">
                <a:solidFill>
                  <a:srgbClr val="1B2131"/>
                </a:solidFill>
                <a:latin typeface="Calibri"/>
              </a:defRPr>
            </a:pPr>
            <a:r>
              <a:t>3</a:t>
            </a:r>
          </a:p>
        </p:txBody>
      </p:sp>
      <p:sp>
        <p:nvSpPr>
          <p:cNvPr id="21" name="Rounded Rectangle 20"/>
          <p:cNvSpPr/>
          <p:nvPr/>
        </p:nvSpPr>
        <p:spPr>
          <a:xfrm>
            <a:off x="7360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43800" y="1645920"/>
            <a:ext cx="320040" cy="320040"/>
          </a:xfrm>
          <a:prstGeom prst="roundRect">
            <a:avLst>
              <a:gd name="adj" fmla="val 15000"/>
            </a:avLst>
          </a:prstGeom>
          <a:solidFill>
            <a:srgbClr val="2C2A4C"/>
          </a:solidFill>
          <a:ln>
            <a:solidFill>
              <a:srgbClr val="343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A78BFA"/>
                </a:solidFill>
              </a:defRPr>
            </a:pPr>
            <a:r>
              <a:t>4</a:t>
            </a:r>
          </a:p>
        </p:txBody>
      </p:sp>
      <p:sp>
        <p:nvSpPr>
          <p:cNvPr id="23" name="TextBox 22"/>
          <p:cNvSpPr txBox="1"/>
          <p:nvPr/>
        </p:nvSpPr>
        <p:spPr>
          <a:xfrm>
            <a:off x="7543800" y="2103120"/>
            <a:ext cx="1783080" cy="548640"/>
          </a:xfrm>
          <a:prstGeom prst="rect">
            <a:avLst/>
          </a:prstGeom>
          <a:noFill/>
        </p:spPr>
        <p:txBody>
          <a:bodyPr wrap="square">
            <a:spAutoFit/>
          </a:bodyPr>
          <a:lstStyle/>
          <a:p>
            <a:pPr algn="l">
              <a:defRPr sz="1600" b="1">
                <a:solidFill>
                  <a:srgbClr val="E8EDF5"/>
                </a:solidFill>
                <a:latin typeface="Calibri"/>
              </a:defRPr>
            </a:pPr>
            <a:r>
              <a:t>Add corrective actions</a:t>
            </a:r>
          </a:p>
        </p:txBody>
      </p:sp>
      <p:sp>
        <p:nvSpPr>
          <p:cNvPr id="24" name="TextBox 23"/>
          <p:cNvSpPr txBox="1"/>
          <p:nvPr/>
        </p:nvSpPr>
        <p:spPr>
          <a:xfrm>
            <a:off x="7543800" y="2651760"/>
            <a:ext cx="1783080" cy="3108960"/>
          </a:xfrm>
          <a:prstGeom prst="rect">
            <a:avLst/>
          </a:prstGeom>
          <a:noFill/>
        </p:spPr>
        <p:txBody>
          <a:bodyPr wrap="square">
            <a:spAutoFit/>
          </a:bodyPr>
          <a:lstStyle/>
          <a:p>
            <a:pPr algn="l">
              <a:defRPr sz="1300" b="0">
                <a:solidFill>
                  <a:srgbClr val="6B7FA3"/>
                </a:solidFill>
                <a:latin typeface="Calibri"/>
              </a:defRPr>
            </a:pPr>
            <a:r>
              <a:t>Extend the bot to fix issues: user says 'Assign John Doe to MAT-4892' and the bot calls OData PATCH. Log all updates for audit trail.</a:t>
            </a:r>
          </a:p>
        </p:txBody>
      </p:sp>
      <p:sp>
        <p:nvSpPr>
          <p:cNvPr id="25" name="TextBox 24"/>
          <p:cNvSpPr txBox="1"/>
          <p:nvPr/>
        </p:nvSpPr>
        <p:spPr>
          <a:xfrm>
            <a:off x="8778240" y="5212080"/>
            <a:ext cx="640080" cy="731520"/>
          </a:xfrm>
          <a:prstGeom prst="rect">
            <a:avLst/>
          </a:prstGeom>
          <a:noFill/>
        </p:spPr>
        <p:txBody>
          <a:bodyPr wrap="square">
            <a:spAutoFit/>
          </a:bodyPr>
          <a:lstStyle/>
          <a:p>
            <a:pPr algn="r">
              <a:defRPr sz="5400" b="1">
                <a:solidFill>
                  <a:srgbClr val="1B2131"/>
                </a:solidFill>
                <a:latin typeface="Calibri"/>
              </a:defRPr>
            </a:pPr>
            <a:r>
              <a:t>4</a:t>
            </a:r>
          </a:p>
        </p:txBody>
      </p:sp>
      <p:sp>
        <p:nvSpPr>
          <p:cNvPr id="26" name="Rounded Rectangle 25"/>
          <p:cNvSpPr/>
          <p:nvPr/>
        </p:nvSpPr>
        <p:spPr>
          <a:xfrm>
            <a:off x="9646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29800" y="1645920"/>
            <a:ext cx="320040" cy="320040"/>
          </a:xfrm>
          <a:prstGeom prst="roundRect">
            <a:avLst>
              <a:gd name="adj" fmla="val 15000"/>
            </a:avLst>
          </a:prstGeom>
          <a:solidFill>
            <a:srgbClr val="2C2A4C"/>
          </a:solidFill>
          <a:ln>
            <a:solidFill>
              <a:srgbClr val="343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A78BFA"/>
                </a:solidFill>
              </a:defRPr>
            </a:pPr>
            <a:r>
              <a:t>5</a:t>
            </a:r>
          </a:p>
        </p:txBody>
      </p:sp>
      <p:sp>
        <p:nvSpPr>
          <p:cNvPr id="28" name="TextBox 27"/>
          <p:cNvSpPr txBox="1"/>
          <p:nvPr/>
        </p:nvSpPr>
        <p:spPr>
          <a:xfrm>
            <a:off x="9829800" y="2103120"/>
            <a:ext cx="1783080" cy="548640"/>
          </a:xfrm>
          <a:prstGeom prst="rect">
            <a:avLst/>
          </a:prstGeom>
          <a:noFill/>
        </p:spPr>
        <p:txBody>
          <a:bodyPr wrap="square">
            <a:spAutoFit/>
          </a:bodyPr>
          <a:lstStyle/>
          <a:p>
            <a:pPr algn="l">
              <a:defRPr sz="1600" b="1">
                <a:solidFill>
                  <a:srgbClr val="E8EDF5"/>
                </a:solidFill>
                <a:latin typeface="Calibri"/>
              </a:defRPr>
            </a:pPr>
            <a:r>
              <a:t>Segment by domain</a:t>
            </a:r>
          </a:p>
        </p:txBody>
      </p:sp>
      <p:sp>
        <p:nvSpPr>
          <p:cNvPr id="29" name="TextBox 28"/>
          <p:cNvSpPr txBox="1"/>
          <p:nvPr/>
        </p:nvSpPr>
        <p:spPr>
          <a:xfrm>
            <a:off x="9829800" y="2651760"/>
            <a:ext cx="1783080" cy="3108960"/>
          </a:xfrm>
          <a:prstGeom prst="rect">
            <a:avLst/>
          </a:prstGeom>
          <a:noFill/>
        </p:spPr>
        <p:txBody>
          <a:bodyPr wrap="square">
            <a:spAutoFit/>
          </a:bodyPr>
          <a:lstStyle/>
          <a:p>
            <a:pPr algn="l">
              <a:defRPr sz="1300" b="0">
                <a:solidFill>
                  <a:srgbClr val="6B7FA3"/>
                </a:solidFill>
                <a:latin typeface="Calibri"/>
              </a:defRPr>
            </a:pPr>
            <a:r>
              <a:t>If the bot covers multiple modules, split context by domain. Either use separate bots per team, or train the AI to clarify context.</a:t>
            </a:r>
          </a:p>
        </p:txBody>
      </p:sp>
      <p:sp>
        <p:nvSpPr>
          <p:cNvPr id="30" name="TextBox 29"/>
          <p:cNvSpPr txBox="1"/>
          <p:nvPr/>
        </p:nvSpPr>
        <p:spPr>
          <a:xfrm>
            <a:off x="11064240" y="5212080"/>
            <a:ext cx="640080" cy="731520"/>
          </a:xfrm>
          <a:prstGeom prst="rect">
            <a:avLst/>
          </a:prstGeom>
          <a:noFill/>
        </p:spPr>
        <p:txBody>
          <a:bodyPr wrap="square">
            <a:spAutoFit/>
          </a:bodyPr>
          <a:lstStyle/>
          <a:p>
            <a:pPr algn="r">
              <a:defRPr sz="5400" b="1">
                <a:solidFill>
                  <a:srgbClr val="1B2131"/>
                </a:solidFill>
                <a:latin typeface="Calibri"/>
              </a:defRPr>
            </a:pPr>
            <a:r>
              <a:t>5</a:t>
            </a:r>
          </a:p>
        </p:txBody>
      </p:sp>
      <p:sp>
        <p:nvSpPr>
          <p:cNvPr id="31" name="TextBox 30"/>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914400"/>
            <a:ext cx="2011680" cy="320040"/>
          </a:xfrm>
          <a:prstGeom prst="roundRect">
            <a:avLst>
              <a:gd name="adj" fmla="val 50000"/>
            </a:avLst>
          </a:prstGeom>
          <a:solidFill>
            <a:srgbClr val="332A1F"/>
          </a:solidFill>
          <a:ln w="12700">
            <a:solidFill>
              <a:srgbClr val="483822"/>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5A623"/>
                </a:solidFill>
              </a:defRPr>
            </a:pPr>
            <a:r>
              <a:t>⚙️ Operations</a:t>
            </a:r>
          </a:p>
        </p:txBody>
      </p:sp>
      <p:sp>
        <p:nvSpPr>
          <p:cNvPr id="5" name="TextBox 4"/>
          <p:cNvSpPr txBox="1"/>
          <p:nvPr/>
        </p:nvSpPr>
        <p:spPr>
          <a:xfrm>
            <a:off x="502920" y="5303520"/>
            <a:ext cx="1828800" cy="914400"/>
          </a:xfrm>
          <a:prstGeom prst="rect">
            <a:avLst/>
          </a:prstGeom>
          <a:noFill/>
        </p:spPr>
        <p:txBody>
          <a:bodyPr wrap="square">
            <a:spAutoFit/>
          </a:bodyPr>
          <a:lstStyle/>
          <a:p>
            <a:pPr algn="l">
              <a:defRPr sz="7200" b="1">
                <a:solidFill>
                  <a:srgbClr val="231F1D"/>
                </a:solidFill>
                <a:latin typeface="Calibri"/>
              </a:defRPr>
            </a:pPr>
            <a:r>
              <a:t>04</a:t>
            </a:r>
          </a:p>
        </p:txBody>
      </p:sp>
      <p:sp>
        <p:nvSpPr>
          <p:cNvPr id="6" name="TextBox 5"/>
          <p:cNvSpPr txBox="1"/>
          <p:nvPr/>
        </p:nvSpPr>
        <p:spPr>
          <a:xfrm>
            <a:off x="502920" y="1371600"/>
            <a:ext cx="5029200" cy="914400"/>
          </a:xfrm>
          <a:prstGeom prst="rect">
            <a:avLst/>
          </a:prstGeom>
          <a:noFill/>
        </p:spPr>
        <p:txBody>
          <a:bodyPr wrap="square">
            <a:spAutoFit/>
          </a:bodyPr>
          <a:lstStyle/>
          <a:p>
            <a:pPr algn="l">
              <a:defRPr sz="2800" b="1">
                <a:solidFill>
                  <a:srgbClr val="E8EDF5"/>
                </a:solidFill>
                <a:latin typeface="Calibri"/>
              </a:defRPr>
            </a:pPr>
            <a:r>
              <a:t>Operations</a:t>
            </a:r>
            <a:br/>
            <a:r>
              <a:t>Optimization &amp; Support</a:t>
            </a:r>
          </a:p>
        </p:txBody>
      </p:sp>
      <p:sp>
        <p:nvSpPr>
          <p:cNvPr id="7" name="TextBox 6"/>
          <p:cNvSpPr txBox="1"/>
          <p:nvPr/>
        </p:nvSpPr>
        <p:spPr>
          <a:xfrm>
            <a:off x="502920" y="2286000"/>
            <a:ext cx="5029200" cy="1097280"/>
          </a:xfrm>
          <a:prstGeom prst="rect">
            <a:avLst/>
          </a:prstGeom>
          <a:noFill/>
        </p:spPr>
        <p:txBody>
          <a:bodyPr wrap="square">
            <a:spAutoFit/>
          </a:bodyPr>
          <a:lstStyle/>
          <a:p>
            <a:pPr algn="l">
              <a:defRPr sz="1400" b="0">
                <a:solidFill>
                  <a:srgbClr val="A8BDD4"/>
                </a:solidFill>
                <a:latin typeface="Calibri"/>
              </a:defRPr>
            </a:pPr>
            <a:r>
              <a:t>Query capacity utilisation metrics or support front-line workers with documented solutions. If unresolved, the bot creates an SAP PM maintenance order automatically from the chat conversation.</a:t>
            </a:r>
          </a:p>
        </p:txBody>
      </p:sp>
      <p:sp>
        <p:nvSpPr>
          <p:cNvPr id="8" name="TextBox 7"/>
          <p:cNvSpPr txBox="1"/>
          <p:nvPr/>
        </p:nvSpPr>
        <p:spPr>
          <a:xfrm>
            <a:off x="502920" y="3383280"/>
            <a:ext cx="1828800" cy="274320"/>
          </a:xfrm>
          <a:prstGeom prst="rect">
            <a:avLst/>
          </a:prstGeom>
          <a:noFill/>
        </p:spPr>
        <p:txBody>
          <a:bodyPr wrap="square">
            <a:spAutoFit/>
          </a:bodyPr>
          <a:lstStyle/>
          <a:p>
            <a:pPr algn="l">
              <a:defRPr sz="1300" b="1">
                <a:solidFill>
                  <a:srgbClr val="3D506E"/>
                </a:solidFill>
                <a:latin typeface="Calibri"/>
              </a:defRPr>
            </a:pPr>
            <a:r>
              <a:t>KEY BENEFITS</a:t>
            </a:r>
          </a:p>
        </p:txBody>
      </p:sp>
      <p:sp>
        <p:nvSpPr>
          <p:cNvPr id="9" name="TextBox 8"/>
          <p:cNvSpPr txBox="1"/>
          <p:nvPr/>
        </p:nvSpPr>
        <p:spPr>
          <a:xfrm>
            <a:off x="731520" y="3703320"/>
            <a:ext cx="4754880" cy="365760"/>
          </a:xfrm>
          <a:prstGeom prst="rect">
            <a:avLst/>
          </a:prstGeom>
          <a:noFill/>
        </p:spPr>
        <p:txBody>
          <a:bodyPr wrap="square">
            <a:spAutoFit/>
          </a:bodyPr>
          <a:lstStyle/>
          <a:p>
            <a:pPr algn="l">
              <a:defRPr sz="1300" b="0">
                <a:solidFill>
                  <a:srgbClr val="A8BDD4"/>
                </a:solidFill>
                <a:latin typeface="Calibri"/>
              </a:defRPr>
            </a:pPr>
            <a:r>
              <a:t>✓  Reduces mean-time-to-repair significantly</a:t>
            </a:r>
          </a:p>
        </p:txBody>
      </p:sp>
      <p:sp>
        <p:nvSpPr>
          <p:cNvPr id="10" name="TextBox 9"/>
          <p:cNvSpPr txBox="1"/>
          <p:nvPr/>
        </p:nvSpPr>
        <p:spPr>
          <a:xfrm>
            <a:off x="502920" y="3703320"/>
            <a:ext cx="228600" cy="365760"/>
          </a:xfrm>
          <a:prstGeom prst="rect">
            <a:avLst/>
          </a:prstGeom>
          <a:noFill/>
        </p:spPr>
        <p:txBody>
          <a:bodyPr wrap="square">
            <a:spAutoFit/>
          </a:bodyPr>
          <a:lstStyle/>
          <a:p>
            <a:pPr algn="l">
              <a:defRPr sz="1300" b="1">
                <a:solidFill>
                  <a:srgbClr val="F5A623"/>
                </a:solidFill>
                <a:latin typeface="Calibri"/>
              </a:defRPr>
            </a:pPr>
            <a:r>
              <a:t>✓</a:t>
            </a:r>
          </a:p>
        </p:txBody>
      </p:sp>
      <p:sp>
        <p:nvSpPr>
          <p:cNvPr id="11" name="TextBox 10"/>
          <p:cNvSpPr txBox="1"/>
          <p:nvPr/>
        </p:nvSpPr>
        <p:spPr>
          <a:xfrm>
            <a:off x="731520" y="4087368"/>
            <a:ext cx="4754880" cy="365760"/>
          </a:xfrm>
          <a:prstGeom prst="rect">
            <a:avLst/>
          </a:prstGeom>
          <a:noFill/>
        </p:spPr>
        <p:txBody>
          <a:bodyPr wrap="square">
            <a:spAutoFit/>
          </a:bodyPr>
          <a:lstStyle/>
          <a:p>
            <a:pPr algn="l">
              <a:defRPr sz="1300" b="0">
                <a:solidFill>
                  <a:srgbClr val="A8BDD4"/>
                </a:solidFill>
                <a:latin typeface="Calibri"/>
              </a:defRPr>
            </a:pPr>
            <a:r>
              <a:t>✓  New operators access decades of machinery knowledge instantly</a:t>
            </a:r>
          </a:p>
        </p:txBody>
      </p:sp>
      <p:sp>
        <p:nvSpPr>
          <p:cNvPr id="12" name="TextBox 11"/>
          <p:cNvSpPr txBox="1"/>
          <p:nvPr/>
        </p:nvSpPr>
        <p:spPr>
          <a:xfrm>
            <a:off x="502920" y="4087368"/>
            <a:ext cx="228600" cy="365760"/>
          </a:xfrm>
          <a:prstGeom prst="rect">
            <a:avLst/>
          </a:prstGeom>
          <a:noFill/>
        </p:spPr>
        <p:txBody>
          <a:bodyPr wrap="square">
            <a:spAutoFit/>
          </a:bodyPr>
          <a:lstStyle/>
          <a:p>
            <a:pPr algn="l">
              <a:defRPr sz="1300" b="1">
                <a:solidFill>
                  <a:srgbClr val="F5A623"/>
                </a:solidFill>
                <a:latin typeface="Calibri"/>
              </a:defRPr>
            </a:pPr>
            <a:r>
              <a:t>✓</a:t>
            </a:r>
          </a:p>
        </p:txBody>
      </p:sp>
      <p:sp>
        <p:nvSpPr>
          <p:cNvPr id="13" name="TextBox 12"/>
          <p:cNvSpPr txBox="1"/>
          <p:nvPr/>
        </p:nvSpPr>
        <p:spPr>
          <a:xfrm>
            <a:off x="731520" y="4471416"/>
            <a:ext cx="4754880" cy="365760"/>
          </a:xfrm>
          <a:prstGeom prst="rect">
            <a:avLst/>
          </a:prstGeom>
          <a:noFill/>
        </p:spPr>
        <p:txBody>
          <a:bodyPr wrap="square">
            <a:spAutoFit/>
          </a:bodyPr>
          <a:lstStyle/>
          <a:p>
            <a:pPr algn="l">
              <a:defRPr sz="1300" b="0">
                <a:solidFill>
                  <a:srgbClr val="A8BDD4"/>
                </a:solidFill>
                <a:latin typeface="Calibri"/>
              </a:defRPr>
            </a:pPr>
            <a:r>
              <a:t>✓  Every incident logged automatically in SAP PM</a:t>
            </a:r>
          </a:p>
        </p:txBody>
      </p:sp>
      <p:sp>
        <p:nvSpPr>
          <p:cNvPr id="14" name="TextBox 13"/>
          <p:cNvSpPr txBox="1"/>
          <p:nvPr/>
        </p:nvSpPr>
        <p:spPr>
          <a:xfrm>
            <a:off x="502920" y="4471416"/>
            <a:ext cx="228600" cy="365760"/>
          </a:xfrm>
          <a:prstGeom prst="rect">
            <a:avLst/>
          </a:prstGeom>
          <a:noFill/>
        </p:spPr>
        <p:txBody>
          <a:bodyPr wrap="square">
            <a:spAutoFit/>
          </a:bodyPr>
          <a:lstStyle/>
          <a:p>
            <a:pPr algn="l">
              <a:defRPr sz="1300" b="1">
                <a:solidFill>
                  <a:srgbClr val="F5A623"/>
                </a:solidFill>
                <a:latin typeface="Calibri"/>
              </a:defRPr>
            </a:pPr>
            <a:r>
              <a:t>✓</a:t>
            </a:r>
          </a:p>
        </p:txBody>
      </p:sp>
      <p:sp>
        <p:nvSpPr>
          <p:cNvPr id="15" name="TextBox 14"/>
          <p:cNvSpPr txBox="1"/>
          <p:nvPr/>
        </p:nvSpPr>
        <p:spPr>
          <a:xfrm>
            <a:off x="731520" y="4855464"/>
            <a:ext cx="4754880" cy="365760"/>
          </a:xfrm>
          <a:prstGeom prst="rect">
            <a:avLst/>
          </a:prstGeom>
          <a:noFill/>
        </p:spPr>
        <p:txBody>
          <a:bodyPr wrap="square">
            <a:spAutoFit/>
          </a:bodyPr>
          <a:lstStyle/>
          <a:p>
            <a:pPr algn="l">
              <a:defRPr sz="1300" b="0">
                <a:solidFill>
                  <a:srgbClr val="A8BDD4"/>
                </a:solidFill>
                <a:latin typeface="Calibri"/>
              </a:defRPr>
            </a:pPr>
            <a:r>
              <a:t>✓  Managers query utilisation: factory output vs. plan</a:t>
            </a:r>
          </a:p>
        </p:txBody>
      </p:sp>
      <p:sp>
        <p:nvSpPr>
          <p:cNvPr id="16" name="TextBox 15"/>
          <p:cNvSpPr txBox="1"/>
          <p:nvPr/>
        </p:nvSpPr>
        <p:spPr>
          <a:xfrm>
            <a:off x="502920" y="4855464"/>
            <a:ext cx="228600" cy="365760"/>
          </a:xfrm>
          <a:prstGeom prst="rect">
            <a:avLst/>
          </a:prstGeom>
          <a:noFill/>
        </p:spPr>
        <p:txBody>
          <a:bodyPr wrap="square">
            <a:spAutoFit/>
          </a:bodyPr>
          <a:lstStyle/>
          <a:p>
            <a:pPr algn="l">
              <a:defRPr sz="1300" b="1">
                <a:solidFill>
                  <a:srgbClr val="F5A623"/>
                </a:solidFill>
                <a:latin typeface="Calibri"/>
              </a:defRPr>
            </a:pPr>
            <a:r>
              <a:t>✓</a:t>
            </a:r>
          </a:p>
        </p:txBody>
      </p:sp>
      <p:sp>
        <p:nvSpPr>
          <p:cNvPr id="17" name="Rectangle 16"/>
          <p:cNvSpPr/>
          <p:nvPr/>
        </p:nvSpPr>
        <p:spPr>
          <a:xfrm>
            <a:off x="6095390" y="0"/>
            <a:ext cx="9144" cy="6858000"/>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0" y="914400"/>
            <a:ext cx="5303520" cy="3474720"/>
          </a:xfrm>
          <a:prstGeom prst="roundRect">
            <a:avLst>
              <a:gd name="adj" fmla="val 5000"/>
            </a:avLst>
          </a:prstGeom>
          <a:solidFill>
            <a:srgbClr val="0D1220"/>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914400"/>
            <a:ext cx="5303520" cy="4572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0" y="960120"/>
            <a:ext cx="3657600" cy="365760"/>
          </a:xfrm>
          <a:prstGeom prst="rect">
            <a:avLst/>
          </a:prstGeom>
          <a:noFill/>
        </p:spPr>
        <p:txBody>
          <a:bodyPr wrap="square">
            <a:spAutoFit/>
          </a:bodyPr>
          <a:lstStyle/>
          <a:p>
            <a:pPr algn="l">
              <a:defRPr sz="1400" b="1">
                <a:solidFill>
                  <a:srgbClr val="6B7FA3"/>
                </a:solidFill>
                <a:latin typeface="Calibri"/>
              </a:defRPr>
            </a:pPr>
            <a:r>
              <a:t>⚙️  SAP Operations Agent</a:t>
            </a:r>
          </a:p>
        </p:txBody>
      </p:sp>
      <p:sp>
        <p:nvSpPr>
          <p:cNvPr id="21" name="Rounded Rectangle 20"/>
          <p:cNvSpPr/>
          <p:nvPr/>
        </p:nvSpPr>
        <p:spPr>
          <a:xfrm>
            <a:off x="7132320" y="1554480"/>
            <a:ext cx="4389120" cy="548640"/>
          </a:xfrm>
          <a:prstGeom prst="roundRect">
            <a:avLst>
              <a:gd name="adj" fmla="val 5000"/>
            </a:avLst>
          </a:prstGeom>
          <a:solidFill>
            <a:srgbClr val="332A1F"/>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1581912"/>
            <a:ext cx="4023360" cy="502920"/>
          </a:xfrm>
          <a:prstGeom prst="rect">
            <a:avLst/>
          </a:prstGeom>
          <a:noFill/>
        </p:spPr>
        <p:txBody>
          <a:bodyPr wrap="square">
            <a:spAutoFit/>
          </a:bodyPr>
          <a:lstStyle/>
          <a:p>
            <a:pPr algn="l">
              <a:defRPr sz="1200" b="0">
                <a:solidFill>
                  <a:srgbClr val="E8EDF5"/>
                </a:solidFill>
                <a:latin typeface="Calibri"/>
              </a:defRPr>
            </a:pPr>
            <a:r>
              <a:t>Machine line 3 is showing vibration errors. What should I check?</a:t>
            </a:r>
          </a:p>
        </p:txBody>
      </p:sp>
      <p:sp>
        <p:nvSpPr>
          <p:cNvPr id="23" name="Rounded Rectangle 22"/>
          <p:cNvSpPr/>
          <p:nvPr/>
        </p:nvSpPr>
        <p:spPr>
          <a:xfrm>
            <a:off x="6537960" y="2240280"/>
            <a:ext cx="502920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2286000"/>
            <a:ext cx="2743200" cy="274320"/>
          </a:xfrm>
          <a:prstGeom prst="rect">
            <a:avLst/>
          </a:prstGeom>
          <a:noFill/>
        </p:spPr>
        <p:txBody>
          <a:bodyPr wrap="square">
            <a:spAutoFit/>
          </a:bodyPr>
          <a:lstStyle/>
          <a:p>
            <a:pPr algn="l">
              <a:defRPr sz="1100" b="1">
                <a:solidFill>
                  <a:srgbClr val="F5A623"/>
                </a:solidFill>
                <a:latin typeface="Calibri"/>
              </a:defRPr>
            </a:pPr>
            <a:r>
              <a:t>✦ SAP AGENT</a:t>
            </a:r>
          </a:p>
        </p:txBody>
      </p:sp>
      <p:sp>
        <p:nvSpPr>
          <p:cNvPr id="25" name="TextBox 24"/>
          <p:cNvSpPr txBox="1"/>
          <p:nvPr/>
        </p:nvSpPr>
        <p:spPr>
          <a:xfrm>
            <a:off x="6675120" y="2606040"/>
            <a:ext cx="4754880" cy="1554480"/>
          </a:xfrm>
          <a:prstGeom prst="rect">
            <a:avLst/>
          </a:prstGeom>
          <a:noFill/>
        </p:spPr>
        <p:txBody>
          <a:bodyPr wrap="square">
            <a:spAutoFit/>
          </a:bodyPr>
          <a:lstStyle/>
          <a:p>
            <a:pPr algn="l">
              <a:defRPr sz="1100" b="0">
                <a:solidFill>
                  <a:srgbClr val="A8BDD4"/>
                </a:solidFill>
                <a:latin typeface="Consolas"/>
              </a:defRPr>
            </a:pPr>
            <a:r>
              <a:t>Based on Manual v4.2 §7.3:</a:t>
            </a:r>
            <a:br/>
            <a:r>
              <a:t>✓ Check bearing lubrication</a:t>
            </a:r>
            <a:br/>
            <a:r>
              <a:t>✓ Inspect coupling alignment</a:t>
            </a:r>
            <a:br/>
            <a:r>
              <a:t>✓ Review sensor calibration log</a:t>
            </a:r>
            <a:br/>
            <a:br/>
            <a:r>
              <a:t>Unresolved? Reply 'yes' to create PM order</a:t>
            </a:r>
          </a:p>
        </p:txBody>
      </p:sp>
      <p:sp>
        <p:nvSpPr>
          <p:cNvPr id="26" name="TextBox 25"/>
          <p:cNvSpPr txBox="1"/>
          <p:nvPr/>
        </p:nvSpPr>
        <p:spPr>
          <a:xfrm>
            <a:off x="6400800" y="4663440"/>
            <a:ext cx="2743200" cy="274320"/>
          </a:xfrm>
          <a:prstGeom prst="rect">
            <a:avLst/>
          </a:prstGeom>
          <a:noFill/>
        </p:spPr>
        <p:txBody>
          <a:bodyPr wrap="square">
            <a:spAutoFit/>
          </a:bodyPr>
          <a:lstStyle/>
          <a:p>
            <a:pPr algn="l">
              <a:defRPr sz="1300" b="1">
                <a:solidFill>
                  <a:srgbClr val="3D506E"/>
                </a:solidFill>
                <a:latin typeface="Calibri"/>
              </a:defRPr>
            </a:pPr>
            <a:r>
              <a:t>SAP DATA ACCESSED</a:t>
            </a:r>
          </a:p>
        </p:txBody>
      </p:sp>
      <p:sp>
        <p:nvSpPr>
          <p:cNvPr id="27" name="Rounded Rectangle 26"/>
          <p:cNvSpPr/>
          <p:nvPr/>
        </p:nvSpPr>
        <p:spPr>
          <a:xfrm>
            <a:off x="6400800" y="4983480"/>
            <a:ext cx="2061972"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5001768"/>
            <a:ext cx="1915668" cy="256032"/>
          </a:xfrm>
          <a:prstGeom prst="rect">
            <a:avLst/>
          </a:prstGeom>
          <a:noFill/>
        </p:spPr>
        <p:txBody>
          <a:bodyPr wrap="square">
            <a:spAutoFit/>
          </a:bodyPr>
          <a:lstStyle/>
          <a:p>
            <a:pPr algn="l">
              <a:defRPr sz="1100" b="0">
                <a:solidFill>
                  <a:srgbClr val="A8BDD4"/>
                </a:solidFill>
                <a:latin typeface="Consolas"/>
              </a:defRPr>
            </a:pPr>
            <a:r>
              <a:t>PM Notifications (IW21)</a:t>
            </a:r>
          </a:p>
        </p:txBody>
      </p:sp>
      <p:sp>
        <p:nvSpPr>
          <p:cNvPr id="29" name="Rounded Rectangle 28"/>
          <p:cNvSpPr/>
          <p:nvPr/>
        </p:nvSpPr>
        <p:spPr>
          <a:xfrm>
            <a:off x="8554212" y="4983480"/>
            <a:ext cx="2061972"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27364" y="5001768"/>
            <a:ext cx="1915668" cy="256032"/>
          </a:xfrm>
          <a:prstGeom prst="rect">
            <a:avLst/>
          </a:prstGeom>
          <a:noFill/>
        </p:spPr>
        <p:txBody>
          <a:bodyPr wrap="square">
            <a:spAutoFit/>
          </a:bodyPr>
          <a:lstStyle/>
          <a:p>
            <a:pPr algn="l">
              <a:defRPr sz="1100" b="0">
                <a:solidFill>
                  <a:srgbClr val="A8BDD4"/>
                </a:solidFill>
                <a:latin typeface="Consolas"/>
              </a:defRPr>
            </a:pPr>
            <a:r>
              <a:t>Equipment Master (EQUI)</a:t>
            </a:r>
          </a:p>
        </p:txBody>
      </p:sp>
      <p:sp>
        <p:nvSpPr>
          <p:cNvPr id="31" name="Rounded Rectangle 30"/>
          <p:cNvSpPr/>
          <p:nvPr/>
        </p:nvSpPr>
        <p:spPr>
          <a:xfrm>
            <a:off x="6400800" y="5330952"/>
            <a:ext cx="2139696"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3952" y="5349240"/>
            <a:ext cx="1993392" cy="256032"/>
          </a:xfrm>
          <a:prstGeom prst="rect">
            <a:avLst/>
          </a:prstGeom>
          <a:noFill/>
        </p:spPr>
        <p:txBody>
          <a:bodyPr wrap="square">
            <a:spAutoFit/>
          </a:bodyPr>
          <a:lstStyle/>
          <a:p>
            <a:pPr algn="l">
              <a:defRPr sz="1100" b="0">
                <a:solidFill>
                  <a:srgbClr val="A8BDD4"/>
                </a:solidFill>
                <a:latin typeface="Consolas"/>
              </a:defRPr>
            </a:pPr>
            <a:r>
              <a:t>Production Orders (AUFK)</a:t>
            </a:r>
          </a:p>
        </p:txBody>
      </p:sp>
      <p:sp>
        <p:nvSpPr>
          <p:cNvPr id="33" name="Rounded Rectangle 32"/>
          <p:cNvSpPr/>
          <p:nvPr/>
        </p:nvSpPr>
        <p:spPr>
          <a:xfrm>
            <a:off x="8631936" y="5330952"/>
            <a:ext cx="1984248"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05088" y="5349240"/>
            <a:ext cx="1837944" cy="256032"/>
          </a:xfrm>
          <a:prstGeom prst="rect">
            <a:avLst/>
          </a:prstGeom>
          <a:noFill/>
        </p:spPr>
        <p:txBody>
          <a:bodyPr wrap="square">
            <a:spAutoFit/>
          </a:bodyPr>
          <a:lstStyle/>
          <a:p>
            <a:pPr algn="l">
              <a:defRPr sz="1100" b="0">
                <a:solidFill>
                  <a:srgbClr val="A8BDD4"/>
                </a:solidFill>
                <a:latin typeface="Consolas"/>
              </a:defRPr>
            </a:pPr>
            <a:r>
              <a:t>Capacity Tables (CRTX)</a:t>
            </a:r>
          </a:p>
        </p:txBody>
      </p:sp>
      <p:sp>
        <p:nvSpPr>
          <p:cNvPr id="35" name="TextBox 34"/>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868680"/>
            <a:ext cx="2011680" cy="320040"/>
          </a:xfrm>
          <a:prstGeom prst="roundRect">
            <a:avLst>
              <a:gd name="adj" fmla="val 50000"/>
            </a:avLst>
          </a:prstGeom>
          <a:solidFill>
            <a:srgbClr val="332A1F"/>
          </a:solidFill>
          <a:ln w="12700">
            <a:solidFill>
              <a:srgbClr val="483822"/>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5A623"/>
                </a:solidFill>
              </a:defRPr>
            </a:pPr>
            <a:r>
              <a:t>⚙️ Operations</a:t>
            </a:r>
          </a:p>
        </p:txBody>
      </p:sp>
      <p:sp>
        <p:nvSpPr>
          <p:cNvPr id="5" name="TextBox 4"/>
          <p:cNvSpPr txBox="1"/>
          <p:nvPr/>
        </p:nvSpPr>
        <p:spPr>
          <a:xfrm>
            <a:off x="2651759" y="841248"/>
            <a:ext cx="3657600" cy="411480"/>
          </a:xfrm>
          <a:prstGeom prst="rect">
            <a:avLst/>
          </a:prstGeom>
          <a:noFill/>
        </p:spPr>
        <p:txBody>
          <a:bodyPr wrap="square">
            <a:spAutoFit/>
          </a:bodyPr>
          <a:lstStyle/>
          <a:p>
            <a:pPr algn="l">
              <a:defRPr sz="2400" b="1">
                <a:solidFill>
                  <a:srgbClr val="E8EDF5"/>
                </a:solidFill>
                <a:latin typeface="Calibri"/>
              </a:defRPr>
            </a:pPr>
            <a:r>
              <a:t>Implementation Guide</a:t>
            </a:r>
          </a:p>
        </p:txBody>
      </p:sp>
      <p:sp>
        <p:nvSpPr>
          <p:cNvPr id="6" name="Rounded Rectangle 5"/>
          <p:cNvSpPr/>
          <p:nvPr/>
        </p:nvSpPr>
        <p:spPr>
          <a:xfrm>
            <a:off x="502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45920"/>
            <a:ext cx="320040" cy="320040"/>
          </a:xfrm>
          <a:prstGeom prst="roundRect">
            <a:avLst>
              <a:gd name="adj" fmla="val 15000"/>
            </a:avLst>
          </a:prstGeom>
          <a:solidFill>
            <a:srgbClr val="3C3021"/>
          </a:solidFill>
          <a:ln>
            <a:solidFill>
              <a:srgbClr val="483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5A623"/>
                </a:solidFill>
              </a:defRPr>
            </a:pPr>
            <a:r>
              <a:t>1</a:t>
            </a:r>
          </a:p>
        </p:txBody>
      </p:sp>
      <p:sp>
        <p:nvSpPr>
          <p:cNvPr id="8" name="TextBox 7"/>
          <p:cNvSpPr txBox="1"/>
          <p:nvPr/>
        </p:nvSpPr>
        <p:spPr>
          <a:xfrm>
            <a:off x="685800" y="2103120"/>
            <a:ext cx="1783080" cy="548640"/>
          </a:xfrm>
          <a:prstGeom prst="rect">
            <a:avLst/>
          </a:prstGeom>
          <a:noFill/>
        </p:spPr>
        <p:txBody>
          <a:bodyPr wrap="square">
            <a:spAutoFit/>
          </a:bodyPr>
          <a:lstStyle/>
          <a:p>
            <a:pPr algn="l">
              <a:defRPr sz="1600" b="1">
                <a:solidFill>
                  <a:srgbClr val="E8EDF5"/>
                </a:solidFill>
                <a:latin typeface="Calibri"/>
              </a:defRPr>
            </a:pPr>
            <a:r>
              <a:t>Index docs in Azure Search</a:t>
            </a:r>
          </a:p>
        </p:txBody>
      </p:sp>
      <p:sp>
        <p:nvSpPr>
          <p:cNvPr id="9" name="TextBox 8"/>
          <p:cNvSpPr txBox="1"/>
          <p:nvPr/>
        </p:nvSpPr>
        <p:spPr>
          <a:xfrm>
            <a:off x="685800" y="2651760"/>
            <a:ext cx="1783080" cy="3108960"/>
          </a:xfrm>
          <a:prstGeom prst="rect">
            <a:avLst/>
          </a:prstGeom>
          <a:noFill/>
        </p:spPr>
        <p:txBody>
          <a:bodyPr wrap="square">
            <a:spAutoFit/>
          </a:bodyPr>
          <a:lstStyle/>
          <a:p>
            <a:pPr algn="l">
              <a:defRPr sz="1300" b="0">
                <a:solidFill>
                  <a:srgbClr val="6B7FA3"/>
                </a:solidFill>
                <a:latin typeface="Calibri"/>
              </a:defRPr>
            </a:pPr>
            <a:r>
              <a:t>Upload equipment manuals as PDFs. Build an Azure Cognitive Search index and embed a retrieval step in the Power Automate flow.</a:t>
            </a:r>
          </a:p>
        </p:txBody>
      </p:sp>
      <p:sp>
        <p:nvSpPr>
          <p:cNvPr id="10" name="TextBox 9"/>
          <p:cNvSpPr txBox="1"/>
          <p:nvPr/>
        </p:nvSpPr>
        <p:spPr>
          <a:xfrm>
            <a:off x="1920240" y="5212080"/>
            <a:ext cx="640080" cy="731520"/>
          </a:xfrm>
          <a:prstGeom prst="rect">
            <a:avLst/>
          </a:prstGeom>
          <a:noFill/>
        </p:spPr>
        <p:txBody>
          <a:bodyPr wrap="square">
            <a:spAutoFit/>
          </a:bodyPr>
          <a:lstStyle/>
          <a:p>
            <a:pPr algn="r">
              <a:defRPr sz="5400" b="1">
                <a:solidFill>
                  <a:srgbClr val="1B2131"/>
                </a:solidFill>
                <a:latin typeface="Calibri"/>
              </a:defRPr>
            </a:pPr>
            <a:r>
              <a:t>1</a:t>
            </a:r>
          </a:p>
        </p:txBody>
      </p:sp>
      <p:sp>
        <p:nvSpPr>
          <p:cNvPr id="11" name="Rounded Rectangle 10"/>
          <p:cNvSpPr/>
          <p:nvPr/>
        </p:nvSpPr>
        <p:spPr>
          <a:xfrm>
            <a:off x="2788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71800" y="1645920"/>
            <a:ext cx="320040" cy="320040"/>
          </a:xfrm>
          <a:prstGeom prst="roundRect">
            <a:avLst>
              <a:gd name="adj" fmla="val 15000"/>
            </a:avLst>
          </a:prstGeom>
          <a:solidFill>
            <a:srgbClr val="3C3021"/>
          </a:solidFill>
          <a:ln>
            <a:solidFill>
              <a:srgbClr val="483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5A623"/>
                </a:solidFill>
              </a:defRPr>
            </a:pPr>
            <a:r>
              <a:t>2</a:t>
            </a:r>
          </a:p>
        </p:txBody>
      </p:sp>
      <p:sp>
        <p:nvSpPr>
          <p:cNvPr id="13" name="TextBox 12"/>
          <p:cNvSpPr txBox="1"/>
          <p:nvPr/>
        </p:nvSpPr>
        <p:spPr>
          <a:xfrm>
            <a:off x="2971800" y="2103120"/>
            <a:ext cx="1783080" cy="548640"/>
          </a:xfrm>
          <a:prstGeom prst="rect">
            <a:avLst/>
          </a:prstGeom>
          <a:noFill/>
        </p:spPr>
        <p:txBody>
          <a:bodyPr wrap="square">
            <a:spAutoFit/>
          </a:bodyPr>
          <a:lstStyle/>
          <a:p>
            <a:pPr algn="l">
              <a:defRPr sz="1600" b="1">
                <a:solidFill>
                  <a:srgbClr val="E8EDF5"/>
                </a:solidFill>
                <a:latin typeface="Calibri"/>
              </a:defRPr>
            </a:pPr>
            <a:r>
              <a:t>Build an intent router</a:t>
            </a:r>
          </a:p>
        </p:txBody>
      </p:sp>
      <p:sp>
        <p:nvSpPr>
          <p:cNvPr id="14" name="TextBox 13"/>
          <p:cNvSpPr txBox="1"/>
          <p:nvPr/>
        </p:nvSpPr>
        <p:spPr>
          <a:xfrm>
            <a:off x="2971800" y="2651760"/>
            <a:ext cx="1783080" cy="3108960"/>
          </a:xfrm>
          <a:prstGeom prst="rect">
            <a:avLst/>
          </a:prstGeom>
          <a:noFill/>
        </p:spPr>
        <p:txBody>
          <a:bodyPr wrap="square">
            <a:spAutoFit/>
          </a:bodyPr>
          <a:lstStyle/>
          <a:p>
            <a:pPr algn="l">
              <a:defRPr sz="1300" b="0">
                <a:solidFill>
                  <a:srgbClr val="6B7FA3"/>
                </a:solidFill>
                <a:latin typeface="Calibri"/>
              </a:defRPr>
            </a:pPr>
            <a:r>
              <a:t>Classify the user's intent: analytics query → SQL path; operational problem → doc search path. PVA topics or a classifier prompt handles routing.</a:t>
            </a:r>
          </a:p>
        </p:txBody>
      </p:sp>
      <p:sp>
        <p:nvSpPr>
          <p:cNvPr id="15" name="TextBox 14"/>
          <p:cNvSpPr txBox="1"/>
          <p:nvPr/>
        </p:nvSpPr>
        <p:spPr>
          <a:xfrm>
            <a:off x="4206240" y="5212080"/>
            <a:ext cx="640080" cy="731520"/>
          </a:xfrm>
          <a:prstGeom prst="rect">
            <a:avLst/>
          </a:prstGeom>
          <a:noFill/>
        </p:spPr>
        <p:txBody>
          <a:bodyPr wrap="square">
            <a:spAutoFit/>
          </a:bodyPr>
          <a:lstStyle/>
          <a:p>
            <a:pPr algn="r">
              <a:defRPr sz="5400" b="1">
                <a:solidFill>
                  <a:srgbClr val="1B2131"/>
                </a:solidFill>
                <a:latin typeface="Calibri"/>
              </a:defRPr>
            </a:pPr>
            <a:r>
              <a:t>2</a:t>
            </a:r>
          </a:p>
        </p:txBody>
      </p:sp>
      <p:sp>
        <p:nvSpPr>
          <p:cNvPr id="16" name="Rounded Rectangle 15"/>
          <p:cNvSpPr/>
          <p:nvPr/>
        </p:nvSpPr>
        <p:spPr>
          <a:xfrm>
            <a:off x="5074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257800" y="1645920"/>
            <a:ext cx="320040" cy="320040"/>
          </a:xfrm>
          <a:prstGeom prst="roundRect">
            <a:avLst>
              <a:gd name="adj" fmla="val 15000"/>
            </a:avLst>
          </a:prstGeom>
          <a:solidFill>
            <a:srgbClr val="3C3021"/>
          </a:solidFill>
          <a:ln>
            <a:solidFill>
              <a:srgbClr val="483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5A623"/>
                </a:solidFill>
              </a:defRPr>
            </a:pPr>
            <a:r>
              <a:t>3</a:t>
            </a:r>
          </a:p>
        </p:txBody>
      </p:sp>
      <p:sp>
        <p:nvSpPr>
          <p:cNvPr id="18" name="TextBox 17"/>
          <p:cNvSpPr txBox="1"/>
          <p:nvPr/>
        </p:nvSpPr>
        <p:spPr>
          <a:xfrm>
            <a:off x="5257800" y="2103120"/>
            <a:ext cx="1783080" cy="548640"/>
          </a:xfrm>
          <a:prstGeom prst="rect">
            <a:avLst/>
          </a:prstGeom>
          <a:noFill/>
        </p:spPr>
        <p:txBody>
          <a:bodyPr wrap="square">
            <a:spAutoFit/>
          </a:bodyPr>
          <a:lstStyle/>
          <a:p>
            <a:pPr algn="l">
              <a:defRPr sz="1600" b="1">
                <a:solidFill>
                  <a:srgbClr val="E8EDF5"/>
                </a:solidFill>
                <a:latin typeface="Calibri"/>
              </a:defRPr>
            </a:pPr>
            <a:r>
              <a:t>Dialog flow for PM orders</a:t>
            </a:r>
          </a:p>
        </p:txBody>
      </p:sp>
      <p:sp>
        <p:nvSpPr>
          <p:cNvPr id="19" name="TextBox 18"/>
          <p:cNvSpPr txBox="1"/>
          <p:nvPr/>
        </p:nvSpPr>
        <p:spPr>
          <a:xfrm>
            <a:off x="5257800" y="2651760"/>
            <a:ext cx="1783080" cy="3108960"/>
          </a:xfrm>
          <a:prstGeom prst="rect">
            <a:avLst/>
          </a:prstGeom>
          <a:noFill/>
        </p:spPr>
        <p:txBody>
          <a:bodyPr wrap="square">
            <a:spAutoFit/>
          </a:bodyPr>
          <a:lstStyle/>
          <a:p>
            <a:pPr algn="l">
              <a:defRPr sz="1300" b="0">
                <a:solidFill>
                  <a:srgbClr val="6B7FA3"/>
                </a:solidFill>
                <a:latin typeface="Calibri"/>
              </a:defRPr>
            </a:pPr>
            <a:r>
              <a:t>The bot must collect Equipment ID, problem description, and priority. Design a multi-turn dialog, then confirm before calling BAPI_ALM_ORDER_CREATE.</a:t>
            </a:r>
          </a:p>
        </p:txBody>
      </p:sp>
      <p:sp>
        <p:nvSpPr>
          <p:cNvPr id="20" name="TextBox 19"/>
          <p:cNvSpPr txBox="1"/>
          <p:nvPr/>
        </p:nvSpPr>
        <p:spPr>
          <a:xfrm>
            <a:off x="6492240" y="5212080"/>
            <a:ext cx="640080" cy="731520"/>
          </a:xfrm>
          <a:prstGeom prst="rect">
            <a:avLst/>
          </a:prstGeom>
          <a:noFill/>
        </p:spPr>
        <p:txBody>
          <a:bodyPr wrap="square">
            <a:spAutoFit/>
          </a:bodyPr>
          <a:lstStyle/>
          <a:p>
            <a:pPr algn="r">
              <a:defRPr sz="5400" b="1">
                <a:solidFill>
                  <a:srgbClr val="1B2131"/>
                </a:solidFill>
                <a:latin typeface="Calibri"/>
              </a:defRPr>
            </a:pPr>
            <a:r>
              <a:t>3</a:t>
            </a:r>
          </a:p>
        </p:txBody>
      </p:sp>
      <p:sp>
        <p:nvSpPr>
          <p:cNvPr id="21" name="Rounded Rectangle 20"/>
          <p:cNvSpPr/>
          <p:nvPr/>
        </p:nvSpPr>
        <p:spPr>
          <a:xfrm>
            <a:off x="7360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43800" y="1645920"/>
            <a:ext cx="320040" cy="320040"/>
          </a:xfrm>
          <a:prstGeom prst="roundRect">
            <a:avLst>
              <a:gd name="adj" fmla="val 15000"/>
            </a:avLst>
          </a:prstGeom>
          <a:solidFill>
            <a:srgbClr val="3C3021"/>
          </a:solidFill>
          <a:ln>
            <a:solidFill>
              <a:srgbClr val="483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5A623"/>
                </a:solidFill>
              </a:defRPr>
            </a:pPr>
            <a:r>
              <a:t>4</a:t>
            </a:r>
          </a:p>
        </p:txBody>
      </p:sp>
      <p:sp>
        <p:nvSpPr>
          <p:cNvPr id="23" name="TextBox 22"/>
          <p:cNvSpPr txBox="1"/>
          <p:nvPr/>
        </p:nvSpPr>
        <p:spPr>
          <a:xfrm>
            <a:off x="7543800" y="2103120"/>
            <a:ext cx="1783080" cy="548640"/>
          </a:xfrm>
          <a:prstGeom prst="rect">
            <a:avLst/>
          </a:prstGeom>
          <a:noFill/>
        </p:spPr>
        <p:txBody>
          <a:bodyPr wrap="square">
            <a:spAutoFit/>
          </a:bodyPr>
          <a:lstStyle/>
          <a:p>
            <a:pPr algn="l">
              <a:defRPr sz="1600" b="1">
                <a:solidFill>
                  <a:srgbClr val="E8EDF5"/>
                </a:solidFill>
                <a:latin typeface="Calibri"/>
              </a:defRPr>
            </a:pPr>
            <a:r>
              <a:t>Test in QA sandbox first</a:t>
            </a:r>
          </a:p>
        </p:txBody>
      </p:sp>
      <p:sp>
        <p:nvSpPr>
          <p:cNvPr id="24" name="TextBox 23"/>
          <p:cNvSpPr txBox="1"/>
          <p:nvPr/>
        </p:nvSpPr>
        <p:spPr>
          <a:xfrm>
            <a:off x="7543800" y="2651760"/>
            <a:ext cx="1783080" cy="3108960"/>
          </a:xfrm>
          <a:prstGeom prst="rect">
            <a:avLst/>
          </a:prstGeom>
          <a:noFill/>
        </p:spPr>
        <p:txBody>
          <a:bodyPr wrap="square">
            <a:spAutoFit/>
          </a:bodyPr>
          <a:lstStyle/>
          <a:p>
            <a:pPr algn="l">
              <a:defRPr sz="1300" b="0">
                <a:solidFill>
                  <a:srgbClr val="6B7FA3"/>
                </a:solidFill>
                <a:latin typeface="Calibri"/>
              </a:defRPr>
            </a:pPr>
            <a:r>
              <a:t>Validate the full cycle: operator asks question → correct doc snippet → PM order appears correctly in SAP QA. Check all required fields.</a:t>
            </a:r>
          </a:p>
        </p:txBody>
      </p:sp>
      <p:sp>
        <p:nvSpPr>
          <p:cNvPr id="25" name="TextBox 24"/>
          <p:cNvSpPr txBox="1"/>
          <p:nvPr/>
        </p:nvSpPr>
        <p:spPr>
          <a:xfrm>
            <a:off x="8778240" y="5212080"/>
            <a:ext cx="640080" cy="731520"/>
          </a:xfrm>
          <a:prstGeom prst="rect">
            <a:avLst/>
          </a:prstGeom>
          <a:noFill/>
        </p:spPr>
        <p:txBody>
          <a:bodyPr wrap="square">
            <a:spAutoFit/>
          </a:bodyPr>
          <a:lstStyle/>
          <a:p>
            <a:pPr algn="r">
              <a:defRPr sz="5400" b="1">
                <a:solidFill>
                  <a:srgbClr val="1B2131"/>
                </a:solidFill>
                <a:latin typeface="Calibri"/>
              </a:defRPr>
            </a:pPr>
            <a:r>
              <a:t>4</a:t>
            </a:r>
          </a:p>
        </p:txBody>
      </p:sp>
      <p:sp>
        <p:nvSpPr>
          <p:cNvPr id="26" name="Rounded Rectangle 25"/>
          <p:cNvSpPr/>
          <p:nvPr/>
        </p:nvSpPr>
        <p:spPr>
          <a:xfrm>
            <a:off x="9646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29800" y="1645920"/>
            <a:ext cx="320040" cy="320040"/>
          </a:xfrm>
          <a:prstGeom prst="roundRect">
            <a:avLst>
              <a:gd name="adj" fmla="val 15000"/>
            </a:avLst>
          </a:prstGeom>
          <a:solidFill>
            <a:srgbClr val="3C3021"/>
          </a:solidFill>
          <a:ln>
            <a:solidFill>
              <a:srgbClr val="483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5A623"/>
                </a:solidFill>
              </a:defRPr>
            </a:pPr>
            <a:r>
              <a:t>5</a:t>
            </a:r>
          </a:p>
        </p:txBody>
      </p:sp>
      <p:sp>
        <p:nvSpPr>
          <p:cNvPr id="28" name="TextBox 27"/>
          <p:cNvSpPr txBox="1"/>
          <p:nvPr/>
        </p:nvSpPr>
        <p:spPr>
          <a:xfrm>
            <a:off x="9829800" y="2103120"/>
            <a:ext cx="1783080" cy="548640"/>
          </a:xfrm>
          <a:prstGeom prst="rect">
            <a:avLst/>
          </a:prstGeom>
          <a:noFill/>
        </p:spPr>
        <p:txBody>
          <a:bodyPr wrap="square">
            <a:spAutoFit/>
          </a:bodyPr>
          <a:lstStyle/>
          <a:p>
            <a:pPr algn="l">
              <a:defRPr sz="1600" b="1">
                <a:solidFill>
                  <a:srgbClr val="E8EDF5"/>
                </a:solidFill>
                <a:latin typeface="Calibri"/>
              </a:defRPr>
            </a:pPr>
            <a:r>
              <a:t>Consider voice / mobile</a:t>
            </a:r>
          </a:p>
        </p:txBody>
      </p:sp>
      <p:sp>
        <p:nvSpPr>
          <p:cNvPr id="29" name="TextBox 28"/>
          <p:cNvSpPr txBox="1"/>
          <p:nvPr/>
        </p:nvSpPr>
        <p:spPr>
          <a:xfrm>
            <a:off x="9829800" y="2651760"/>
            <a:ext cx="1783080" cy="3108960"/>
          </a:xfrm>
          <a:prstGeom prst="rect">
            <a:avLst/>
          </a:prstGeom>
          <a:noFill/>
        </p:spPr>
        <p:txBody>
          <a:bodyPr wrap="square">
            <a:spAutoFit/>
          </a:bodyPr>
          <a:lstStyle/>
          <a:p>
            <a:pPr algn="l">
              <a:defRPr sz="1300" b="0">
                <a:solidFill>
                  <a:srgbClr val="6B7FA3"/>
                </a:solidFill>
                <a:latin typeface="Calibri"/>
              </a:defRPr>
            </a:pPr>
            <a:r>
              <a:t>Operators on the shop floor benefit from hands-free access. Teams mobile works today. Keep bot responses short and scannable.</a:t>
            </a:r>
          </a:p>
        </p:txBody>
      </p:sp>
      <p:sp>
        <p:nvSpPr>
          <p:cNvPr id="30" name="TextBox 29"/>
          <p:cNvSpPr txBox="1"/>
          <p:nvPr/>
        </p:nvSpPr>
        <p:spPr>
          <a:xfrm>
            <a:off x="11064240" y="5212080"/>
            <a:ext cx="640080" cy="731520"/>
          </a:xfrm>
          <a:prstGeom prst="rect">
            <a:avLst/>
          </a:prstGeom>
          <a:noFill/>
        </p:spPr>
        <p:txBody>
          <a:bodyPr wrap="square">
            <a:spAutoFit/>
          </a:bodyPr>
          <a:lstStyle/>
          <a:p>
            <a:pPr algn="r">
              <a:defRPr sz="5400" b="1">
                <a:solidFill>
                  <a:srgbClr val="1B2131"/>
                </a:solidFill>
                <a:latin typeface="Calibri"/>
              </a:defRPr>
            </a:pPr>
            <a:r>
              <a:t>5</a:t>
            </a:r>
          </a:p>
        </p:txBody>
      </p:sp>
      <p:sp>
        <p:nvSpPr>
          <p:cNvPr id="31" name="TextBox 30"/>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914400"/>
            <a:ext cx="1682495" cy="320040"/>
          </a:xfrm>
          <a:prstGeom prst="roundRect">
            <a:avLst>
              <a:gd name="adj" fmla="val 50000"/>
            </a:avLst>
          </a:prstGeom>
          <a:solidFill>
            <a:srgbClr val="17342F"/>
          </a:solidFill>
          <a:ln w="12700">
            <a:solidFill>
              <a:srgbClr val="1D463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ADE80"/>
                </a:solidFill>
              </a:defRPr>
            </a:pPr>
            <a:r>
              <a:t>💰 Finance</a:t>
            </a:r>
          </a:p>
        </p:txBody>
      </p:sp>
      <p:sp>
        <p:nvSpPr>
          <p:cNvPr id="5" name="TextBox 4"/>
          <p:cNvSpPr txBox="1"/>
          <p:nvPr/>
        </p:nvSpPr>
        <p:spPr>
          <a:xfrm>
            <a:off x="502920" y="5303520"/>
            <a:ext cx="1828800" cy="914400"/>
          </a:xfrm>
          <a:prstGeom prst="rect">
            <a:avLst/>
          </a:prstGeom>
          <a:noFill/>
        </p:spPr>
        <p:txBody>
          <a:bodyPr wrap="square">
            <a:spAutoFit/>
          </a:bodyPr>
          <a:lstStyle/>
          <a:p>
            <a:pPr algn="l">
              <a:defRPr sz="7200" b="1">
                <a:solidFill>
                  <a:srgbClr val="122526"/>
                </a:solidFill>
                <a:latin typeface="Calibri"/>
              </a:defRPr>
            </a:pPr>
            <a:r>
              <a:t>05</a:t>
            </a:r>
          </a:p>
        </p:txBody>
      </p:sp>
      <p:sp>
        <p:nvSpPr>
          <p:cNvPr id="6" name="TextBox 5"/>
          <p:cNvSpPr txBox="1"/>
          <p:nvPr/>
        </p:nvSpPr>
        <p:spPr>
          <a:xfrm>
            <a:off x="502920" y="1371600"/>
            <a:ext cx="5029200" cy="914400"/>
          </a:xfrm>
          <a:prstGeom prst="rect">
            <a:avLst/>
          </a:prstGeom>
          <a:noFill/>
        </p:spPr>
        <p:txBody>
          <a:bodyPr wrap="square">
            <a:spAutoFit/>
          </a:bodyPr>
          <a:lstStyle/>
          <a:p>
            <a:pPr algn="l">
              <a:defRPr sz="2800" b="1">
                <a:solidFill>
                  <a:srgbClr val="E8EDF5"/>
                </a:solidFill>
                <a:latin typeface="Calibri"/>
              </a:defRPr>
            </a:pPr>
            <a:r>
              <a:t>Financial Insights</a:t>
            </a:r>
            <a:br/>
            <a:r>
              <a:t>on Demand</a:t>
            </a:r>
          </a:p>
        </p:txBody>
      </p:sp>
      <p:sp>
        <p:nvSpPr>
          <p:cNvPr id="7" name="TextBox 6"/>
          <p:cNvSpPr txBox="1"/>
          <p:nvPr/>
        </p:nvSpPr>
        <p:spPr>
          <a:xfrm>
            <a:off x="502920" y="2286000"/>
            <a:ext cx="5029200" cy="1097280"/>
          </a:xfrm>
          <a:prstGeom prst="rect">
            <a:avLst/>
          </a:prstGeom>
          <a:noFill/>
        </p:spPr>
        <p:txBody>
          <a:bodyPr wrap="square">
            <a:spAutoFit/>
          </a:bodyPr>
          <a:lstStyle/>
          <a:p>
            <a:pPr algn="l">
              <a:defRPr sz="1400" b="0">
                <a:solidFill>
                  <a:srgbClr val="A8BDD4"/>
                </a:solidFill>
                <a:latin typeface="Calibri"/>
              </a:defRPr>
            </a:pPr>
            <a:r>
              <a:t>Executives and controllers get real-time P&amp;L, cash, CAPEX, and budget-vs-actual from SAP — by region, entity, product line, or project — without Fiori or BEx.</a:t>
            </a:r>
          </a:p>
        </p:txBody>
      </p:sp>
      <p:sp>
        <p:nvSpPr>
          <p:cNvPr id="8" name="TextBox 7"/>
          <p:cNvSpPr txBox="1"/>
          <p:nvPr/>
        </p:nvSpPr>
        <p:spPr>
          <a:xfrm>
            <a:off x="502920" y="3383280"/>
            <a:ext cx="1828800" cy="274320"/>
          </a:xfrm>
          <a:prstGeom prst="rect">
            <a:avLst/>
          </a:prstGeom>
          <a:noFill/>
        </p:spPr>
        <p:txBody>
          <a:bodyPr wrap="square">
            <a:spAutoFit/>
          </a:bodyPr>
          <a:lstStyle/>
          <a:p>
            <a:pPr algn="l">
              <a:defRPr sz="1300" b="1">
                <a:solidFill>
                  <a:srgbClr val="3D506E"/>
                </a:solidFill>
                <a:latin typeface="Calibri"/>
              </a:defRPr>
            </a:pPr>
            <a:r>
              <a:t>KEY BENEFITS</a:t>
            </a:r>
          </a:p>
        </p:txBody>
      </p:sp>
      <p:sp>
        <p:nvSpPr>
          <p:cNvPr id="9" name="TextBox 8"/>
          <p:cNvSpPr txBox="1"/>
          <p:nvPr/>
        </p:nvSpPr>
        <p:spPr>
          <a:xfrm>
            <a:off x="731520" y="3703320"/>
            <a:ext cx="4754880" cy="365760"/>
          </a:xfrm>
          <a:prstGeom prst="rect">
            <a:avLst/>
          </a:prstGeom>
          <a:noFill/>
        </p:spPr>
        <p:txBody>
          <a:bodyPr wrap="square">
            <a:spAutoFit/>
          </a:bodyPr>
          <a:lstStyle/>
          <a:p>
            <a:pPr algn="l">
              <a:defRPr sz="1300" b="0">
                <a:solidFill>
                  <a:srgbClr val="A8BDD4"/>
                </a:solidFill>
                <a:latin typeface="Calibri"/>
              </a:defRPr>
            </a:pPr>
            <a:r>
              <a:t>✓  Real-time figures during board meetings — no month-end wait</a:t>
            </a:r>
          </a:p>
        </p:txBody>
      </p:sp>
      <p:sp>
        <p:nvSpPr>
          <p:cNvPr id="10" name="TextBox 9"/>
          <p:cNvSpPr txBox="1"/>
          <p:nvPr/>
        </p:nvSpPr>
        <p:spPr>
          <a:xfrm>
            <a:off x="502920" y="3703320"/>
            <a:ext cx="228600" cy="365760"/>
          </a:xfrm>
          <a:prstGeom prst="rect">
            <a:avLst/>
          </a:prstGeom>
          <a:noFill/>
        </p:spPr>
        <p:txBody>
          <a:bodyPr wrap="square">
            <a:spAutoFit/>
          </a:bodyPr>
          <a:lstStyle/>
          <a:p>
            <a:pPr algn="l">
              <a:defRPr sz="1300" b="1">
                <a:solidFill>
                  <a:srgbClr val="4ADE80"/>
                </a:solidFill>
                <a:latin typeface="Calibri"/>
              </a:defRPr>
            </a:pPr>
            <a:r>
              <a:t>✓</a:t>
            </a:r>
          </a:p>
        </p:txBody>
      </p:sp>
      <p:sp>
        <p:nvSpPr>
          <p:cNvPr id="11" name="TextBox 10"/>
          <p:cNvSpPr txBox="1"/>
          <p:nvPr/>
        </p:nvSpPr>
        <p:spPr>
          <a:xfrm>
            <a:off x="731520" y="4087368"/>
            <a:ext cx="4754880" cy="365760"/>
          </a:xfrm>
          <a:prstGeom prst="rect">
            <a:avLst/>
          </a:prstGeom>
          <a:noFill/>
        </p:spPr>
        <p:txBody>
          <a:bodyPr wrap="square">
            <a:spAutoFit/>
          </a:bodyPr>
          <a:lstStyle/>
          <a:p>
            <a:pPr algn="l">
              <a:defRPr sz="1300" b="0">
                <a:solidFill>
                  <a:srgbClr val="A8BDD4"/>
                </a:solidFill>
                <a:latin typeface="Calibri"/>
              </a:defRPr>
            </a:pPr>
            <a:r>
              <a:t>✓  Non-finance execs self-serve metrics responsibly</a:t>
            </a:r>
          </a:p>
        </p:txBody>
      </p:sp>
      <p:sp>
        <p:nvSpPr>
          <p:cNvPr id="12" name="TextBox 11"/>
          <p:cNvSpPr txBox="1"/>
          <p:nvPr/>
        </p:nvSpPr>
        <p:spPr>
          <a:xfrm>
            <a:off x="502920" y="4087368"/>
            <a:ext cx="228600" cy="365760"/>
          </a:xfrm>
          <a:prstGeom prst="rect">
            <a:avLst/>
          </a:prstGeom>
          <a:noFill/>
        </p:spPr>
        <p:txBody>
          <a:bodyPr wrap="square">
            <a:spAutoFit/>
          </a:bodyPr>
          <a:lstStyle/>
          <a:p>
            <a:pPr algn="l">
              <a:defRPr sz="1300" b="1">
                <a:solidFill>
                  <a:srgbClr val="4ADE80"/>
                </a:solidFill>
                <a:latin typeface="Calibri"/>
              </a:defRPr>
            </a:pPr>
            <a:r>
              <a:t>✓</a:t>
            </a:r>
          </a:p>
        </p:txBody>
      </p:sp>
      <p:sp>
        <p:nvSpPr>
          <p:cNvPr id="13" name="TextBox 12"/>
          <p:cNvSpPr txBox="1"/>
          <p:nvPr/>
        </p:nvSpPr>
        <p:spPr>
          <a:xfrm>
            <a:off x="731520" y="4471416"/>
            <a:ext cx="4754880" cy="365760"/>
          </a:xfrm>
          <a:prstGeom prst="rect">
            <a:avLst/>
          </a:prstGeom>
          <a:noFill/>
        </p:spPr>
        <p:txBody>
          <a:bodyPr wrap="square">
            <a:spAutoFit/>
          </a:bodyPr>
          <a:lstStyle/>
          <a:p>
            <a:pPr algn="l">
              <a:defRPr sz="1300" b="0">
                <a:solidFill>
                  <a:srgbClr val="A8BDD4"/>
                </a:solidFill>
                <a:latin typeface="Calibri"/>
              </a:defRPr>
            </a:pPr>
            <a:r>
              <a:t>✓  Budget-vs-actual drill-down within a single conversation</a:t>
            </a:r>
          </a:p>
        </p:txBody>
      </p:sp>
      <p:sp>
        <p:nvSpPr>
          <p:cNvPr id="14" name="TextBox 13"/>
          <p:cNvSpPr txBox="1"/>
          <p:nvPr/>
        </p:nvSpPr>
        <p:spPr>
          <a:xfrm>
            <a:off x="502920" y="4471416"/>
            <a:ext cx="228600" cy="365760"/>
          </a:xfrm>
          <a:prstGeom prst="rect">
            <a:avLst/>
          </a:prstGeom>
          <a:noFill/>
        </p:spPr>
        <p:txBody>
          <a:bodyPr wrap="square">
            <a:spAutoFit/>
          </a:bodyPr>
          <a:lstStyle/>
          <a:p>
            <a:pPr algn="l">
              <a:defRPr sz="1300" b="1">
                <a:solidFill>
                  <a:srgbClr val="4ADE80"/>
                </a:solidFill>
                <a:latin typeface="Calibri"/>
              </a:defRPr>
            </a:pPr>
            <a:r>
              <a:t>✓</a:t>
            </a:r>
          </a:p>
        </p:txBody>
      </p:sp>
      <p:sp>
        <p:nvSpPr>
          <p:cNvPr id="15" name="TextBox 14"/>
          <p:cNvSpPr txBox="1"/>
          <p:nvPr/>
        </p:nvSpPr>
        <p:spPr>
          <a:xfrm>
            <a:off x="731520" y="4855464"/>
            <a:ext cx="4754880" cy="365760"/>
          </a:xfrm>
          <a:prstGeom prst="rect">
            <a:avLst/>
          </a:prstGeom>
          <a:noFill/>
        </p:spPr>
        <p:txBody>
          <a:bodyPr wrap="square">
            <a:spAutoFit/>
          </a:bodyPr>
          <a:lstStyle/>
          <a:p>
            <a:pPr algn="l">
              <a:defRPr sz="1300" b="0">
                <a:solidFill>
                  <a:srgbClr val="A8BDD4"/>
                </a:solidFill>
                <a:latin typeface="Calibri"/>
              </a:defRPr>
            </a:pPr>
            <a:r>
              <a:t>✓  24/7 availability for global leadership teams</a:t>
            </a:r>
          </a:p>
        </p:txBody>
      </p:sp>
      <p:sp>
        <p:nvSpPr>
          <p:cNvPr id="16" name="TextBox 15"/>
          <p:cNvSpPr txBox="1"/>
          <p:nvPr/>
        </p:nvSpPr>
        <p:spPr>
          <a:xfrm>
            <a:off x="502920" y="4855464"/>
            <a:ext cx="228600" cy="365760"/>
          </a:xfrm>
          <a:prstGeom prst="rect">
            <a:avLst/>
          </a:prstGeom>
          <a:noFill/>
        </p:spPr>
        <p:txBody>
          <a:bodyPr wrap="square">
            <a:spAutoFit/>
          </a:bodyPr>
          <a:lstStyle/>
          <a:p>
            <a:pPr algn="l">
              <a:defRPr sz="1300" b="1">
                <a:solidFill>
                  <a:srgbClr val="4ADE80"/>
                </a:solidFill>
                <a:latin typeface="Calibri"/>
              </a:defRPr>
            </a:pPr>
            <a:r>
              <a:t>✓</a:t>
            </a:r>
          </a:p>
        </p:txBody>
      </p:sp>
      <p:sp>
        <p:nvSpPr>
          <p:cNvPr id="17" name="Rectangle 16"/>
          <p:cNvSpPr/>
          <p:nvPr/>
        </p:nvSpPr>
        <p:spPr>
          <a:xfrm>
            <a:off x="6095390" y="0"/>
            <a:ext cx="9144" cy="6858000"/>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0" y="914400"/>
            <a:ext cx="5303520" cy="3474720"/>
          </a:xfrm>
          <a:prstGeom prst="roundRect">
            <a:avLst>
              <a:gd name="adj" fmla="val 5000"/>
            </a:avLst>
          </a:prstGeom>
          <a:solidFill>
            <a:srgbClr val="0D1220"/>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914400"/>
            <a:ext cx="5303520" cy="4572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0" y="960120"/>
            <a:ext cx="3657600" cy="365760"/>
          </a:xfrm>
          <a:prstGeom prst="rect">
            <a:avLst/>
          </a:prstGeom>
          <a:noFill/>
        </p:spPr>
        <p:txBody>
          <a:bodyPr wrap="square">
            <a:spAutoFit/>
          </a:bodyPr>
          <a:lstStyle/>
          <a:p>
            <a:pPr algn="l">
              <a:defRPr sz="1400" b="1">
                <a:solidFill>
                  <a:srgbClr val="6B7FA3"/>
                </a:solidFill>
                <a:latin typeface="Calibri"/>
              </a:defRPr>
            </a:pPr>
            <a:r>
              <a:t>💰  SAP Finance Agent</a:t>
            </a:r>
          </a:p>
        </p:txBody>
      </p:sp>
      <p:sp>
        <p:nvSpPr>
          <p:cNvPr id="21" name="Rounded Rectangle 20"/>
          <p:cNvSpPr/>
          <p:nvPr/>
        </p:nvSpPr>
        <p:spPr>
          <a:xfrm>
            <a:off x="7132320" y="1554480"/>
            <a:ext cx="4389120" cy="548640"/>
          </a:xfrm>
          <a:prstGeom prst="roundRect">
            <a:avLst>
              <a:gd name="adj" fmla="val 5000"/>
            </a:avLst>
          </a:prstGeom>
          <a:solidFill>
            <a:srgbClr val="17342F"/>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1581912"/>
            <a:ext cx="4023360" cy="502920"/>
          </a:xfrm>
          <a:prstGeom prst="rect">
            <a:avLst/>
          </a:prstGeom>
          <a:noFill/>
        </p:spPr>
        <p:txBody>
          <a:bodyPr wrap="square">
            <a:spAutoFit/>
          </a:bodyPr>
          <a:lstStyle/>
          <a:p>
            <a:pPr algn="l">
              <a:defRPr sz="1200" b="0">
                <a:solidFill>
                  <a:srgbClr val="E8EDF5"/>
                </a:solidFill>
                <a:latin typeface="Calibri"/>
              </a:defRPr>
            </a:pPr>
            <a:r>
              <a:t>What is our revenue and profit this quarter by region?</a:t>
            </a:r>
          </a:p>
        </p:txBody>
      </p:sp>
      <p:sp>
        <p:nvSpPr>
          <p:cNvPr id="23" name="Rounded Rectangle 22"/>
          <p:cNvSpPr/>
          <p:nvPr/>
        </p:nvSpPr>
        <p:spPr>
          <a:xfrm>
            <a:off x="6537960" y="2240280"/>
            <a:ext cx="502920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2286000"/>
            <a:ext cx="2743200" cy="274320"/>
          </a:xfrm>
          <a:prstGeom prst="rect">
            <a:avLst/>
          </a:prstGeom>
          <a:noFill/>
        </p:spPr>
        <p:txBody>
          <a:bodyPr wrap="square">
            <a:spAutoFit/>
          </a:bodyPr>
          <a:lstStyle/>
          <a:p>
            <a:pPr algn="l">
              <a:defRPr sz="1100" b="1">
                <a:solidFill>
                  <a:srgbClr val="4ADE80"/>
                </a:solidFill>
                <a:latin typeface="Calibri"/>
              </a:defRPr>
            </a:pPr>
            <a:r>
              <a:t>✦ SAP AGENT</a:t>
            </a:r>
          </a:p>
        </p:txBody>
      </p:sp>
      <p:sp>
        <p:nvSpPr>
          <p:cNvPr id="25" name="TextBox 24"/>
          <p:cNvSpPr txBox="1"/>
          <p:nvPr/>
        </p:nvSpPr>
        <p:spPr>
          <a:xfrm>
            <a:off x="6675120" y="2606040"/>
            <a:ext cx="4754880" cy="1554480"/>
          </a:xfrm>
          <a:prstGeom prst="rect">
            <a:avLst/>
          </a:prstGeom>
          <a:noFill/>
        </p:spPr>
        <p:txBody>
          <a:bodyPr wrap="square">
            <a:spAutoFit/>
          </a:bodyPr>
          <a:lstStyle/>
          <a:p>
            <a:pPr algn="l">
              <a:defRPr sz="1100" b="0">
                <a:solidFill>
                  <a:srgbClr val="A8BDD4"/>
                </a:solidFill>
                <a:latin typeface="Consolas"/>
              </a:defRPr>
            </a:pPr>
            <a:r>
              <a:t>Q4 YTD (as of 22 Oct):</a:t>
            </a:r>
            <a:br/>
            <a:r>
              <a:t>Region     Revenue    Margin</a:t>
            </a:r>
            <a:br/>
            <a:r>
              <a:t>──────────────────────────</a:t>
            </a:r>
            <a:br/>
            <a:r>
              <a:t>North AM   $48.2M     38.8%</a:t>
            </a:r>
            <a:br/>
            <a:r>
              <a:t>Europe     $31.5M     35.6%</a:t>
            </a:r>
            <a:br/>
            <a:r>
              <a:t>APAC       $22.1M     33.5%</a:t>
            </a:r>
            <a:br/>
            <a:r>
              <a:t>──────────────────────────</a:t>
            </a:r>
            <a:br/>
            <a:r>
              <a:t>Total      $101.8M    36.6%</a:t>
            </a:r>
          </a:p>
        </p:txBody>
      </p:sp>
      <p:sp>
        <p:nvSpPr>
          <p:cNvPr id="26" name="TextBox 25"/>
          <p:cNvSpPr txBox="1"/>
          <p:nvPr/>
        </p:nvSpPr>
        <p:spPr>
          <a:xfrm>
            <a:off x="6400800" y="4663440"/>
            <a:ext cx="2743200" cy="274320"/>
          </a:xfrm>
          <a:prstGeom prst="rect">
            <a:avLst/>
          </a:prstGeom>
          <a:noFill/>
        </p:spPr>
        <p:txBody>
          <a:bodyPr wrap="square">
            <a:spAutoFit/>
          </a:bodyPr>
          <a:lstStyle/>
          <a:p>
            <a:pPr algn="l">
              <a:defRPr sz="1300" b="1">
                <a:solidFill>
                  <a:srgbClr val="3D506E"/>
                </a:solidFill>
                <a:latin typeface="Calibri"/>
              </a:defRPr>
            </a:pPr>
            <a:r>
              <a:t>SAP DATA ACCESSED</a:t>
            </a:r>
          </a:p>
        </p:txBody>
      </p:sp>
      <p:sp>
        <p:nvSpPr>
          <p:cNvPr id="27" name="Rounded Rectangle 26"/>
          <p:cNvSpPr/>
          <p:nvPr/>
        </p:nvSpPr>
        <p:spPr>
          <a:xfrm>
            <a:off x="6400800" y="4983480"/>
            <a:ext cx="2295144"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5001768"/>
            <a:ext cx="2148840" cy="256032"/>
          </a:xfrm>
          <a:prstGeom prst="rect">
            <a:avLst/>
          </a:prstGeom>
          <a:noFill/>
        </p:spPr>
        <p:txBody>
          <a:bodyPr wrap="square">
            <a:spAutoFit/>
          </a:bodyPr>
          <a:lstStyle/>
          <a:p>
            <a:pPr algn="l">
              <a:defRPr sz="1100" b="0">
                <a:solidFill>
                  <a:srgbClr val="A8BDD4"/>
                </a:solidFill>
                <a:latin typeface="Consolas"/>
              </a:defRPr>
            </a:pPr>
            <a:r>
              <a:t>ACDOCA (Universal Journal)</a:t>
            </a:r>
          </a:p>
        </p:txBody>
      </p:sp>
      <p:sp>
        <p:nvSpPr>
          <p:cNvPr id="29" name="Rounded Rectangle 28"/>
          <p:cNvSpPr/>
          <p:nvPr/>
        </p:nvSpPr>
        <p:spPr>
          <a:xfrm>
            <a:off x="8787384" y="4983480"/>
            <a:ext cx="1906524"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0536" y="5001768"/>
            <a:ext cx="1760220" cy="256032"/>
          </a:xfrm>
          <a:prstGeom prst="rect">
            <a:avLst/>
          </a:prstGeom>
          <a:noFill/>
        </p:spPr>
        <p:txBody>
          <a:bodyPr wrap="square">
            <a:spAutoFit/>
          </a:bodyPr>
          <a:lstStyle/>
          <a:p>
            <a:pPr algn="l">
              <a:defRPr sz="1100" b="0">
                <a:solidFill>
                  <a:srgbClr val="A8BDD4"/>
                </a:solidFill>
                <a:latin typeface="Consolas"/>
              </a:defRPr>
            </a:pPr>
            <a:r>
              <a:t>CO-PA (Profitability)</a:t>
            </a:r>
          </a:p>
        </p:txBody>
      </p:sp>
      <p:sp>
        <p:nvSpPr>
          <p:cNvPr id="31" name="Rounded Rectangle 30"/>
          <p:cNvSpPr/>
          <p:nvPr/>
        </p:nvSpPr>
        <p:spPr>
          <a:xfrm>
            <a:off x="6400800" y="5330952"/>
            <a:ext cx="1828800"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3952" y="5349240"/>
            <a:ext cx="1682496" cy="256032"/>
          </a:xfrm>
          <a:prstGeom prst="rect">
            <a:avLst/>
          </a:prstGeom>
          <a:noFill/>
        </p:spPr>
        <p:txBody>
          <a:bodyPr wrap="square">
            <a:spAutoFit/>
          </a:bodyPr>
          <a:lstStyle/>
          <a:p>
            <a:pPr algn="l">
              <a:defRPr sz="1100" b="0">
                <a:solidFill>
                  <a:srgbClr val="A8BDD4"/>
                </a:solidFill>
                <a:latin typeface="Consolas"/>
              </a:defRPr>
            </a:pPr>
            <a:r>
              <a:t>BSID/BSAD (AR Items)</a:t>
            </a:r>
          </a:p>
        </p:txBody>
      </p:sp>
      <p:sp>
        <p:nvSpPr>
          <p:cNvPr id="33" name="Rounded Rectangle 32"/>
          <p:cNvSpPr/>
          <p:nvPr/>
        </p:nvSpPr>
        <p:spPr>
          <a:xfrm>
            <a:off x="8321040" y="5330952"/>
            <a:ext cx="1595628"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94192" y="5349240"/>
            <a:ext cx="1449324" cy="256032"/>
          </a:xfrm>
          <a:prstGeom prst="rect">
            <a:avLst/>
          </a:prstGeom>
          <a:noFill/>
        </p:spPr>
        <p:txBody>
          <a:bodyPr wrap="square">
            <a:spAutoFit/>
          </a:bodyPr>
          <a:lstStyle/>
          <a:p>
            <a:pPr algn="l">
              <a:defRPr sz="1100" b="0">
                <a:solidFill>
                  <a:srgbClr val="A8BDD4"/>
                </a:solidFill>
                <a:latin typeface="Consolas"/>
              </a:defRPr>
            </a:pPr>
            <a:r>
              <a:t>SAP PS (Projects)</a:t>
            </a:r>
          </a:p>
        </p:txBody>
      </p:sp>
      <p:sp>
        <p:nvSpPr>
          <p:cNvPr id="35" name="TextBox 34"/>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868680"/>
            <a:ext cx="1682495" cy="320040"/>
          </a:xfrm>
          <a:prstGeom prst="roundRect">
            <a:avLst>
              <a:gd name="adj" fmla="val 50000"/>
            </a:avLst>
          </a:prstGeom>
          <a:solidFill>
            <a:srgbClr val="17342F"/>
          </a:solidFill>
          <a:ln w="12700">
            <a:solidFill>
              <a:srgbClr val="1D463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ADE80"/>
                </a:solidFill>
              </a:defRPr>
            </a:pPr>
            <a:r>
              <a:t>💰 Finance</a:t>
            </a:r>
          </a:p>
        </p:txBody>
      </p:sp>
      <p:sp>
        <p:nvSpPr>
          <p:cNvPr id="5" name="TextBox 4"/>
          <p:cNvSpPr txBox="1"/>
          <p:nvPr/>
        </p:nvSpPr>
        <p:spPr>
          <a:xfrm>
            <a:off x="2322575" y="841248"/>
            <a:ext cx="3657600" cy="411480"/>
          </a:xfrm>
          <a:prstGeom prst="rect">
            <a:avLst/>
          </a:prstGeom>
          <a:noFill/>
        </p:spPr>
        <p:txBody>
          <a:bodyPr wrap="square">
            <a:spAutoFit/>
          </a:bodyPr>
          <a:lstStyle/>
          <a:p>
            <a:pPr algn="l">
              <a:defRPr sz="2400" b="1">
                <a:solidFill>
                  <a:srgbClr val="E8EDF5"/>
                </a:solidFill>
                <a:latin typeface="Calibri"/>
              </a:defRPr>
            </a:pPr>
            <a:r>
              <a:t>Implementation Guide</a:t>
            </a:r>
          </a:p>
        </p:txBody>
      </p:sp>
      <p:sp>
        <p:nvSpPr>
          <p:cNvPr id="6" name="Rounded Rectangle 5"/>
          <p:cNvSpPr/>
          <p:nvPr/>
        </p:nvSpPr>
        <p:spPr>
          <a:xfrm>
            <a:off x="502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45920"/>
            <a:ext cx="320040" cy="320040"/>
          </a:xfrm>
          <a:prstGeom prst="roundRect">
            <a:avLst>
              <a:gd name="adj" fmla="val 15000"/>
            </a:avLst>
          </a:prstGeom>
          <a:solidFill>
            <a:srgbClr val="193B33"/>
          </a:solidFill>
          <a:ln>
            <a:solidFill>
              <a:srgbClr val="1D46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4ADE80"/>
                </a:solidFill>
              </a:defRPr>
            </a:pPr>
            <a:r>
              <a:t>1</a:t>
            </a:r>
          </a:p>
        </p:txBody>
      </p:sp>
      <p:sp>
        <p:nvSpPr>
          <p:cNvPr id="8" name="TextBox 7"/>
          <p:cNvSpPr txBox="1"/>
          <p:nvPr/>
        </p:nvSpPr>
        <p:spPr>
          <a:xfrm>
            <a:off x="685800" y="2103120"/>
            <a:ext cx="1783080" cy="548640"/>
          </a:xfrm>
          <a:prstGeom prst="rect">
            <a:avLst/>
          </a:prstGeom>
          <a:noFill/>
        </p:spPr>
        <p:txBody>
          <a:bodyPr wrap="square">
            <a:spAutoFit/>
          </a:bodyPr>
          <a:lstStyle/>
          <a:p>
            <a:pPr algn="l">
              <a:defRPr sz="1600" b="1">
                <a:solidFill>
                  <a:srgbClr val="E8EDF5"/>
                </a:solidFill>
                <a:latin typeface="Calibri"/>
              </a:defRPr>
            </a:pPr>
            <a:r>
              <a:t>Map accounts in prompt</a:t>
            </a:r>
          </a:p>
        </p:txBody>
      </p:sp>
      <p:sp>
        <p:nvSpPr>
          <p:cNvPr id="9" name="TextBox 8"/>
          <p:cNvSpPr txBox="1"/>
          <p:nvPr/>
        </p:nvSpPr>
        <p:spPr>
          <a:xfrm>
            <a:off x="685800" y="2651760"/>
            <a:ext cx="1783080" cy="3108960"/>
          </a:xfrm>
          <a:prstGeom prst="rect">
            <a:avLst/>
          </a:prstGeom>
          <a:noFill/>
        </p:spPr>
        <p:txBody>
          <a:bodyPr wrap="square">
            <a:spAutoFit/>
          </a:bodyPr>
          <a:lstStyle/>
          <a:p>
            <a:pPr algn="l">
              <a:defRPr sz="1300" b="0">
                <a:solidFill>
                  <a:srgbClr val="6B7FA3"/>
                </a:solidFill>
                <a:latin typeface="Calibri"/>
              </a:defRPr>
            </a:pPr>
            <a:r>
              <a:t>Include account mappings: 'Revenue = 400000–499999; COGS = 500000–549999'. Without this, the LLM cannot translate terms like 'gross margin'.</a:t>
            </a:r>
          </a:p>
        </p:txBody>
      </p:sp>
      <p:sp>
        <p:nvSpPr>
          <p:cNvPr id="10" name="TextBox 9"/>
          <p:cNvSpPr txBox="1"/>
          <p:nvPr/>
        </p:nvSpPr>
        <p:spPr>
          <a:xfrm>
            <a:off x="1920240" y="5212080"/>
            <a:ext cx="640080" cy="731520"/>
          </a:xfrm>
          <a:prstGeom prst="rect">
            <a:avLst/>
          </a:prstGeom>
          <a:noFill/>
        </p:spPr>
        <p:txBody>
          <a:bodyPr wrap="square">
            <a:spAutoFit/>
          </a:bodyPr>
          <a:lstStyle/>
          <a:p>
            <a:pPr algn="r">
              <a:defRPr sz="5400" b="1">
                <a:solidFill>
                  <a:srgbClr val="1B2131"/>
                </a:solidFill>
                <a:latin typeface="Calibri"/>
              </a:defRPr>
            </a:pPr>
            <a:r>
              <a:t>1</a:t>
            </a:r>
          </a:p>
        </p:txBody>
      </p:sp>
      <p:sp>
        <p:nvSpPr>
          <p:cNvPr id="11" name="Rounded Rectangle 10"/>
          <p:cNvSpPr/>
          <p:nvPr/>
        </p:nvSpPr>
        <p:spPr>
          <a:xfrm>
            <a:off x="2788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71800" y="1645920"/>
            <a:ext cx="320040" cy="320040"/>
          </a:xfrm>
          <a:prstGeom prst="roundRect">
            <a:avLst>
              <a:gd name="adj" fmla="val 15000"/>
            </a:avLst>
          </a:prstGeom>
          <a:solidFill>
            <a:srgbClr val="193B33"/>
          </a:solidFill>
          <a:ln>
            <a:solidFill>
              <a:srgbClr val="1D46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4ADE80"/>
                </a:solidFill>
              </a:defRPr>
            </a:pPr>
            <a:r>
              <a:t>2</a:t>
            </a:r>
          </a:p>
        </p:txBody>
      </p:sp>
      <p:sp>
        <p:nvSpPr>
          <p:cNvPr id="13" name="TextBox 12"/>
          <p:cNvSpPr txBox="1"/>
          <p:nvPr/>
        </p:nvSpPr>
        <p:spPr>
          <a:xfrm>
            <a:off x="2971800" y="2103120"/>
            <a:ext cx="1783080" cy="548640"/>
          </a:xfrm>
          <a:prstGeom prst="rect">
            <a:avLst/>
          </a:prstGeom>
          <a:noFill/>
        </p:spPr>
        <p:txBody>
          <a:bodyPr wrap="square">
            <a:spAutoFit/>
          </a:bodyPr>
          <a:lstStyle/>
          <a:p>
            <a:pPr algn="l">
              <a:defRPr sz="1600" b="1">
                <a:solidFill>
                  <a:srgbClr val="E8EDF5"/>
                </a:solidFill>
                <a:latin typeface="Calibri"/>
              </a:defRPr>
            </a:pPr>
            <a:r>
              <a:t>Validate against period close</a:t>
            </a:r>
          </a:p>
        </p:txBody>
      </p:sp>
      <p:sp>
        <p:nvSpPr>
          <p:cNvPr id="14" name="TextBox 13"/>
          <p:cNvSpPr txBox="1"/>
          <p:nvPr/>
        </p:nvSpPr>
        <p:spPr>
          <a:xfrm>
            <a:off x="2971800" y="2651760"/>
            <a:ext cx="1783080" cy="3108960"/>
          </a:xfrm>
          <a:prstGeom prst="rect">
            <a:avLst/>
          </a:prstGeom>
          <a:noFill/>
        </p:spPr>
        <p:txBody>
          <a:bodyPr wrap="square">
            <a:spAutoFit/>
          </a:bodyPr>
          <a:lstStyle/>
          <a:p>
            <a:pPr algn="l">
              <a:defRPr sz="1300" b="0">
                <a:solidFill>
                  <a:srgbClr val="6B7FA3"/>
                </a:solidFill>
                <a:latin typeface="Calibri"/>
              </a:defRPr>
            </a:pPr>
            <a:r>
              <a:t>Run the bot against the last closed period and compare with verified financial statements. Any discrepancy must be resolved.</a:t>
            </a:r>
          </a:p>
        </p:txBody>
      </p:sp>
      <p:sp>
        <p:nvSpPr>
          <p:cNvPr id="15" name="TextBox 14"/>
          <p:cNvSpPr txBox="1"/>
          <p:nvPr/>
        </p:nvSpPr>
        <p:spPr>
          <a:xfrm>
            <a:off x="4206240" y="5212080"/>
            <a:ext cx="640080" cy="731520"/>
          </a:xfrm>
          <a:prstGeom prst="rect">
            <a:avLst/>
          </a:prstGeom>
          <a:noFill/>
        </p:spPr>
        <p:txBody>
          <a:bodyPr wrap="square">
            <a:spAutoFit/>
          </a:bodyPr>
          <a:lstStyle/>
          <a:p>
            <a:pPr algn="r">
              <a:defRPr sz="5400" b="1">
                <a:solidFill>
                  <a:srgbClr val="1B2131"/>
                </a:solidFill>
                <a:latin typeface="Calibri"/>
              </a:defRPr>
            </a:pPr>
            <a:r>
              <a:t>2</a:t>
            </a:r>
          </a:p>
        </p:txBody>
      </p:sp>
      <p:sp>
        <p:nvSpPr>
          <p:cNvPr id="16" name="Rounded Rectangle 15"/>
          <p:cNvSpPr/>
          <p:nvPr/>
        </p:nvSpPr>
        <p:spPr>
          <a:xfrm>
            <a:off x="5074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257800" y="1645920"/>
            <a:ext cx="320040" cy="320040"/>
          </a:xfrm>
          <a:prstGeom prst="roundRect">
            <a:avLst>
              <a:gd name="adj" fmla="val 15000"/>
            </a:avLst>
          </a:prstGeom>
          <a:solidFill>
            <a:srgbClr val="193B33"/>
          </a:solidFill>
          <a:ln>
            <a:solidFill>
              <a:srgbClr val="1D46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4ADE80"/>
                </a:solidFill>
              </a:defRPr>
            </a:pPr>
            <a:r>
              <a:t>3</a:t>
            </a:r>
          </a:p>
        </p:txBody>
      </p:sp>
      <p:sp>
        <p:nvSpPr>
          <p:cNvPr id="18" name="TextBox 17"/>
          <p:cNvSpPr txBox="1"/>
          <p:nvPr/>
        </p:nvSpPr>
        <p:spPr>
          <a:xfrm>
            <a:off x="5257800" y="2103120"/>
            <a:ext cx="1783080" cy="548640"/>
          </a:xfrm>
          <a:prstGeom prst="rect">
            <a:avLst/>
          </a:prstGeom>
          <a:noFill/>
        </p:spPr>
        <p:txBody>
          <a:bodyPr wrap="square">
            <a:spAutoFit/>
          </a:bodyPr>
          <a:lstStyle/>
          <a:p>
            <a:pPr algn="l">
              <a:defRPr sz="1600" b="1">
                <a:solidFill>
                  <a:srgbClr val="E8EDF5"/>
                </a:solidFill>
                <a:latin typeface="Calibri"/>
              </a:defRPr>
            </a:pPr>
            <a:r>
              <a:t>Handle currency consolidation</a:t>
            </a:r>
          </a:p>
        </p:txBody>
      </p:sp>
      <p:sp>
        <p:nvSpPr>
          <p:cNvPr id="19" name="TextBox 18"/>
          <p:cNvSpPr txBox="1"/>
          <p:nvPr/>
        </p:nvSpPr>
        <p:spPr>
          <a:xfrm>
            <a:off x="5257800" y="2651760"/>
            <a:ext cx="1783080" cy="3108960"/>
          </a:xfrm>
          <a:prstGeom prst="rect">
            <a:avLst/>
          </a:prstGeom>
          <a:noFill/>
        </p:spPr>
        <p:txBody>
          <a:bodyPr wrap="square">
            <a:spAutoFit/>
          </a:bodyPr>
          <a:lstStyle/>
          <a:p>
            <a:pPr algn="l">
              <a:defRPr sz="1300" b="0">
                <a:solidFill>
                  <a:srgbClr val="6B7FA3"/>
                </a:solidFill>
                <a:latin typeface="Calibri"/>
              </a:defRPr>
            </a:pPr>
            <a:r>
              <a:t>Multi-entity groups need currency translation. Either pre-convert to group currency in a HANA view, or handle FX explicitly in SQL.</a:t>
            </a:r>
          </a:p>
        </p:txBody>
      </p:sp>
      <p:sp>
        <p:nvSpPr>
          <p:cNvPr id="20" name="TextBox 19"/>
          <p:cNvSpPr txBox="1"/>
          <p:nvPr/>
        </p:nvSpPr>
        <p:spPr>
          <a:xfrm>
            <a:off x="6492240" y="5212080"/>
            <a:ext cx="640080" cy="731520"/>
          </a:xfrm>
          <a:prstGeom prst="rect">
            <a:avLst/>
          </a:prstGeom>
          <a:noFill/>
        </p:spPr>
        <p:txBody>
          <a:bodyPr wrap="square">
            <a:spAutoFit/>
          </a:bodyPr>
          <a:lstStyle/>
          <a:p>
            <a:pPr algn="r">
              <a:defRPr sz="5400" b="1">
                <a:solidFill>
                  <a:srgbClr val="1B2131"/>
                </a:solidFill>
                <a:latin typeface="Calibri"/>
              </a:defRPr>
            </a:pPr>
            <a:r>
              <a:t>3</a:t>
            </a:r>
          </a:p>
        </p:txBody>
      </p:sp>
      <p:sp>
        <p:nvSpPr>
          <p:cNvPr id="21" name="Rounded Rectangle 20"/>
          <p:cNvSpPr/>
          <p:nvPr/>
        </p:nvSpPr>
        <p:spPr>
          <a:xfrm>
            <a:off x="7360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43800" y="1645920"/>
            <a:ext cx="320040" cy="320040"/>
          </a:xfrm>
          <a:prstGeom prst="roundRect">
            <a:avLst>
              <a:gd name="adj" fmla="val 15000"/>
            </a:avLst>
          </a:prstGeom>
          <a:solidFill>
            <a:srgbClr val="193B33"/>
          </a:solidFill>
          <a:ln>
            <a:solidFill>
              <a:srgbClr val="1D46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4ADE80"/>
                </a:solidFill>
              </a:defRPr>
            </a:pPr>
            <a:r>
              <a:t>4</a:t>
            </a:r>
          </a:p>
        </p:txBody>
      </p:sp>
      <p:sp>
        <p:nvSpPr>
          <p:cNvPr id="23" name="TextBox 22"/>
          <p:cNvSpPr txBox="1"/>
          <p:nvPr/>
        </p:nvSpPr>
        <p:spPr>
          <a:xfrm>
            <a:off x="7543800" y="2103120"/>
            <a:ext cx="1783080" cy="548640"/>
          </a:xfrm>
          <a:prstGeom prst="rect">
            <a:avLst/>
          </a:prstGeom>
          <a:noFill/>
        </p:spPr>
        <p:txBody>
          <a:bodyPr wrap="square">
            <a:spAutoFit/>
          </a:bodyPr>
          <a:lstStyle/>
          <a:p>
            <a:pPr algn="l">
              <a:defRPr sz="1600" b="1">
                <a:solidFill>
                  <a:srgbClr val="E8EDF5"/>
                </a:solidFill>
                <a:latin typeface="Calibri"/>
              </a:defRPr>
            </a:pPr>
            <a:r>
              <a:t>Role-based access tiers</a:t>
            </a:r>
          </a:p>
        </p:txBody>
      </p:sp>
      <p:sp>
        <p:nvSpPr>
          <p:cNvPr id="24" name="TextBox 23"/>
          <p:cNvSpPr txBox="1"/>
          <p:nvPr/>
        </p:nvSpPr>
        <p:spPr>
          <a:xfrm>
            <a:off x="7543800" y="2651760"/>
            <a:ext cx="1783080" cy="3108960"/>
          </a:xfrm>
          <a:prstGeom prst="rect">
            <a:avLst/>
          </a:prstGeom>
          <a:noFill/>
        </p:spPr>
        <p:txBody>
          <a:bodyPr wrap="square">
            <a:spAutoFit/>
          </a:bodyPr>
          <a:lstStyle/>
          <a:p>
            <a:pPr algn="l">
              <a:defRPr sz="1300" b="0">
                <a:solidFill>
                  <a:srgbClr val="6B7FA3"/>
                </a:solidFill>
                <a:latin typeface="Calibri"/>
              </a:defRPr>
            </a:pPr>
            <a:r>
              <a:t>CFO sees all entities; division heads see their P&amp;L only; regional managers see their region. Map restrictions to SAP auth objects.</a:t>
            </a:r>
          </a:p>
        </p:txBody>
      </p:sp>
      <p:sp>
        <p:nvSpPr>
          <p:cNvPr id="25" name="TextBox 24"/>
          <p:cNvSpPr txBox="1"/>
          <p:nvPr/>
        </p:nvSpPr>
        <p:spPr>
          <a:xfrm>
            <a:off x="8778240" y="5212080"/>
            <a:ext cx="640080" cy="731520"/>
          </a:xfrm>
          <a:prstGeom prst="rect">
            <a:avLst/>
          </a:prstGeom>
          <a:noFill/>
        </p:spPr>
        <p:txBody>
          <a:bodyPr wrap="square">
            <a:spAutoFit/>
          </a:bodyPr>
          <a:lstStyle/>
          <a:p>
            <a:pPr algn="r">
              <a:defRPr sz="5400" b="1">
                <a:solidFill>
                  <a:srgbClr val="1B2131"/>
                </a:solidFill>
                <a:latin typeface="Calibri"/>
              </a:defRPr>
            </a:pPr>
            <a:r>
              <a:t>4</a:t>
            </a:r>
          </a:p>
        </p:txBody>
      </p:sp>
      <p:sp>
        <p:nvSpPr>
          <p:cNvPr id="26" name="Rounded Rectangle 25"/>
          <p:cNvSpPr/>
          <p:nvPr/>
        </p:nvSpPr>
        <p:spPr>
          <a:xfrm>
            <a:off x="9646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29800" y="1645920"/>
            <a:ext cx="320040" cy="320040"/>
          </a:xfrm>
          <a:prstGeom prst="roundRect">
            <a:avLst>
              <a:gd name="adj" fmla="val 15000"/>
            </a:avLst>
          </a:prstGeom>
          <a:solidFill>
            <a:srgbClr val="193B33"/>
          </a:solidFill>
          <a:ln>
            <a:solidFill>
              <a:srgbClr val="1D46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4ADE80"/>
                </a:solidFill>
              </a:defRPr>
            </a:pPr>
            <a:r>
              <a:t>5</a:t>
            </a:r>
          </a:p>
        </p:txBody>
      </p:sp>
      <p:sp>
        <p:nvSpPr>
          <p:cNvPr id="28" name="TextBox 27"/>
          <p:cNvSpPr txBox="1"/>
          <p:nvPr/>
        </p:nvSpPr>
        <p:spPr>
          <a:xfrm>
            <a:off x="9829800" y="2103120"/>
            <a:ext cx="1783080" cy="548640"/>
          </a:xfrm>
          <a:prstGeom prst="rect">
            <a:avLst/>
          </a:prstGeom>
          <a:noFill/>
        </p:spPr>
        <p:txBody>
          <a:bodyPr wrap="square">
            <a:spAutoFit/>
          </a:bodyPr>
          <a:lstStyle/>
          <a:p>
            <a:pPr algn="l">
              <a:defRPr sz="1600" b="1">
                <a:solidFill>
                  <a:srgbClr val="E8EDF5"/>
                </a:solidFill>
                <a:latin typeface="Calibri"/>
              </a:defRPr>
            </a:pPr>
            <a:r>
              <a:t>Integrate plan data</a:t>
            </a:r>
          </a:p>
        </p:txBody>
      </p:sp>
      <p:sp>
        <p:nvSpPr>
          <p:cNvPr id="29" name="TextBox 28"/>
          <p:cNvSpPr txBox="1"/>
          <p:nvPr/>
        </p:nvSpPr>
        <p:spPr>
          <a:xfrm>
            <a:off x="9829800" y="2651760"/>
            <a:ext cx="1783080" cy="3108960"/>
          </a:xfrm>
          <a:prstGeom prst="rect">
            <a:avLst/>
          </a:prstGeom>
          <a:noFill/>
        </p:spPr>
        <p:txBody>
          <a:bodyPr wrap="square">
            <a:spAutoFit/>
          </a:bodyPr>
          <a:lstStyle/>
          <a:p>
            <a:pPr algn="l">
              <a:defRPr sz="1300" b="0">
                <a:solidFill>
                  <a:srgbClr val="6B7FA3"/>
                </a:solidFill>
                <a:latin typeface="Calibri"/>
              </a:defRPr>
            </a:pPr>
            <a:r>
              <a:t>If budget/plan is in SAP BPC or IBP, expose it via OData or a replicated HANA table. Budget-vs-actual is the most requested finance use case.</a:t>
            </a:r>
          </a:p>
        </p:txBody>
      </p:sp>
      <p:sp>
        <p:nvSpPr>
          <p:cNvPr id="30" name="TextBox 29"/>
          <p:cNvSpPr txBox="1"/>
          <p:nvPr/>
        </p:nvSpPr>
        <p:spPr>
          <a:xfrm>
            <a:off x="11064240" y="5212080"/>
            <a:ext cx="640080" cy="731520"/>
          </a:xfrm>
          <a:prstGeom prst="rect">
            <a:avLst/>
          </a:prstGeom>
          <a:noFill/>
        </p:spPr>
        <p:txBody>
          <a:bodyPr wrap="square">
            <a:spAutoFit/>
          </a:bodyPr>
          <a:lstStyle/>
          <a:p>
            <a:pPr algn="r">
              <a:defRPr sz="5400" b="1">
                <a:solidFill>
                  <a:srgbClr val="1B2131"/>
                </a:solidFill>
                <a:latin typeface="Calibri"/>
              </a:defRPr>
            </a:pPr>
            <a:r>
              <a:t>5</a:t>
            </a:r>
          </a:p>
        </p:txBody>
      </p:sp>
      <p:sp>
        <p:nvSpPr>
          <p:cNvPr id="31" name="TextBox 30"/>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914400"/>
            <a:ext cx="1133856" cy="320040"/>
          </a:xfrm>
          <a:prstGeom prst="roundRect">
            <a:avLst>
              <a:gd name="adj" fmla="val 50000"/>
            </a:avLst>
          </a:prstGeom>
          <a:solidFill>
            <a:srgbClr val="35202B"/>
          </a:solidFill>
          <a:ln w="12700">
            <a:solidFill>
              <a:srgbClr val="4A293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6B6B"/>
                </a:solidFill>
              </a:defRPr>
            </a:pPr>
            <a:r>
              <a:t>👥 HR</a:t>
            </a:r>
          </a:p>
        </p:txBody>
      </p:sp>
      <p:sp>
        <p:nvSpPr>
          <p:cNvPr id="5" name="TextBox 4"/>
          <p:cNvSpPr txBox="1"/>
          <p:nvPr/>
        </p:nvSpPr>
        <p:spPr>
          <a:xfrm>
            <a:off x="502920" y="5303520"/>
            <a:ext cx="1828800" cy="914400"/>
          </a:xfrm>
          <a:prstGeom prst="rect">
            <a:avLst/>
          </a:prstGeom>
          <a:noFill/>
        </p:spPr>
        <p:txBody>
          <a:bodyPr wrap="square">
            <a:spAutoFit/>
          </a:bodyPr>
          <a:lstStyle/>
          <a:p>
            <a:pPr algn="l">
              <a:defRPr sz="7200" b="1">
                <a:solidFill>
                  <a:srgbClr val="241924"/>
                </a:solidFill>
                <a:latin typeface="Calibri"/>
              </a:defRPr>
            </a:pPr>
            <a:r>
              <a:t>06</a:t>
            </a:r>
          </a:p>
        </p:txBody>
      </p:sp>
      <p:sp>
        <p:nvSpPr>
          <p:cNvPr id="6" name="TextBox 5"/>
          <p:cNvSpPr txBox="1"/>
          <p:nvPr/>
        </p:nvSpPr>
        <p:spPr>
          <a:xfrm>
            <a:off x="502920" y="1371600"/>
            <a:ext cx="5029200" cy="914400"/>
          </a:xfrm>
          <a:prstGeom prst="rect">
            <a:avLst/>
          </a:prstGeom>
          <a:noFill/>
        </p:spPr>
        <p:txBody>
          <a:bodyPr wrap="square">
            <a:spAutoFit/>
          </a:bodyPr>
          <a:lstStyle/>
          <a:p>
            <a:pPr algn="l">
              <a:defRPr sz="2800" b="1">
                <a:solidFill>
                  <a:srgbClr val="E8EDF5"/>
                </a:solidFill>
                <a:latin typeface="Calibri"/>
              </a:defRPr>
            </a:pPr>
            <a:r>
              <a:t>HR Analytics &amp;</a:t>
            </a:r>
            <a:br/>
            <a:r>
              <a:t>People Insights</a:t>
            </a:r>
          </a:p>
        </p:txBody>
      </p:sp>
      <p:sp>
        <p:nvSpPr>
          <p:cNvPr id="7" name="TextBox 6"/>
          <p:cNvSpPr txBox="1"/>
          <p:nvPr/>
        </p:nvSpPr>
        <p:spPr>
          <a:xfrm>
            <a:off x="502920" y="2286000"/>
            <a:ext cx="5029200" cy="1097280"/>
          </a:xfrm>
          <a:prstGeom prst="rect">
            <a:avLst/>
          </a:prstGeom>
          <a:noFill/>
        </p:spPr>
        <p:txBody>
          <a:bodyPr wrap="square">
            <a:spAutoFit/>
          </a:bodyPr>
          <a:lstStyle/>
          <a:p>
            <a:pPr algn="l">
              <a:defRPr sz="1400" b="0">
                <a:solidFill>
                  <a:srgbClr val="A8BDD4"/>
                </a:solidFill>
                <a:latin typeface="Calibri"/>
              </a:defRPr>
            </a:pPr>
            <a:r>
              <a:t>HR business partners and managers query workforce metrics, training compliance, and org data conversationally — without building custom SAP HCM or SuccessFactors reports.</a:t>
            </a:r>
          </a:p>
        </p:txBody>
      </p:sp>
      <p:sp>
        <p:nvSpPr>
          <p:cNvPr id="8" name="TextBox 7"/>
          <p:cNvSpPr txBox="1"/>
          <p:nvPr/>
        </p:nvSpPr>
        <p:spPr>
          <a:xfrm>
            <a:off x="502920" y="3383280"/>
            <a:ext cx="1828800" cy="274320"/>
          </a:xfrm>
          <a:prstGeom prst="rect">
            <a:avLst/>
          </a:prstGeom>
          <a:noFill/>
        </p:spPr>
        <p:txBody>
          <a:bodyPr wrap="square">
            <a:spAutoFit/>
          </a:bodyPr>
          <a:lstStyle/>
          <a:p>
            <a:pPr algn="l">
              <a:defRPr sz="1300" b="1">
                <a:solidFill>
                  <a:srgbClr val="3D506E"/>
                </a:solidFill>
                <a:latin typeface="Calibri"/>
              </a:defRPr>
            </a:pPr>
            <a:r>
              <a:t>KEY BENEFITS</a:t>
            </a:r>
          </a:p>
        </p:txBody>
      </p:sp>
      <p:sp>
        <p:nvSpPr>
          <p:cNvPr id="9" name="TextBox 8"/>
          <p:cNvSpPr txBox="1"/>
          <p:nvPr/>
        </p:nvSpPr>
        <p:spPr>
          <a:xfrm>
            <a:off x="731520" y="3703320"/>
            <a:ext cx="4754880" cy="365760"/>
          </a:xfrm>
          <a:prstGeom prst="rect">
            <a:avLst/>
          </a:prstGeom>
          <a:noFill/>
        </p:spPr>
        <p:txBody>
          <a:bodyPr wrap="square">
            <a:spAutoFit/>
          </a:bodyPr>
          <a:lstStyle/>
          <a:p>
            <a:pPr algn="l">
              <a:defRPr sz="1300" b="0">
                <a:solidFill>
                  <a:srgbClr val="A8BDD4"/>
                </a:solidFill>
                <a:latin typeface="Calibri"/>
              </a:defRPr>
            </a:pPr>
            <a:r>
              <a:t>✓  Training compliance gaps flagged instantly</a:t>
            </a:r>
          </a:p>
        </p:txBody>
      </p:sp>
      <p:sp>
        <p:nvSpPr>
          <p:cNvPr id="10" name="TextBox 9"/>
          <p:cNvSpPr txBox="1"/>
          <p:nvPr/>
        </p:nvSpPr>
        <p:spPr>
          <a:xfrm>
            <a:off x="502920" y="3703320"/>
            <a:ext cx="228600" cy="365760"/>
          </a:xfrm>
          <a:prstGeom prst="rect">
            <a:avLst/>
          </a:prstGeom>
          <a:noFill/>
        </p:spPr>
        <p:txBody>
          <a:bodyPr wrap="square">
            <a:spAutoFit/>
          </a:bodyPr>
          <a:lstStyle/>
          <a:p>
            <a:pPr algn="l">
              <a:defRPr sz="1300" b="1">
                <a:solidFill>
                  <a:srgbClr val="FF6B6B"/>
                </a:solidFill>
                <a:latin typeface="Calibri"/>
              </a:defRPr>
            </a:pPr>
            <a:r>
              <a:t>✓</a:t>
            </a:r>
          </a:p>
        </p:txBody>
      </p:sp>
      <p:sp>
        <p:nvSpPr>
          <p:cNvPr id="11" name="TextBox 10"/>
          <p:cNvSpPr txBox="1"/>
          <p:nvPr/>
        </p:nvSpPr>
        <p:spPr>
          <a:xfrm>
            <a:off x="731520" y="4087368"/>
            <a:ext cx="4754880" cy="365760"/>
          </a:xfrm>
          <a:prstGeom prst="rect">
            <a:avLst/>
          </a:prstGeom>
          <a:noFill/>
        </p:spPr>
        <p:txBody>
          <a:bodyPr wrap="square">
            <a:spAutoFit/>
          </a:bodyPr>
          <a:lstStyle/>
          <a:p>
            <a:pPr algn="l">
              <a:defRPr sz="1300" b="0">
                <a:solidFill>
                  <a:srgbClr val="A8BDD4"/>
                </a:solidFill>
                <a:latin typeface="Calibri"/>
              </a:defRPr>
            </a:pPr>
            <a:r>
              <a:t>✓  Managers self-serve headcount without HR tickets</a:t>
            </a:r>
          </a:p>
        </p:txBody>
      </p:sp>
      <p:sp>
        <p:nvSpPr>
          <p:cNvPr id="12" name="TextBox 11"/>
          <p:cNvSpPr txBox="1"/>
          <p:nvPr/>
        </p:nvSpPr>
        <p:spPr>
          <a:xfrm>
            <a:off x="502920" y="4087368"/>
            <a:ext cx="228600" cy="365760"/>
          </a:xfrm>
          <a:prstGeom prst="rect">
            <a:avLst/>
          </a:prstGeom>
          <a:noFill/>
        </p:spPr>
        <p:txBody>
          <a:bodyPr wrap="square">
            <a:spAutoFit/>
          </a:bodyPr>
          <a:lstStyle/>
          <a:p>
            <a:pPr algn="l">
              <a:defRPr sz="1300" b="1">
                <a:solidFill>
                  <a:srgbClr val="FF6B6B"/>
                </a:solidFill>
                <a:latin typeface="Calibri"/>
              </a:defRPr>
            </a:pPr>
            <a:r>
              <a:t>✓</a:t>
            </a:r>
          </a:p>
        </p:txBody>
      </p:sp>
      <p:sp>
        <p:nvSpPr>
          <p:cNvPr id="13" name="TextBox 12"/>
          <p:cNvSpPr txBox="1"/>
          <p:nvPr/>
        </p:nvSpPr>
        <p:spPr>
          <a:xfrm>
            <a:off x="731520" y="4471416"/>
            <a:ext cx="4754880" cy="365760"/>
          </a:xfrm>
          <a:prstGeom prst="rect">
            <a:avLst/>
          </a:prstGeom>
          <a:noFill/>
        </p:spPr>
        <p:txBody>
          <a:bodyPr wrap="square">
            <a:spAutoFit/>
          </a:bodyPr>
          <a:lstStyle/>
          <a:p>
            <a:pPr algn="l">
              <a:defRPr sz="1300" b="0">
                <a:solidFill>
                  <a:srgbClr val="A8BDD4"/>
                </a:solidFill>
                <a:latin typeface="Calibri"/>
              </a:defRPr>
            </a:pPr>
            <a:r>
              <a:t>✓  Automated reminder dispatch directly from chat</a:t>
            </a:r>
          </a:p>
        </p:txBody>
      </p:sp>
      <p:sp>
        <p:nvSpPr>
          <p:cNvPr id="14" name="TextBox 13"/>
          <p:cNvSpPr txBox="1"/>
          <p:nvPr/>
        </p:nvSpPr>
        <p:spPr>
          <a:xfrm>
            <a:off x="502920" y="4471416"/>
            <a:ext cx="228600" cy="365760"/>
          </a:xfrm>
          <a:prstGeom prst="rect">
            <a:avLst/>
          </a:prstGeom>
          <a:noFill/>
        </p:spPr>
        <p:txBody>
          <a:bodyPr wrap="square">
            <a:spAutoFit/>
          </a:bodyPr>
          <a:lstStyle/>
          <a:p>
            <a:pPr algn="l">
              <a:defRPr sz="1300" b="1">
                <a:solidFill>
                  <a:srgbClr val="FF6B6B"/>
                </a:solidFill>
                <a:latin typeface="Calibri"/>
              </a:defRPr>
            </a:pPr>
            <a:r>
              <a:t>✓</a:t>
            </a:r>
          </a:p>
        </p:txBody>
      </p:sp>
      <p:sp>
        <p:nvSpPr>
          <p:cNvPr id="15" name="TextBox 14"/>
          <p:cNvSpPr txBox="1"/>
          <p:nvPr/>
        </p:nvSpPr>
        <p:spPr>
          <a:xfrm>
            <a:off x="731520" y="4855464"/>
            <a:ext cx="4754880" cy="365760"/>
          </a:xfrm>
          <a:prstGeom prst="rect">
            <a:avLst/>
          </a:prstGeom>
          <a:noFill/>
        </p:spPr>
        <p:txBody>
          <a:bodyPr wrap="square">
            <a:spAutoFit/>
          </a:bodyPr>
          <a:lstStyle/>
          <a:p>
            <a:pPr algn="l">
              <a:defRPr sz="1300" b="0">
                <a:solidFill>
                  <a:srgbClr val="A8BDD4"/>
                </a:solidFill>
                <a:latin typeface="Calibri"/>
              </a:defRPr>
            </a:pPr>
            <a:r>
              <a:t>✓  Faster audit response for HR policy compliance</a:t>
            </a:r>
          </a:p>
        </p:txBody>
      </p:sp>
      <p:sp>
        <p:nvSpPr>
          <p:cNvPr id="16" name="TextBox 15"/>
          <p:cNvSpPr txBox="1"/>
          <p:nvPr/>
        </p:nvSpPr>
        <p:spPr>
          <a:xfrm>
            <a:off x="502920" y="4855464"/>
            <a:ext cx="228600" cy="365760"/>
          </a:xfrm>
          <a:prstGeom prst="rect">
            <a:avLst/>
          </a:prstGeom>
          <a:noFill/>
        </p:spPr>
        <p:txBody>
          <a:bodyPr wrap="square">
            <a:spAutoFit/>
          </a:bodyPr>
          <a:lstStyle/>
          <a:p>
            <a:pPr algn="l">
              <a:defRPr sz="1300" b="1">
                <a:solidFill>
                  <a:srgbClr val="FF6B6B"/>
                </a:solidFill>
                <a:latin typeface="Calibri"/>
              </a:defRPr>
            </a:pPr>
            <a:r>
              <a:t>✓</a:t>
            </a:r>
          </a:p>
        </p:txBody>
      </p:sp>
      <p:sp>
        <p:nvSpPr>
          <p:cNvPr id="17" name="Rectangle 16"/>
          <p:cNvSpPr/>
          <p:nvPr/>
        </p:nvSpPr>
        <p:spPr>
          <a:xfrm>
            <a:off x="6095390" y="0"/>
            <a:ext cx="9144" cy="6858000"/>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0" y="914400"/>
            <a:ext cx="5303520" cy="3474720"/>
          </a:xfrm>
          <a:prstGeom prst="roundRect">
            <a:avLst>
              <a:gd name="adj" fmla="val 5000"/>
            </a:avLst>
          </a:prstGeom>
          <a:solidFill>
            <a:srgbClr val="0D1220"/>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914400"/>
            <a:ext cx="5303520" cy="4572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0" y="960120"/>
            <a:ext cx="3657600" cy="365760"/>
          </a:xfrm>
          <a:prstGeom prst="rect">
            <a:avLst/>
          </a:prstGeom>
          <a:noFill/>
        </p:spPr>
        <p:txBody>
          <a:bodyPr wrap="square">
            <a:spAutoFit/>
          </a:bodyPr>
          <a:lstStyle/>
          <a:p>
            <a:pPr algn="l">
              <a:defRPr sz="1400" b="1">
                <a:solidFill>
                  <a:srgbClr val="6B7FA3"/>
                </a:solidFill>
                <a:latin typeface="Calibri"/>
              </a:defRPr>
            </a:pPr>
            <a:r>
              <a:t>👥  SAP HR Agent</a:t>
            </a:r>
          </a:p>
        </p:txBody>
      </p:sp>
      <p:sp>
        <p:nvSpPr>
          <p:cNvPr id="21" name="Rounded Rectangle 20"/>
          <p:cNvSpPr/>
          <p:nvPr/>
        </p:nvSpPr>
        <p:spPr>
          <a:xfrm>
            <a:off x="7132320" y="1554480"/>
            <a:ext cx="4389120" cy="548640"/>
          </a:xfrm>
          <a:prstGeom prst="roundRect">
            <a:avLst>
              <a:gd name="adj" fmla="val 5000"/>
            </a:avLst>
          </a:prstGeom>
          <a:solidFill>
            <a:srgbClr val="35202B"/>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1581912"/>
            <a:ext cx="4023360" cy="502920"/>
          </a:xfrm>
          <a:prstGeom prst="rect">
            <a:avLst/>
          </a:prstGeom>
          <a:noFill/>
        </p:spPr>
        <p:txBody>
          <a:bodyPr wrap="square">
            <a:spAutoFit/>
          </a:bodyPr>
          <a:lstStyle/>
          <a:p>
            <a:pPr algn="l">
              <a:defRPr sz="1200" b="0">
                <a:solidFill>
                  <a:srgbClr val="E8EDF5"/>
                </a:solidFill>
                <a:latin typeface="Calibri"/>
              </a:defRPr>
            </a:pPr>
            <a:r>
              <a:t>Which Engineering employees haven't completed cybersecurity training?</a:t>
            </a:r>
          </a:p>
        </p:txBody>
      </p:sp>
      <p:sp>
        <p:nvSpPr>
          <p:cNvPr id="23" name="Rounded Rectangle 22"/>
          <p:cNvSpPr/>
          <p:nvPr/>
        </p:nvSpPr>
        <p:spPr>
          <a:xfrm>
            <a:off x="6537960" y="2240280"/>
            <a:ext cx="5029200" cy="201168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2286000"/>
            <a:ext cx="2743200" cy="274320"/>
          </a:xfrm>
          <a:prstGeom prst="rect">
            <a:avLst/>
          </a:prstGeom>
          <a:noFill/>
        </p:spPr>
        <p:txBody>
          <a:bodyPr wrap="square">
            <a:spAutoFit/>
          </a:bodyPr>
          <a:lstStyle/>
          <a:p>
            <a:pPr algn="l">
              <a:defRPr sz="1100" b="1">
                <a:solidFill>
                  <a:srgbClr val="FF6B6B"/>
                </a:solidFill>
                <a:latin typeface="Calibri"/>
              </a:defRPr>
            </a:pPr>
            <a:r>
              <a:t>✦ SAP AGENT</a:t>
            </a:r>
          </a:p>
        </p:txBody>
      </p:sp>
      <p:sp>
        <p:nvSpPr>
          <p:cNvPr id="25" name="TextBox 24"/>
          <p:cNvSpPr txBox="1"/>
          <p:nvPr/>
        </p:nvSpPr>
        <p:spPr>
          <a:xfrm>
            <a:off x="6675120" y="2606040"/>
            <a:ext cx="4754880" cy="1554480"/>
          </a:xfrm>
          <a:prstGeom prst="rect">
            <a:avLst/>
          </a:prstGeom>
          <a:noFill/>
        </p:spPr>
        <p:txBody>
          <a:bodyPr wrap="square">
            <a:spAutoFit/>
          </a:bodyPr>
          <a:lstStyle/>
          <a:p>
            <a:pPr algn="l">
              <a:defRPr sz="1100" b="0">
                <a:solidFill>
                  <a:srgbClr val="A8BDD4"/>
                </a:solidFill>
                <a:latin typeface="Consolas"/>
              </a:defRPr>
            </a:pPr>
            <a:r>
              <a:t>Engineering — Training Overdue (31 Oct):</a:t>
            </a:r>
            <a:br/>
            <a:br/>
            <a:r>
              <a:t>12 employees across 3 sub-orgs:</a:t>
            </a:r>
            <a:br/>
            <a:r>
              <a:t>• SW Development (DE): 4</a:t>
            </a:r>
            <a:br/>
            <a:r>
              <a:t>• Infrastructure (US): 5</a:t>
            </a:r>
            <a:br/>
            <a:r>
              <a:t>• Architecture (UK): 3</a:t>
            </a:r>
            <a:br/>
            <a:br/>
            <a:r>
              <a:t>Reply 'send' to dispatch reminders to all 12</a:t>
            </a:r>
          </a:p>
        </p:txBody>
      </p:sp>
      <p:sp>
        <p:nvSpPr>
          <p:cNvPr id="26" name="TextBox 25"/>
          <p:cNvSpPr txBox="1"/>
          <p:nvPr/>
        </p:nvSpPr>
        <p:spPr>
          <a:xfrm>
            <a:off x="6400800" y="4663440"/>
            <a:ext cx="2743200" cy="274320"/>
          </a:xfrm>
          <a:prstGeom prst="rect">
            <a:avLst/>
          </a:prstGeom>
          <a:noFill/>
        </p:spPr>
        <p:txBody>
          <a:bodyPr wrap="square">
            <a:spAutoFit/>
          </a:bodyPr>
          <a:lstStyle/>
          <a:p>
            <a:pPr algn="l">
              <a:defRPr sz="1300" b="1">
                <a:solidFill>
                  <a:srgbClr val="3D506E"/>
                </a:solidFill>
                <a:latin typeface="Calibri"/>
              </a:defRPr>
            </a:pPr>
            <a:r>
              <a:t>SAP DATA ACCESSED</a:t>
            </a:r>
          </a:p>
        </p:txBody>
      </p:sp>
      <p:sp>
        <p:nvSpPr>
          <p:cNvPr id="27" name="Rounded Rectangle 26"/>
          <p:cNvSpPr/>
          <p:nvPr/>
        </p:nvSpPr>
        <p:spPr>
          <a:xfrm>
            <a:off x="6400800" y="4983480"/>
            <a:ext cx="2061972"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5001768"/>
            <a:ext cx="1915668" cy="256032"/>
          </a:xfrm>
          <a:prstGeom prst="rect">
            <a:avLst/>
          </a:prstGeom>
          <a:noFill/>
        </p:spPr>
        <p:txBody>
          <a:bodyPr wrap="square">
            <a:spAutoFit/>
          </a:bodyPr>
          <a:lstStyle/>
          <a:p>
            <a:pPr algn="l">
              <a:defRPr sz="1100" b="0">
                <a:solidFill>
                  <a:srgbClr val="A8BDD4"/>
                </a:solidFill>
                <a:latin typeface="Consolas"/>
              </a:defRPr>
            </a:pPr>
            <a:r>
              <a:t>PA0001 (Org Assignment)</a:t>
            </a:r>
          </a:p>
        </p:txBody>
      </p:sp>
      <p:sp>
        <p:nvSpPr>
          <p:cNvPr id="29" name="Rounded Rectangle 28"/>
          <p:cNvSpPr/>
          <p:nvPr/>
        </p:nvSpPr>
        <p:spPr>
          <a:xfrm>
            <a:off x="8554212" y="4983480"/>
            <a:ext cx="2061972"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27364" y="5001768"/>
            <a:ext cx="1915668" cy="256032"/>
          </a:xfrm>
          <a:prstGeom prst="rect">
            <a:avLst/>
          </a:prstGeom>
          <a:noFill/>
        </p:spPr>
        <p:txBody>
          <a:bodyPr wrap="square">
            <a:spAutoFit/>
          </a:bodyPr>
          <a:lstStyle/>
          <a:p>
            <a:pPr algn="l">
              <a:defRPr sz="1100" b="0">
                <a:solidFill>
                  <a:srgbClr val="A8BDD4"/>
                </a:solidFill>
                <a:latin typeface="Consolas"/>
              </a:defRPr>
            </a:pPr>
            <a:r>
              <a:t>HRP1001 (Org Structure)</a:t>
            </a:r>
          </a:p>
        </p:txBody>
      </p:sp>
      <p:sp>
        <p:nvSpPr>
          <p:cNvPr id="31" name="Rounded Rectangle 30"/>
          <p:cNvSpPr/>
          <p:nvPr/>
        </p:nvSpPr>
        <p:spPr>
          <a:xfrm>
            <a:off x="6400800" y="5330952"/>
            <a:ext cx="2061972"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3952" y="5349240"/>
            <a:ext cx="1915668" cy="256032"/>
          </a:xfrm>
          <a:prstGeom prst="rect">
            <a:avLst/>
          </a:prstGeom>
          <a:noFill/>
        </p:spPr>
        <p:txBody>
          <a:bodyPr wrap="square">
            <a:spAutoFit/>
          </a:bodyPr>
          <a:lstStyle/>
          <a:p>
            <a:pPr algn="l">
              <a:defRPr sz="1100" b="0">
                <a:solidFill>
                  <a:srgbClr val="A8BDD4"/>
                </a:solidFill>
                <a:latin typeface="Consolas"/>
              </a:defRPr>
            </a:pPr>
            <a:r>
              <a:t>LSO (Training &amp; Events)</a:t>
            </a:r>
          </a:p>
        </p:txBody>
      </p:sp>
      <p:sp>
        <p:nvSpPr>
          <p:cNvPr id="33" name="Rounded Rectangle 32"/>
          <p:cNvSpPr/>
          <p:nvPr/>
        </p:nvSpPr>
        <p:spPr>
          <a:xfrm>
            <a:off x="8554212" y="5330952"/>
            <a:ext cx="1984248" cy="292608"/>
          </a:xfrm>
          <a:prstGeom prst="roundRect">
            <a:avLst>
              <a:gd name="adj" fmla="val 15000"/>
            </a:avLst>
          </a:prstGeom>
          <a:solidFill>
            <a:srgbClr val="1A2236"/>
          </a:solidFill>
          <a:ln w="12700">
            <a:solidFill>
              <a:srgbClr val="243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27364" y="5349240"/>
            <a:ext cx="1837944" cy="256032"/>
          </a:xfrm>
          <a:prstGeom prst="rect">
            <a:avLst/>
          </a:prstGeom>
          <a:noFill/>
        </p:spPr>
        <p:txBody>
          <a:bodyPr wrap="square">
            <a:spAutoFit/>
          </a:bodyPr>
          <a:lstStyle/>
          <a:p>
            <a:pPr algn="l">
              <a:defRPr sz="1100" b="0">
                <a:solidFill>
                  <a:srgbClr val="A8BDD4"/>
                </a:solidFill>
                <a:latin typeface="Consolas"/>
              </a:defRPr>
            </a:pPr>
            <a:r>
              <a:t>CATS (Time Management)</a:t>
            </a:r>
          </a:p>
        </p:txBody>
      </p:sp>
      <p:sp>
        <p:nvSpPr>
          <p:cNvPr id="35" name="TextBox 34"/>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 y="868680"/>
            <a:ext cx="1133856" cy="320040"/>
          </a:xfrm>
          <a:prstGeom prst="roundRect">
            <a:avLst>
              <a:gd name="adj" fmla="val 50000"/>
            </a:avLst>
          </a:prstGeom>
          <a:solidFill>
            <a:srgbClr val="35202B"/>
          </a:solidFill>
          <a:ln w="12700">
            <a:solidFill>
              <a:srgbClr val="4A293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6B6B"/>
                </a:solidFill>
              </a:defRPr>
            </a:pPr>
            <a:r>
              <a:t>👥 HR</a:t>
            </a:r>
          </a:p>
        </p:txBody>
      </p:sp>
      <p:sp>
        <p:nvSpPr>
          <p:cNvPr id="5" name="TextBox 4"/>
          <p:cNvSpPr txBox="1"/>
          <p:nvPr/>
        </p:nvSpPr>
        <p:spPr>
          <a:xfrm>
            <a:off x="1773936" y="841248"/>
            <a:ext cx="3657600" cy="411480"/>
          </a:xfrm>
          <a:prstGeom prst="rect">
            <a:avLst/>
          </a:prstGeom>
          <a:noFill/>
        </p:spPr>
        <p:txBody>
          <a:bodyPr wrap="square">
            <a:spAutoFit/>
          </a:bodyPr>
          <a:lstStyle/>
          <a:p>
            <a:pPr algn="l">
              <a:defRPr sz="2400" b="1">
                <a:solidFill>
                  <a:srgbClr val="E8EDF5"/>
                </a:solidFill>
                <a:latin typeface="Calibri"/>
              </a:defRPr>
            </a:pPr>
            <a:r>
              <a:t>Implementation Guide</a:t>
            </a:r>
          </a:p>
        </p:txBody>
      </p:sp>
      <p:sp>
        <p:nvSpPr>
          <p:cNvPr id="6" name="Rounded Rectangle 5"/>
          <p:cNvSpPr/>
          <p:nvPr/>
        </p:nvSpPr>
        <p:spPr>
          <a:xfrm>
            <a:off x="502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45920"/>
            <a:ext cx="320040" cy="320040"/>
          </a:xfrm>
          <a:prstGeom prst="roundRect">
            <a:avLst>
              <a:gd name="adj" fmla="val 15000"/>
            </a:avLst>
          </a:prstGeom>
          <a:solidFill>
            <a:srgbClr val="3E242F"/>
          </a:solidFill>
          <a:ln>
            <a:solidFill>
              <a:srgbClr val="4A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6B6B"/>
                </a:solidFill>
              </a:defRPr>
            </a:pPr>
            <a:r>
              <a:t>1</a:t>
            </a:r>
          </a:p>
        </p:txBody>
      </p:sp>
      <p:sp>
        <p:nvSpPr>
          <p:cNvPr id="8" name="TextBox 7"/>
          <p:cNvSpPr txBox="1"/>
          <p:nvPr/>
        </p:nvSpPr>
        <p:spPr>
          <a:xfrm>
            <a:off x="685800" y="2103120"/>
            <a:ext cx="1783080" cy="548640"/>
          </a:xfrm>
          <a:prstGeom prst="rect">
            <a:avLst/>
          </a:prstGeom>
          <a:noFill/>
        </p:spPr>
        <p:txBody>
          <a:bodyPr wrap="square">
            <a:spAutoFit/>
          </a:bodyPr>
          <a:lstStyle/>
          <a:p>
            <a:pPr algn="l">
              <a:defRPr sz="1600" b="1">
                <a:solidFill>
                  <a:srgbClr val="E8EDF5"/>
                </a:solidFill>
                <a:latin typeface="Calibri"/>
              </a:defRPr>
            </a:pPr>
            <a:r>
              <a:t>Apply strict GDPR controls</a:t>
            </a:r>
          </a:p>
        </p:txBody>
      </p:sp>
      <p:sp>
        <p:nvSpPr>
          <p:cNvPr id="9" name="TextBox 8"/>
          <p:cNvSpPr txBox="1"/>
          <p:nvPr/>
        </p:nvSpPr>
        <p:spPr>
          <a:xfrm>
            <a:off x="685800" y="2651760"/>
            <a:ext cx="1783080" cy="3108960"/>
          </a:xfrm>
          <a:prstGeom prst="rect">
            <a:avLst/>
          </a:prstGeom>
          <a:noFill/>
        </p:spPr>
        <p:txBody>
          <a:bodyPr wrap="square">
            <a:spAutoFit/>
          </a:bodyPr>
          <a:lstStyle/>
          <a:p>
            <a:pPr algn="l">
              <a:defRPr sz="1300" b="0">
                <a:solidFill>
                  <a:srgbClr val="6B7FA3"/>
                </a:solidFill>
                <a:latin typeface="Calibri"/>
              </a:defRPr>
            </a:pPr>
            <a:r>
              <a:t>Enforce queries always filter by the requesting manager's org unit. Consider aggregate-only responses for sensitive attributes like salary.</a:t>
            </a:r>
          </a:p>
        </p:txBody>
      </p:sp>
      <p:sp>
        <p:nvSpPr>
          <p:cNvPr id="10" name="TextBox 9"/>
          <p:cNvSpPr txBox="1"/>
          <p:nvPr/>
        </p:nvSpPr>
        <p:spPr>
          <a:xfrm>
            <a:off x="1920240" y="5212080"/>
            <a:ext cx="640080" cy="731520"/>
          </a:xfrm>
          <a:prstGeom prst="rect">
            <a:avLst/>
          </a:prstGeom>
          <a:noFill/>
        </p:spPr>
        <p:txBody>
          <a:bodyPr wrap="square">
            <a:spAutoFit/>
          </a:bodyPr>
          <a:lstStyle/>
          <a:p>
            <a:pPr algn="r">
              <a:defRPr sz="5400" b="1">
                <a:solidFill>
                  <a:srgbClr val="1B2131"/>
                </a:solidFill>
                <a:latin typeface="Calibri"/>
              </a:defRPr>
            </a:pPr>
            <a:r>
              <a:t>1</a:t>
            </a:r>
          </a:p>
        </p:txBody>
      </p:sp>
      <p:sp>
        <p:nvSpPr>
          <p:cNvPr id="11" name="Rounded Rectangle 10"/>
          <p:cNvSpPr/>
          <p:nvPr/>
        </p:nvSpPr>
        <p:spPr>
          <a:xfrm>
            <a:off x="2788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71800" y="1645920"/>
            <a:ext cx="320040" cy="320040"/>
          </a:xfrm>
          <a:prstGeom prst="roundRect">
            <a:avLst>
              <a:gd name="adj" fmla="val 15000"/>
            </a:avLst>
          </a:prstGeom>
          <a:solidFill>
            <a:srgbClr val="3E242F"/>
          </a:solidFill>
          <a:ln>
            <a:solidFill>
              <a:srgbClr val="4A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6B6B"/>
                </a:solidFill>
              </a:defRPr>
            </a:pPr>
            <a:r>
              <a:t>2</a:t>
            </a:r>
          </a:p>
        </p:txBody>
      </p:sp>
      <p:sp>
        <p:nvSpPr>
          <p:cNvPr id="13" name="TextBox 12"/>
          <p:cNvSpPr txBox="1"/>
          <p:nvPr/>
        </p:nvSpPr>
        <p:spPr>
          <a:xfrm>
            <a:off x="2971800" y="2103120"/>
            <a:ext cx="1783080" cy="548640"/>
          </a:xfrm>
          <a:prstGeom prst="rect">
            <a:avLst/>
          </a:prstGeom>
          <a:noFill/>
        </p:spPr>
        <p:txBody>
          <a:bodyPr wrap="square">
            <a:spAutoFit/>
          </a:bodyPr>
          <a:lstStyle/>
          <a:p>
            <a:pPr algn="l">
              <a:defRPr sz="1600" b="1">
                <a:solidFill>
                  <a:srgbClr val="E8EDF5"/>
                </a:solidFill>
                <a:latin typeface="Calibri"/>
              </a:defRPr>
            </a:pPr>
            <a:r>
              <a:t>Build org-aware SQL logic</a:t>
            </a:r>
          </a:p>
        </p:txBody>
      </p:sp>
      <p:sp>
        <p:nvSpPr>
          <p:cNvPr id="14" name="TextBox 13"/>
          <p:cNvSpPr txBox="1"/>
          <p:nvPr/>
        </p:nvSpPr>
        <p:spPr>
          <a:xfrm>
            <a:off x="2971800" y="2651760"/>
            <a:ext cx="1783080" cy="3108960"/>
          </a:xfrm>
          <a:prstGeom prst="rect">
            <a:avLst/>
          </a:prstGeom>
          <a:noFill/>
        </p:spPr>
        <p:txBody>
          <a:bodyPr wrap="square">
            <a:spAutoFit/>
          </a:bodyPr>
          <a:lstStyle/>
          <a:p>
            <a:pPr algn="l">
              <a:defRPr sz="1300" b="0">
                <a:solidFill>
                  <a:srgbClr val="6B7FA3"/>
                </a:solidFill>
                <a:latin typeface="Calibri"/>
              </a:defRPr>
            </a:pPr>
            <a:r>
              <a:t>The Azure Function should automatically append WHERE OrgUnit IN (user's authorised units). This prevents accidental over-disclosure.</a:t>
            </a:r>
          </a:p>
        </p:txBody>
      </p:sp>
      <p:sp>
        <p:nvSpPr>
          <p:cNvPr id="15" name="TextBox 14"/>
          <p:cNvSpPr txBox="1"/>
          <p:nvPr/>
        </p:nvSpPr>
        <p:spPr>
          <a:xfrm>
            <a:off x="4206240" y="5212080"/>
            <a:ext cx="640080" cy="731520"/>
          </a:xfrm>
          <a:prstGeom prst="rect">
            <a:avLst/>
          </a:prstGeom>
          <a:noFill/>
        </p:spPr>
        <p:txBody>
          <a:bodyPr wrap="square">
            <a:spAutoFit/>
          </a:bodyPr>
          <a:lstStyle/>
          <a:p>
            <a:pPr algn="r">
              <a:defRPr sz="5400" b="1">
                <a:solidFill>
                  <a:srgbClr val="1B2131"/>
                </a:solidFill>
                <a:latin typeface="Calibri"/>
              </a:defRPr>
            </a:pPr>
            <a:r>
              <a:t>2</a:t>
            </a:r>
          </a:p>
        </p:txBody>
      </p:sp>
      <p:sp>
        <p:nvSpPr>
          <p:cNvPr id="16" name="Rounded Rectangle 15"/>
          <p:cNvSpPr/>
          <p:nvPr/>
        </p:nvSpPr>
        <p:spPr>
          <a:xfrm>
            <a:off x="5074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257800" y="1645920"/>
            <a:ext cx="320040" cy="320040"/>
          </a:xfrm>
          <a:prstGeom prst="roundRect">
            <a:avLst>
              <a:gd name="adj" fmla="val 15000"/>
            </a:avLst>
          </a:prstGeom>
          <a:solidFill>
            <a:srgbClr val="3E242F"/>
          </a:solidFill>
          <a:ln>
            <a:solidFill>
              <a:srgbClr val="4A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6B6B"/>
                </a:solidFill>
              </a:defRPr>
            </a:pPr>
            <a:r>
              <a:t>3</a:t>
            </a:r>
          </a:p>
        </p:txBody>
      </p:sp>
      <p:sp>
        <p:nvSpPr>
          <p:cNvPr id="18" name="TextBox 17"/>
          <p:cNvSpPr txBox="1"/>
          <p:nvPr/>
        </p:nvSpPr>
        <p:spPr>
          <a:xfrm>
            <a:off x="5257800" y="2103120"/>
            <a:ext cx="1783080" cy="548640"/>
          </a:xfrm>
          <a:prstGeom prst="rect">
            <a:avLst/>
          </a:prstGeom>
          <a:noFill/>
        </p:spPr>
        <p:txBody>
          <a:bodyPr wrap="square">
            <a:spAutoFit/>
          </a:bodyPr>
          <a:lstStyle/>
          <a:p>
            <a:pPr algn="l">
              <a:defRPr sz="1600" b="1">
                <a:solidFill>
                  <a:srgbClr val="E8EDF5"/>
                </a:solidFill>
                <a:latin typeface="Calibri"/>
              </a:defRPr>
            </a:pPr>
            <a:r>
              <a:t>Integrate training systems</a:t>
            </a:r>
          </a:p>
        </p:txBody>
      </p:sp>
      <p:sp>
        <p:nvSpPr>
          <p:cNvPr id="19" name="TextBox 18"/>
          <p:cNvSpPr txBox="1"/>
          <p:nvPr/>
        </p:nvSpPr>
        <p:spPr>
          <a:xfrm>
            <a:off x="5257800" y="2651760"/>
            <a:ext cx="1783080" cy="3108960"/>
          </a:xfrm>
          <a:prstGeom prst="rect">
            <a:avLst/>
          </a:prstGeom>
          <a:noFill/>
        </p:spPr>
        <p:txBody>
          <a:bodyPr wrap="square">
            <a:spAutoFit/>
          </a:bodyPr>
          <a:lstStyle/>
          <a:p>
            <a:pPr algn="l">
              <a:defRPr sz="1300" b="0">
                <a:solidFill>
                  <a:srgbClr val="6B7FA3"/>
                </a:solidFill>
                <a:latin typeface="Calibri"/>
              </a:defRPr>
            </a:pPr>
            <a:r>
              <a:t>If mandatory training is tracked in a standalone LMS, replicate completion data into HANA or expose via API. Avoid partial results.</a:t>
            </a:r>
          </a:p>
        </p:txBody>
      </p:sp>
      <p:sp>
        <p:nvSpPr>
          <p:cNvPr id="20" name="TextBox 19"/>
          <p:cNvSpPr txBox="1"/>
          <p:nvPr/>
        </p:nvSpPr>
        <p:spPr>
          <a:xfrm>
            <a:off x="6492240" y="5212080"/>
            <a:ext cx="640080" cy="731520"/>
          </a:xfrm>
          <a:prstGeom prst="rect">
            <a:avLst/>
          </a:prstGeom>
          <a:noFill/>
        </p:spPr>
        <p:txBody>
          <a:bodyPr wrap="square">
            <a:spAutoFit/>
          </a:bodyPr>
          <a:lstStyle/>
          <a:p>
            <a:pPr algn="r">
              <a:defRPr sz="5400" b="1">
                <a:solidFill>
                  <a:srgbClr val="1B2131"/>
                </a:solidFill>
                <a:latin typeface="Calibri"/>
              </a:defRPr>
            </a:pPr>
            <a:r>
              <a:t>3</a:t>
            </a:r>
          </a:p>
        </p:txBody>
      </p:sp>
      <p:sp>
        <p:nvSpPr>
          <p:cNvPr id="21" name="Rounded Rectangle 20"/>
          <p:cNvSpPr/>
          <p:nvPr/>
        </p:nvSpPr>
        <p:spPr>
          <a:xfrm>
            <a:off x="7360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43800" y="1645920"/>
            <a:ext cx="320040" cy="320040"/>
          </a:xfrm>
          <a:prstGeom prst="roundRect">
            <a:avLst>
              <a:gd name="adj" fmla="val 15000"/>
            </a:avLst>
          </a:prstGeom>
          <a:solidFill>
            <a:srgbClr val="3E242F"/>
          </a:solidFill>
          <a:ln>
            <a:solidFill>
              <a:srgbClr val="4A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6B6B"/>
                </a:solidFill>
              </a:defRPr>
            </a:pPr>
            <a:r>
              <a:t>4</a:t>
            </a:r>
          </a:p>
        </p:txBody>
      </p:sp>
      <p:sp>
        <p:nvSpPr>
          <p:cNvPr id="23" name="TextBox 22"/>
          <p:cNvSpPr txBox="1"/>
          <p:nvPr/>
        </p:nvSpPr>
        <p:spPr>
          <a:xfrm>
            <a:off x="7543800" y="2103120"/>
            <a:ext cx="1783080" cy="548640"/>
          </a:xfrm>
          <a:prstGeom prst="rect">
            <a:avLst/>
          </a:prstGeom>
          <a:noFill/>
        </p:spPr>
        <p:txBody>
          <a:bodyPr wrap="square">
            <a:spAutoFit/>
          </a:bodyPr>
          <a:lstStyle/>
          <a:p>
            <a:pPr algn="l">
              <a:defRPr sz="1600" b="1">
                <a:solidFill>
                  <a:srgbClr val="E8EDF5"/>
                </a:solidFill>
                <a:latin typeface="Calibri"/>
              </a:defRPr>
            </a:pPr>
            <a:r>
              <a:t>Add automated nudges</a:t>
            </a:r>
          </a:p>
        </p:txBody>
      </p:sp>
      <p:sp>
        <p:nvSpPr>
          <p:cNvPr id="24" name="TextBox 23"/>
          <p:cNvSpPr txBox="1"/>
          <p:nvPr/>
        </p:nvSpPr>
        <p:spPr>
          <a:xfrm>
            <a:off x="7543800" y="2651760"/>
            <a:ext cx="1783080" cy="3108960"/>
          </a:xfrm>
          <a:prstGeom prst="rect">
            <a:avLst/>
          </a:prstGeom>
          <a:noFill/>
        </p:spPr>
        <p:txBody>
          <a:bodyPr wrap="square">
            <a:spAutoFit/>
          </a:bodyPr>
          <a:lstStyle/>
          <a:p>
            <a:pPr algn="l">
              <a:defRPr sz="1300" b="0">
                <a:solidFill>
                  <a:srgbClr val="6B7FA3"/>
                </a:solidFill>
                <a:latin typeface="Calibri"/>
              </a:defRPr>
            </a:pPr>
            <a:r>
              <a:t>After listing overdue employees, offer to send reminders automatically via Power Automate. This closes the loop from insight to action.</a:t>
            </a:r>
          </a:p>
        </p:txBody>
      </p:sp>
      <p:sp>
        <p:nvSpPr>
          <p:cNvPr id="25" name="TextBox 24"/>
          <p:cNvSpPr txBox="1"/>
          <p:nvPr/>
        </p:nvSpPr>
        <p:spPr>
          <a:xfrm>
            <a:off x="8778240" y="5212080"/>
            <a:ext cx="640080" cy="731520"/>
          </a:xfrm>
          <a:prstGeom prst="rect">
            <a:avLst/>
          </a:prstGeom>
          <a:noFill/>
        </p:spPr>
        <p:txBody>
          <a:bodyPr wrap="square">
            <a:spAutoFit/>
          </a:bodyPr>
          <a:lstStyle/>
          <a:p>
            <a:pPr algn="r">
              <a:defRPr sz="5400" b="1">
                <a:solidFill>
                  <a:srgbClr val="1B2131"/>
                </a:solidFill>
                <a:latin typeface="Calibri"/>
              </a:defRPr>
            </a:pPr>
            <a:r>
              <a:t>4</a:t>
            </a:r>
          </a:p>
        </p:txBody>
      </p:sp>
      <p:sp>
        <p:nvSpPr>
          <p:cNvPr id="26" name="Rounded Rectangle 25"/>
          <p:cNvSpPr/>
          <p:nvPr/>
        </p:nvSpPr>
        <p:spPr>
          <a:xfrm>
            <a:off x="9646920" y="1463040"/>
            <a:ext cx="2148840" cy="45720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29800" y="1645920"/>
            <a:ext cx="320040" cy="320040"/>
          </a:xfrm>
          <a:prstGeom prst="roundRect">
            <a:avLst>
              <a:gd name="adj" fmla="val 15000"/>
            </a:avLst>
          </a:prstGeom>
          <a:solidFill>
            <a:srgbClr val="3E242F"/>
          </a:solidFill>
          <a:ln>
            <a:solidFill>
              <a:srgbClr val="4A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6B6B"/>
                </a:solidFill>
              </a:defRPr>
            </a:pPr>
            <a:r>
              <a:t>5</a:t>
            </a:r>
          </a:p>
        </p:txBody>
      </p:sp>
      <p:sp>
        <p:nvSpPr>
          <p:cNvPr id="28" name="TextBox 27"/>
          <p:cNvSpPr txBox="1"/>
          <p:nvPr/>
        </p:nvSpPr>
        <p:spPr>
          <a:xfrm>
            <a:off x="9829800" y="2103120"/>
            <a:ext cx="1783080" cy="548640"/>
          </a:xfrm>
          <a:prstGeom prst="rect">
            <a:avLst/>
          </a:prstGeom>
          <a:noFill/>
        </p:spPr>
        <p:txBody>
          <a:bodyPr wrap="square">
            <a:spAutoFit/>
          </a:bodyPr>
          <a:lstStyle/>
          <a:p>
            <a:pPr algn="l">
              <a:defRPr sz="1600" b="1">
                <a:solidFill>
                  <a:srgbClr val="E8EDF5"/>
                </a:solidFill>
                <a:latin typeface="Calibri"/>
              </a:defRPr>
            </a:pPr>
            <a:r>
              <a:t>Privacy review before launch</a:t>
            </a:r>
          </a:p>
        </p:txBody>
      </p:sp>
      <p:sp>
        <p:nvSpPr>
          <p:cNvPr id="29" name="TextBox 28"/>
          <p:cNvSpPr txBox="1"/>
          <p:nvPr/>
        </p:nvSpPr>
        <p:spPr>
          <a:xfrm>
            <a:off x="9829800" y="2651760"/>
            <a:ext cx="1783080" cy="3108960"/>
          </a:xfrm>
          <a:prstGeom prst="rect">
            <a:avLst/>
          </a:prstGeom>
          <a:noFill/>
        </p:spPr>
        <p:txBody>
          <a:bodyPr wrap="square">
            <a:spAutoFit/>
          </a:bodyPr>
          <a:lstStyle/>
          <a:p>
            <a:pPr algn="l">
              <a:defRPr sz="1300" b="0">
                <a:solidFill>
                  <a:srgbClr val="6B7FA3"/>
                </a:solidFill>
                <a:latin typeface="Calibri"/>
              </a:defRPr>
            </a:pPr>
            <a:r>
              <a:t>Have legal/DPO review the data fields the bot can access. Document which queries are permitted, which require aggregation, which are blocked.</a:t>
            </a:r>
          </a:p>
        </p:txBody>
      </p:sp>
      <p:sp>
        <p:nvSpPr>
          <p:cNvPr id="30" name="TextBox 29"/>
          <p:cNvSpPr txBox="1"/>
          <p:nvPr/>
        </p:nvSpPr>
        <p:spPr>
          <a:xfrm>
            <a:off x="11064240" y="5212080"/>
            <a:ext cx="640080" cy="731520"/>
          </a:xfrm>
          <a:prstGeom prst="rect">
            <a:avLst/>
          </a:prstGeom>
          <a:noFill/>
        </p:spPr>
        <p:txBody>
          <a:bodyPr wrap="square">
            <a:spAutoFit/>
          </a:bodyPr>
          <a:lstStyle/>
          <a:p>
            <a:pPr algn="r">
              <a:defRPr sz="5400" b="1">
                <a:solidFill>
                  <a:srgbClr val="1B2131"/>
                </a:solidFill>
                <a:latin typeface="Calibri"/>
              </a:defRPr>
            </a:pPr>
            <a:r>
              <a:t>5</a:t>
            </a:r>
          </a:p>
        </p:txBody>
      </p:sp>
      <p:sp>
        <p:nvSpPr>
          <p:cNvPr id="31" name="TextBox 30"/>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4114800" y="1097280"/>
            <a:ext cx="2286000" cy="320040"/>
          </a:xfrm>
          <a:prstGeom prst="roundRect">
            <a:avLst>
              <a:gd name="adj" fmla="val 50000"/>
            </a:avLst>
          </a:prstGeom>
          <a:solidFill>
            <a:srgbClr val="182943"/>
          </a:solidFill>
          <a:ln w="12700">
            <a:solidFill>
              <a:srgbClr val="1E365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9CF9"/>
                </a:solidFill>
              </a:defRPr>
            </a:pPr>
            <a:r>
              <a:t>Technical Architecture</a:t>
            </a:r>
          </a:p>
        </p:txBody>
      </p:sp>
      <p:sp>
        <p:nvSpPr>
          <p:cNvPr id="5" name="TextBox 4"/>
          <p:cNvSpPr txBox="1"/>
          <p:nvPr/>
        </p:nvSpPr>
        <p:spPr>
          <a:xfrm>
            <a:off x="0" y="1645920"/>
            <a:ext cx="12191695" cy="548640"/>
          </a:xfrm>
          <a:prstGeom prst="rect">
            <a:avLst/>
          </a:prstGeom>
          <a:noFill/>
        </p:spPr>
        <p:txBody>
          <a:bodyPr wrap="square">
            <a:spAutoFit/>
          </a:bodyPr>
          <a:lstStyle/>
          <a:p>
            <a:pPr algn="ctr">
              <a:defRPr sz="3200" b="1">
                <a:solidFill>
                  <a:srgbClr val="E8EDF5"/>
                </a:solidFill>
                <a:latin typeface="Calibri"/>
              </a:defRPr>
            </a:pPr>
            <a:r>
              <a:t>How it's built</a:t>
            </a:r>
          </a:p>
        </p:txBody>
      </p:sp>
      <p:sp>
        <p:nvSpPr>
          <p:cNvPr id="6" name="TextBox 5"/>
          <p:cNvSpPr txBox="1"/>
          <p:nvPr/>
        </p:nvSpPr>
        <p:spPr>
          <a:xfrm>
            <a:off x="1828800" y="2194560"/>
            <a:ext cx="8503920" cy="365760"/>
          </a:xfrm>
          <a:prstGeom prst="rect">
            <a:avLst/>
          </a:prstGeom>
          <a:noFill/>
        </p:spPr>
        <p:txBody>
          <a:bodyPr wrap="square">
            <a:spAutoFit/>
          </a:bodyPr>
          <a:lstStyle/>
          <a:p>
            <a:pPr algn="ctr">
              <a:defRPr sz="1500" b="0">
                <a:solidFill>
                  <a:srgbClr val="6B7FA3"/>
                </a:solidFill>
                <a:latin typeface="Calibri"/>
              </a:defRPr>
            </a:pPr>
            <a:r>
              <a:t>Five components working together to turn natural language into SAP actions</a:t>
            </a:r>
          </a:p>
        </p:txBody>
      </p:sp>
      <p:sp>
        <p:nvSpPr>
          <p:cNvPr id="7" name="Rounded Rectangle 6"/>
          <p:cNvSpPr/>
          <p:nvPr/>
        </p:nvSpPr>
        <p:spPr>
          <a:xfrm>
            <a:off x="540867" y="3017520"/>
            <a:ext cx="1965960" cy="27432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0867" y="3291840"/>
            <a:ext cx="1965960" cy="457200"/>
          </a:xfrm>
          <a:prstGeom prst="rect">
            <a:avLst/>
          </a:prstGeom>
          <a:noFill/>
        </p:spPr>
        <p:txBody>
          <a:bodyPr wrap="square">
            <a:spAutoFit/>
          </a:bodyPr>
          <a:lstStyle/>
          <a:p>
            <a:pPr algn="ctr">
              <a:defRPr sz="2800" b="0">
                <a:solidFill>
                  <a:srgbClr val="E8EDF5"/>
                </a:solidFill>
                <a:latin typeface="Calibri"/>
              </a:defRPr>
            </a:pPr>
            <a:r>
              <a:t>💬</a:t>
            </a:r>
          </a:p>
        </p:txBody>
      </p:sp>
      <p:sp>
        <p:nvSpPr>
          <p:cNvPr id="9" name="TextBox 8"/>
          <p:cNvSpPr txBox="1"/>
          <p:nvPr/>
        </p:nvSpPr>
        <p:spPr>
          <a:xfrm>
            <a:off x="678027" y="3840480"/>
            <a:ext cx="1691640" cy="457200"/>
          </a:xfrm>
          <a:prstGeom prst="rect">
            <a:avLst/>
          </a:prstGeom>
          <a:noFill/>
        </p:spPr>
        <p:txBody>
          <a:bodyPr wrap="square">
            <a:spAutoFit/>
          </a:bodyPr>
          <a:lstStyle/>
          <a:p>
            <a:pPr algn="ctr">
              <a:defRPr sz="1600" b="1">
                <a:solidFill>
                  <a:srgbClr val="4F9CF9"/>
                </a:solidFill>
                <a:latin typeface="Calibri"/>
              </a:defRPr>
            </a:pPr>
            <a:r>
              <a:t>Microsoft Teams</a:t>
            </a:r>
          </a:p>
        </p:txBody>
      </p:sp>
      <p:sp>
        <p:nvSpPr>
          <p:cNvPr id="10" name="TextBox 9"/>
          <p:cNvSpPr txBox="1"/>
          <p:nvPr/>
        </p:nvSpPr>
        <p:spPr>
          <a:xfrm>
            <a:off x="678027" y="4389120"/>
            <a:ext cx="1691640" cy="1188720"/>
          </a:xfrm>
          <a:prstGeom prst="rect">
            <a:avLst/>
          </a:prstGeom>
          <a:noFill/>
        </p:spPr>
        <p:txBody>
          <a:bodyPr wrap="square">
            <a:spAutoFit/>
          </a:bodyPr>
          <a:lstStyle/>
          <a:p>
            <a:pPr algn="ctr">
              <a:defRPr sz="1300" b="0">
                <a:solidFill>
                  <a:srgbClr val="6B7FA3"/>
                </a:solidFill>
                <a:latin typeface="Calibri"/>
              </a:defRPr>
            </a:pPr>
            <a:r>
              <a:t>User sends natural language question via chat</a:t>
            </a:r>
          </a:p>
        </p:txBody>
      </p:sp>
      <p:sp>
        <p:nvSpPr>
          <p:cNvPr id="11" name="TextBox 10"/>
          <p:cNvSpPr txBox="1"/>
          <p:nvPr/>
        </p:nvSpPr>
        <p:spPr>
          <a:xfrm>
            <a:off x="2506827" y="4114800"/>
            <a:ext cx="320040" cy="365760"/>
          </a:xfrm>
          <a:prstGeom prst="rect">
            <a:avLst/>
          </a:prstGeom>
          <a:noFill/>
        </p:spPr>
        <p:txBody>
          <a:bodyPr wrap="square">
            <a:spAutoFit/>
          </a:bodyPr>
          <a:lstStyle/>
          <a:p>
            <a:pPr algn="ctr">
              <a:defRPr sz="2000" b="0">
                <a:solidFill>
                  <a:srgbClr val="3D506E"/>
                </a:solidFill>
                <a:latin typeface="Calibri"/>
              </a:defRPr>
            </a:pPr>
            <a:r>
              <a:t>→</a:t>
            </a:r>
          </a:p>
        </p:txBody>
      </p:sp>
      <p:sp>
        <p:nvSpPr>
          <p:cNvPr id="12" name="Rounded Rectangle 11"/>
          <p:cNvSpPr/>
          <p:nvPr/>
        </p:nvSpPr>
        <p:spPr>
          <a:xfrm>
            <a:off x="2826867" y="3017520"/>
            <a:ext cx="1965960" cy="27432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26867" y="3291840"/>
            <a:ext cx="1965960" cy="457200"/>
          </a:xfrm>
          <a:prstGeom prst="rect">
            <a:avLst/>
          </a:prstGeom>
          <a:noFill/>
        </p:spPr>
        <p:txBody>
          <a:bodyPr wrap="square">
            <a:spAutoFit/>
          </a:bodyPr>
          <a:lstStyle/>
          <a:p>
            <a:pPr algn="ctr">
              <a:defRPr sz="2800" b="0">
                <a:solidFill>
                  <a:srgbClr val="E8EDF5"/>
                </a:solidFill>
                <a:latin typeface="Calibri"/>
              </a:defRPr>
            </a:pPr>
            <a:r>
              <a:t>🤖</a:t>
            </a:r>
          </a:p>
        </p:txBody>
      </p:sp>
      <p:sp>
        <p:nvSpPr>
          <p:cNvPr id="14" name="TextBox 13"/>
          <p:cNvSpPr txBox="1"/>
          <p:nvPr/>
        </p:nvSpPr>
        <p:spPr>
          <a:xfrm>
            <a:off x="2964027" y="3840480"/>
            <a:ext cx="1691640" cy="457200"/>
          </a:xfrm>
          <a:prstGeom prst="rect">
            <a:avLst/>
          </a:prstGeom>
          <a:noFill/>
        </p:spPr>
        <p:txBody>
          <a:bodyPr wrap="square">
            <a:spAutoFit/>
          </a:bodyPr>
          <a:lstStyle/>
          <a:p>
            <a:pPr algn="ctr">
              <a:defRPr sz="1600" b="1">
                <a:solidFill>
                  <a:srgbClr val="A78BFA"/>
                </a:solidFill>
                <a:latin typeface="Calibri"/>
              </a:defRPr>
            </a:pPr>
            <a:r>
              <a:t>Power Virtual Agents</a:t>
            </a:r>
          </a:p>
        </p:txBody>
      </p:sp>
      <p:sp>
        <p:nvSpPr>
          <p:cNvPr id="15" name="TextBox 14"/>
          <p:cNvSpPr txBox="1"/>
          <p:nvPr/>
        </p:nvSpPr>
        <p:spPr>
          <a:xfrm>
            <a:off x="2964027" y="4389120"/>
            <a:ext cx="1691640" cy="1188720"/>
          </a:xfrm>
          <a:prstGeom prst="rect">
            <a:avLst/>
          </a:prstGeom>
          <a:noFill/>
        </p:spPr>
        <p:txBody>
          <a:bodyPr wrap="square">
            <a:spAutoFit/>
          </a:bodyPr>
          <a:lstStyle/>
          <a:p>
            <a:pPr algn="ctr">
              <a:defRPr sz="1300" b="0">
                <a:solidFill>
                  <a:srgbClr val="6B7FA3"/>
                </a:solidFill>
                <a:latin typeface="Calibri"/>
              </a:defRPr>
            </a:pPr>
            <a:r>
              <a:t>Conversational interface, routes to Power Automate flow</a:t>
            </a:r>
          </a:p>
        </p:txBody>
      </p:sp>
      <p:sp>
        <p:nvSpPr>
          <p:cNvPr id="16" name="TextBox 15"/>
          <p:cNvSpPr txBox="1"/>
          <p:nvPr/>
        </p:nvSpPr>
        <p:spPr>
          <a:xfrm>
            <a:off x="4792827" y="4114800"/>
            <a:ext cx="320040" cy="365760"/>
          </a:xfrm>
          <a:prstGeom prst="rect">
            <a:avLst/>
          </a:prstGeom>
          <a:noFill/>
        </p:spPr>
        <p:txBody>
          <a:bodyPr wrap="square">
            <a:spAutoFit/>
          </a:bodyPr>
          <a:lstStyle/>
          <a:p>
            <a:pPr algn="ctr">
              <a:defRPr sz="2000" b="0">
                <a:solidFill>
                  <a:srgbClr val="3D506E"/>
                </a:solidFill>
                <a:latin typeface="Calibri"/>
              </a:defRPr>
            </a:pPr>
            <a:r>
              <a:t>→</a:t>
            </a:r>
          </a:p>
        </p:txBody>
      </p:sp>
      <p:sp>
        <p:nvSpPr>
          <p:cNvPr id="17" name="Rounded Rectangle 16"/>
          <p:cNvSpPr/>
          <p:nvPr/>
        </p:nvSpPr>
        <p:spPr>
          <a:xfrm>
            <a:off x="5112867" y="3017520"/>
            <a:ext cx="1965960" cy="27432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12867" y="3291840"/>
            <a:ext cx="1965960" cy="457200"/>
          </a:xfrm>
          <a:prstGeom prst="rect">
            <a:avLst/>
          </a:prstGeom>
          <a:noFill/>
        </p:spPr>
        <p:txBody>
          <a:bodyPr wrap="square">
            <a:spAutoFit/>
          </a:bodyPr>
          <a:lstStyle/>
          <a:p>
            <a:pPr algn="ctr">
              <a:defRPr sz="2800" b="0">
                <a:solidFill>
                  <a:srgbClr val="E8EDF5"/>
                </a:solidFill>
                <a:latin typeface="Calibri"/>
              </a:defRPr>
            </a:pPr>
            <a:r>
              <a:t>⚡</a:t>
            </a:r>
          </a:p>
        </p:txBody>
      </p:sp>
      <p:sp>
        <p:nvSpPr>
          <p:cNvPr id="19" name="TextBox 18"/>
          <p:cNvSpPr txBox="1"/>
          <p:nvPr/>
        </p:nvSpPr>
        <p:spPr>
          <a:xfrm>
            <a:off x="5250027" y="3840480"/>
            <a:ext cx="1691640" cy="457200"/>
          </a:xfrm>
          <a:prstGeom prst="rect">
            <a:avLst/>
          </a:prstGeom>
          <a:noFill/>
        </p:spPr>
        <p:txBody>
          <a:bodyPr wrap="square">
            <a:spAutoFit/>
          </a:bodyPr>
          <a:lstStyle/>
          <a:p>
            <a:pPr algn="ctr">
              <a:defRPr sz="1600" b="1">
                <a:solidFill>
                  <a:srgbClr val="00D4AA"/>
                </a:solidFill>
                <a:latin typeface="Calibri"/>
              </a:defRPr>
            </a:pPr>
            <a:r>
              <a:t>Azure OpenAI GPT-4</a:t>
            </a:r>
          </a:p>
        </p:txBody>
      </p:sp>
      <p:sp>
        <p:nvSpPr>
          <p:cNvPr id="20" name="TextBox 19"/>
          <p:cNvSpPr txBox="1"/>
          <p:nvPr/>
        </p:nvSpPr>
        <p:spPr>
          <a:xfrm>
            <a:off x="5250027" y="4389120"/>
            <a:ext cx="1691640" cy="1188720"/>
          </a:xfrm>
          <a:prstGeom prst="rect">
            <a:avLst/>
          </a:prstGeom>
          <a:noFill/>
        </p:spPr>
        <p:txBody>
          <a:bodyPr wrap="square">
            <a:spAutoFit/>
          </a:bodyPr>
          <a:lstStyle/>
          <a:p>
            <a:pPr algn="ctr">
              <a:defRPr sz="1300" b="0">
                <a:solidFill>
                  <a:srgbClr val="6B7FA3"/>
                </a:solidFill>
                <a:latin typeface="Calibri"/>
              </a:defRPr>
            </a:pPr>
            <a:r>
              <a:t>Translates intent to SQL, generates natural language response</a:t>
            </a:r>
          </a:p>
        </p:txBody>
      </p:sp>
      <p:sp>
        <p:nvSpPr>
          <p:cNvPr id="21" name="TextBox 20"/>
          <p:cNvSpPr txBox="1"/>
          <p:nvPr/>
        </p:nvSpPr>
        <p:spPr>
          <a:xfrm>
            <a:off x="7078827" y="4114800"/>
            <a:ext cx="320040" cy="365760"/>
          </a:xfrm>
          <a:prstGeom prst="rect">
            <a:avLst/>
          </a:prstGeom>
          <a:noFill/>
        </p:spPr>
        <p:txBody>
          <a:bodyPr wrap="square">
            <a:spAutoFit/>
          </a:bodyPr>
          <a:lstStyle/>
          <a:p>
            <a:pPr algn="ctr">
              <a:defRPr sz="2000" b="0">
                <a:solidFill>
                  <a:srgbClr val="3D506E"/>
                </a:solidFill>
                <a:latin typeface="Calibri"/>
              </a:defRPr>
            </a:pPr>
            <a:r>
              <a:t>→</a:t>
            </a:r>
          </a:p>
        </p:txBody>
      </p:sp>
      <p:sp>
        <p:nvSpPr>
          <p:cNvPr id="22" name="Rounded Rectangle 21"/>
          <p:cNvSpPr/>
          <p:nvPr/>
        </p:nvSpPr>
        <p:spPr>
          <a:xfrm>
            <a:off x="7398867" y="3017520"/>
            <a:ext cx="1965960" cy="27432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98867" y="3291840"/>
            <a:ext cx="1965960" cy="457200"/>
          </a:xfrm>
          <a:prstGeom prst="rect">
            <a:avLst/>
          </a:prstGeom>
          <a:noFill/>
        </p:spPr>
        <p:txBody>
          <a:bodyPr wrap="square">
            <a:spAutoFit/>
          </a:bodyPr>
          <a:lstStyle/>
          <a:p>
            <a:pPr algn="ctr">
              <a:defRPr sz="2800" b="0">
                <a:solidFill>
                  <a:srgbClr val="E8EDF5"/>
                </a:solidFill>
                <a:latin typeface="Calibri"/>
              </a:defRPr>
            </a:pPr>
            <a:r>
              <a:t>🔧</a:t>
            </a:r>
          </a:p>
        </p:txBody>
      </p:sp>
      <p:sp>
        <p:nvSpPr>
          <p:cNvPr id="24" name="TextBox 23"/>
          <p:cNvSpPr txBox="1"/>
          <p:nvPr/>
        </p:nvSpPr>
        <p:spPr>
          <a:xfrm>
            <a:off x="7536027" y="3840480"/>
            <a:ext cx="1691640" cy="457200"/>
          </a:xfrm>
          <a:prstGeom prst="rect">
            <a:avLst/>
          </a:prstGeom>
          <a:noFill/>
        </p:spPr>
        <p:txBody>
          <a:bodyPr wrap="square">
            <a:spAutoFit/>
          </a:bodyPr>
          <a:lstStyle/>
          <a:p>
            <a:pPr algn="ctr">
              <a:defRPr sz="1600" b="1">
                <a:solidFill>
                  <a:srgbClr val="F5A623"/>
                </a:solidFill>
                <a:latin typeface="Calibri"/>
              </a:defRPr>
            </a:pPr>
            <a:r>
              <a:t>Azure Function</a:t>
            </a:r>
          </a:p>
        </p:txBody>
      </p:sp>
      <p:sp>
        <p:nvSpPr>
          <p:cNvPr id="25" name="TextBox 24"/>
          <p:cNvSpPr txBox="1"/>
          <p:nvPr/>
        </p:nvSpPr>
        <p:spPr>
          <a:xfrm>
            <a:off x="7536027" y="4389120"/>
            <a:ext cx="1691640" cy="1188720"/>
          </a:xfrm>
          <a:prstGeom prst="rect">
            <a:avLst/>
          </a:prstGeom>
          <a:noFill/>
        </p:spPr>
        <p:txBody>
          <a:bodyPr wrap="square">
            <a:spAutoFit/>
          </a:bodyPr>
          <a:lstStyle/>
          <a:p>
            <a:pPr algn="ctr">
              <a:defRPr sz="1300" b="0">
                <a:solidFill>
                  <a:srgbClr val="6B7FA3"/>
                </a:solidFill>
                <a:latin typeface="Calibri"/>
              </a:defRPr>
            </a:pPr>
            <a:r>
              <a:t>Executes HANA SQL, converts results CSV → JSON → Markdown</a:t>
            </a:r>
          </a:p>
        </p:txBody>
      </p:sp>
      <p:sp>
        <p:nvSpPr>
          <p:cNvPr id="26" name="TextBox 25"/>
          <p:cNvSpPr txBox="1"/>
          <p:nvPr/>
        </p:nvSpPr>
        <p:spPr>
          <a:xfrm>
            <a:off x="9364827" y="4114800"/>
            <a:ext cx="320040" cy="365760"/>
          </a:xfrm>
          <a:prstGeom prst="rect">
            <a:avLst/>
          </a:prstGeom>
          <a:noFill/>
        </p:spPr>
        <p:txBody>
          <a:bodyPr wrap="square">
            <a:spAutoFit/>
          </a:bodyPr>
          <a:lstStyle/>
          <a:p>
            <a:pPr algn="ctr">
              <a:defRPr sz="2000" b="0">
                <a:solidFill>
                  <a:srgbClr val="3D506E"/>
                </a:solidFill>
                <a:latin typeface="Calibri"/>
              </a:defRPr>
            </a:pPr>
            <a:r>
              <a:t>→</a:t>
            </a:r>
          </a:p>
        </p:txBody>
      </p:sp>
      <p:sp>
        <p:nvSpPr>
          <p:cNvPr id="27" name="Rounded Rectangle 26"/>
          <p:cNvSpPr/>
          <p:nvPr/>
        </p:nvSpPr>
        <p:spPr>
          <a:xfrm>
            <a:off x="9684867" y="3017520"/>
            <a:ext cx="1965960" cy="274320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84867" y="3291840"/>
            <a:ext cx="1965960" cy="457200"/>
          </a:xfrm>
          <a:prstGeom prst="rect">
            <a:avLst/>
          </a:prstGeom>
          <a:noFill/>
        </p:spPr>
        <p:txBody>
          <a:bodyPr wrap="square">
            <a:spAutoFit/>
          </a:bodyPr>
          <a:lstStyle/>
          <a:p>
            <a:pPr algn="ctr">
              <a:defRPr sz="2800" b="0">
                <a:solidFill>
                  <a:srgbClr val="E8EDF5"/>
                </a:solidFill>
                <a:latin typeface="Calibri"/>
              </a:defRPr>
            </a:pPr>
            <a:r>
              <a:t>🗄️</a:t>
            </a:r>
          </a:p>
        </p:txBody>
      </p:sp>
      <p:sp>
        <p:nvSpPr>
          <p:cNvPr id="29" name="TextBox 28"/>
          <p:cNvSpPr txBox="1"/>
          <p:nvPr/>
        </p:nvSpPr>
        <p:spPr>
          <a:xfrm>
            <a:off x="9822027" y="3840480"/>
            <a:ext cx="1691640" cy="457200"/>
          </a:xfrm>
          <a:prstGeom prst="rect">
            <a:avLst/>
          </a:prstGeom>
          <a:noFill/>
        </p:spPr>
        <p:txBody>
          <a:bodyPr wrap="square">
            <a:spAutoFit/>
          </a:bodyPr>
          <a:lstStyle/>
          <a:p>
            <a:pPr algn="ctr">
              <a:defRPr sz="1600" b="1">
                <a:solidFill>
                  <a:srgbClr val="4ADE80"/>
                </a:solidFill>
                <a:latin typeface="Calibri"/>
              </a:defRPr>
            </a:pPr>
            <a:r>
              <a:t>SAP HANA</a:t>
            </a:r>
          </a:p>
        </p:txBody>
      </p:sp>
      <p:sp>
        <p:nvSpPr>
          <p:cNvPr id="30" name="TextBox 29"/>
          <p:cNvSpPr txBox="1"/>
          <p:nvPr/>
        </p:nvSpPr>
        <p:spPr>
          <a:xfrm>
            <a:off x="9822027" y="4389120"/>
            <a:ext cx="1691640" cy="1188720"/>
          </a:xfrm>
          <a:prstGeom prst="rect">
            <a:avLst/>
          </a:prstGeom>
          <a:noFill/>
        </p:spPr>
        <p:txBody>
          <a:bodyPr wrap="square">
            <a:spAutoFit/>
          </a:bodyPr>
          <a:lstStyle/>
          <a:p>
            <a:pPr algn="ctr">
              <a:defRPr sz="1300" b="0">
                <a:solidFill>
                  <a:srgbClr val="6B7FA3"/>
                </a:solidFill>
                <a:latin typeface="Calibri"/>
              </a:defRPr>
            </a:pPr>
            <a:r>
              <a:t>Live SAP data queried in real-time, results returned</a:t>
            </a:r>
          </a:p>
        </p:txBody>
      </p:sp>
      <p:sp>
        <p:nvSpPr>
          <p:cNvPr id="31" name="TextBox 30"/>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502920" y="274320"/>
            <a:ext cx="320040" cy="320040"/>
          </a:xfrm>
          <a:prstGeom prst="roundRect">
            <a:avLst>
              <a:gd name="adj" fmla="val 15000"/>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a:solidFill>
                  <a:srgbClr val="FFFFFF"/>
                </a:solidFill>
              </a:defRPr>
            </a:pPr>
            <a:r>
              <a:t>✦</a:t>
            </a:r>
          </a:p>
        </p:txBody>
      </p:sp>
      <p:sp>
        <p:nvSpPr>
          <p:cNvPr id="3" name="TextBox 2"/>
          <p:cNvSpPr txBox="1"/>
          <p:nvPr/>
        </p:nvSpPr>
        <p:spPr>
          <a:xfrm>
            <a:off x="914400" y="274320"/>
            <a:ext cx="3200400" cy="365760"/>
          </a:xfrm>
          <a:prstGeom prst="rect">
            <a:avLst/>
          </a:prstGeom>
          <a:noFill/>
        </p:spPr>
        <p:txBody>
          <a:bodyPr wrap="square">
            <a:spAutoFit/>
          </a:bodyPr>
          <a:lstStyle/>
          <a:p>
            <a:pPr algn="l">
              <a:defRPr sz="1400" b="1">
                <a:solidFill>
                  <a:srgbClr val="4F9CF9"/>
                </a:solidFill>
                <a:latin typeface="Calibri"/>
              </a:defRPr>
            </a:pPr>
            <a:r>
              <a:t>CHAT WITH YOUR SAP DATA</a:t>
            </a:r>
          </a:p>
        </p:txBody>
      </p:sp>
      <p:sp>
        <p:nvSpPr>
          <p:cNvPr id="4" name="Rounded Rectangle 3"/>
          <p:cNvSpPr/>
          <p:nvPr/>
        </p:nvSpPr>
        <p:spPr>
          <a:xfrm>
            <a:off x="5029200" y="1280160"/>
            <a:ext cx="1280160" cy="320040"/>
          </a:xfrm>
          <a:prstGeom prst="roundRect">
            <a:avLst>
              <a:gd name="adj" fmla="val 50000"/>
            </a:avLst>
          </a:prstGeom>
          <a:solidFill>
            <a:srgbClr val="182943"/>
          </a:solidFill>
          <a:ln w="12700">
            <a:solidFill>
              <a:srgbClr val="1E365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4F9CF9"/>
                </a:solidFill>
              </a:defRPr>
            </a:pPr>
            <a:r>
              <a:t>Next steps</a:t>
            </a:r>
          </a:p>
        </p:txBody>
      </p:sp>
      <p:sp>
        <p:nvSpPr>
          <p:cNvPr id="5" name="TextBox 4"/>
          <p:cNvSpPr txBox="1"/>
          <p:nvPr/>
        </p:nvSpPr>
        <p:spPr>
          <a:xfrm>
            <a:off x="1828800" y="1828800"/>
            <a:ext cx="8503920" cy="1097280"/>
          </a:xfrm>
          <a:prstGeom prst="rect">
            <a:avLst/>
          </a:prstGeom>
          <a:noFill/>
        </p:spPr>
        <p:txBody>
          <a:bodyPr wrap="square">
            <a:spAutoFit/>
          </a:bodyPr>
          <a:lstStyle/>
          <a:p>
            <a:pPr algn="ctr">
              <a:defRPr sz="4200" b="1">
                <a:solidFill>
                  <a:srgbClr val="E8EDF5"/>
                </a:solidFill>
                <a:latin typeface="Calibri"/>
              </a:defRPr>
            </a:pPr>
            <a:r>
              <a:t>From conversation</a:t>
            </a:r>
            <a:br/>
            <a:r>
              <a:t>to action in SAP</a:t>
            </a:r>
          </a:p>
        </p:txBody>
      </p:sp>
      <p:sp>
        <p:nvSpPr>
          <p:cNvPr id="6" name="TextBox 5"/>
          <p:cNvSpPr txBox="1"/>
          <p:nvPr/>
        </p:nvSpPr>
        <p:spPr>
          <a:xfrm>
            <a:off x="2743200" y="3017520"/>
            <a:ext cx="6675120" cy="548640"/>
          </a:xfrm>
          <a:prstGeom prst="rect">
            <a:avLst/>
          </a:prstGeom>
          <a:noFill/>
        </p:spPr>
        <p:txBody>
          <a:bodyPr wrap="square">
            <a:spAutoFit/>
          </a:bodyPr>
          <a:lstStyle/>
          <a:p>
            <a:pPr algn="ctr">
              <a:defRPr sz="1600" b="0">
                <a:solidFill>
                  <a:srgbClr val="6B7FA3"/>
                </a:solidFill>
                <a:latin typeface="Calibri"/>
              </a:defRPr>
            </a:pPr>
            <a:r>
              <a:t>One AI agent. Six domains. Unlimited natural language queries</a:t>
            </a:r>
            <a:br/>
            <a:r>
              <a:t>against live SAP data — delivered in Microsoft Teams.</a:t>
            </a:r>
          </a:p>
        </p:txBody>
      </p:sp>
      <p:sp>
        <p:nvSpPr>
          <p:cNvPr id="7" name="Rounded Rectangle 6"/>
          <p:cNvSpPr/>
          <p:nvPr/>
        </p:nvSpPr>
        <p:spPr>
          <a:xfrm>
            <a:off x="700887" y="3931920"/>
            <a:ext cx="2560320" cy="164592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767" y="4114800"/>
            <a:ext cx="2194560" cy="274320"/>
          </a:xfrm>
          <a:prstGeom prst="rect">
            <a:avLst/>
          </a:prstGeom>
          <a:noFill/>
        </p:spPr>
        <p:txBody>
          <a:bodyPr wrap="square">
            <a:spAutoFit/>
          </a:bodyPr>
          <a:lstStyle/>
          <a:p>
            <a:pPr algn="l">
              <a:defRPr sz="1300" b="1">
                <a:solidFill>
                  <a:srgbClr val="4F9CF9"/>
                </a:solidFill>
                <a:latin typeface="Calibri"/>
              </a:defRPr>
            </a:pPr>
            <a:r>
              <a:t>STEP 01</a:t>
            </a:r>
          </a:p>
        </p:txBody>
      </p:sp>
      <p:sp>
        <p:nvSpPr>
          <p:cNvPr id="9" name="TextBox 8"/>
          <p:cNvSpPr txBox="1"/>
          <p:nvPr/>
        </p:nvSpPr>
        <p:spPr>
          <a:xfrm>
            <a:off x="883767" y="4480560"/>
            <a:ext cx="2194560" cy="914400"/>
          </a:xfrm>
          <a:prstGeom prst="rect">
            <a:avLst/>
          </a:prstGeom>
          <a:noFill/>
        </p:spPr>
        <p:txBody>
          <a:bodyPr wrap="square">
            <a:spAutoFit/>
          </a:bodyPr>
          <a:lstStyle/>
          <a:p>
            <a:pPr algn="l">
              <a:defRPr sz="1500" b="1">
                <a:solidFill>
                  <a:srgbClr val="E8EDF5"/>
                </a:solidFill>
                <a:latin typeface="Calibri"/>
              </a:defRPr>
            </a:pPr>
            <a:r>
              <a:t>Identify pilot use case &amp; define data scope</a:t>
            </a:r>
          </a:p>
        </p:txBody>
      </p:sp>
      <p:sp>
        <p:nvSpPr>
          <p:cNvPr id="10" name="Rounded Rectangle 9"/>
          <p:cNvSpPr/>
          <p:nvPr/>
        </p:nvSpPr>
        <p:spPr>
          <a:xfrm>
            <a:off x="3444087" y="3931920"/>
            <a:ext cx="2560320" cy="164592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26967" y="4114800"/>
            <a:ext cx="2194560" cy="274320"/>
          </a:xfrm>
          <a:prstGeom prst="rect">
            <a:avLst/>
          </a:prstGeom>
          <a:noFill/>
        </p:spPr>
        <p:txBody>
          <a:bodyPr wrap="square">
            <a:spAutoFit/>
          </a:bodyPr>
          <a:lstStyle/>
          <a:p>
            <a:pPr algn="l">
              <a:defRPr sz="1300" b="1">
                <a:solidFill>
                  <a:srgbClr val="00D4AA"/>
                </a:solidFill>
                <a:latin typeface="Calibri"/>
              </a:defRPr>
            </a:pPr>
            <a:r>
              <a:t>STEP 02</a:t>
            </a:r>
          </a:p>
        </p:txBody>
      </p:sp>
      <p:sp>
        <p:nvSpPr>
          <p:cNvPr id="12" name="TextBox 11"/>
          <p:cNvSpPr txBox="1"/>
          <p:nvPr/>
        </p:nvSpPr>
        <p:spPr>
          <a:xfrm>
            <a:off x="3626967" y="4480560"/>
            <a:ext cx="2194560" cy="914400"/>
          </a:xfrm>
          <a:prstGeom prst="rect">
            <a:avLst/>
          </a:prstGeom>
          <a:noFill/>
        </p:spPr>
        <p:txBody>
          <a:bodyPr wrap="square">
            <a:spAutoFit/>
          </a:bodyPr>
          <a:lstStyle/>
          <a:p>
            <a:pPr algn="l">
              <a:defRPr sz="1500" b="1">
                <a:solidFill>
                  <a:srgbClr val="E8EDF5"/>
                </a:solidFill>
                <a:latin typeface="Calibri"/>
              </a:defRPr>
            </a:pPr>
            <a:r>
              <a:t>Configure Azure Function + system prompt with table schema</a:t>
            </a:r>
          </a:p>
        </p:txBody>
      </p:sp>
      <p:sp>
        <p:nvSpPr>
          <p:cNvPr id="13" name="Rounded Rectangle 12"/>
          <p:cNvSpPr/>
          <p:nvPr/>
        </p:nvSpPr>
        <p:spPr>
          <a:xfrm>
            <a:off x="6187287" y="3931920"/>
            <a:ext cx="2560320" cy="164592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0167" y="4114800"/>
            <a:ext cx="2194560" cy="274320"/>
          </a:xfrm>
          <a:prstGeom prst="rect">
            <a:avLst/>
          </a:prstGeom>
          <a:noFill/>
        </p:spPr>
        <p:txBody>
          <a:bodyPr wrap="square">
            <a:spAutoFit/>
          </a:bodyPr>
          <a:lstStyle/>
          <a:p>
            <a:pPr algn="l">
              <a:defRPr sz="1300" b="1">
                <a:solidFill>
                  <a:srgbClr val="A78BFA"/>
                </a:solidFill>
                <a:latin typeface="Calibri"/>
              </a:defRPr>
            </a:pPr>
            <a:r>
              <a:t>STEP 03</a:t>
            </a:r>
          </a:p>
        </p:txBody>
      </p:sp>
      <p:sp>
        <p:nvSpPr>
          <p:cNvPr id="15" name="TextBox 14"/>
          <p:cNvSpPr txBox="1"/>
          <p:nvPr/>
        </p:nvSpPr>
        <p:spPr>
          <a:xfrm>
            <a:off x="6370167" y="4480560"/>
            <a:ext cx="2194560" cy="914400"/>
          </a:xfrm>
          <a:prstGeom prst="rect">
            <a:avLst/>
          </a:prstGeom>
          <a:noFill/>
        </p:spPr>
        <p:txBody>
          <a:bodyPr wrap="square">
            <a:spAutoFit/>
          </a:bodyPr>
          <a:lstStyle/>
          <a:p>
            <a:pPr algn="l">
              <a:defRPr sz="1500" b="1">
                <a:solidFill>
                  <a:srgbClr val="E8EDF5"/>
                </a:solidFill>
                <a:latin typeface="Calibri"/>
              </a:defRPr>
            </a:pPr>
            <a:r>
              <a:t>Deploy Power Virtual Agent in Teams &amp; validate with users</a:t>
            </a:r>
          </a:p>
        </p:txBody>
      </p:sp>
      <p:sp>
        <p:nvSpPr>
          <p:cNvPr id="16" name="Rounded Rectangle 15"/>
          <p:cNvSpPr/>
          <p:nvPr/>
        </p:nvSpPr>
        <p:spPr>
          <a:xfrm>
            <a:off x="8930487" y="3931920"/>
            <a:ext cx="2560320" cy="1645920"/>
          </a:xfrm>
          <a:prstGeom prst="roundRect">
            <a:avLst>
              <a:gd name="adj" fmla="val 5000"/>
            </a:avLst>
          </a:prstGeom>
          <a:solidFill>
            <a:srgbClr val="131929"/>
          </a:solidFill>
          <a:ln w="12700">
            <a:solidFill>
              <a:srgbClr val="1E2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13367" y="4114800"/>
            <a:ext cx="2194560" cy="274320"/>
          </a:xfrm>
          <a:prstGeom prst="rect">
            <a:avLst/>
          </a:prstGeom>
          <a:noFill/>
        </p:spPr>
        <p:txBody>
          <a:bodyPr wrap="square">
            <a:spAutoFit/>
          </a:bodyPr>
          <a:lstStyle/>
          <a:p>
            <a:pPr algn="l">
              <a:defRPr sz="1300" b="1">
                <a:solidFill>
                  <a:srgbClr val="F5A623"/>
                </a:solidFill>
                <a:latin typeface="Calibri"/>
              </a:defRPr>
            </a:pPr>
            <a:r>
              <a:t>STEP 04</a:t>
            </a:r>
          </a:p>
        </p:txBody>
      </p:sp>
      <p:sp>
        <p:nvSpPr>
          <p:cNvPr id="18" name="TextBox 17"/>
          <p:cNvSpPr txBox="1"/>
          <p:nvPr/>
        </p:nvSpPr>
        <p:spPr>
          <a:xfrm>
            <a:off x="9113367" y="4480560"/>
            <a:ext cx="2194560" cy="914400"/>
          </a:xfrm>
          <a:prstGeom prst="rect">
            <a:avLst/>
          </a:prstGeom>
          <a:noFill/>
        </p:spPr>
        <p:txBody>
          <a:bodyPr wrap="square">
            <a:spAutoFit/>
          </a:bodyPr>
          <a:lstStyle/>
          <a:p>
            <a:pPr algn="l">
              <a:defRPr sz="1500" b="1">
                <a:solidFill>
                  <a:srgbClr val="E8EDF5"/>
                </a:solidFill>
                <a:latin typeface="Calibri"/>
              </a:defRPr>
            </a:pPr>
            <a:r>
              <a:t>Expand to additional domains &amp; enable write actions</a:t>
            </a:r>
          </a:p>
        </p:txBody>
      </p:sp>
      <p:sp>
        <p:nvSpPr>
          <p:cNvPr id="19" name="TextBox 18"/>
          <p:cNvSpPr txBox="1"/>
          <p:nvPr/>
        </p:nvSpPr>
        <p:spPr>
          <a:xfrm>
            <a:off x="10058400" y="6309360"/>
            <a:ext cx="1828800" cy="365760"/>
          </a:xfrm>
          <a:prstGeom prst="rect">
            <a:avLst/>
          </a:prstGeom>
          <a:noFill/>
        </p:spPr>
        <p:txBody>
          <a:bodyPr wrap="square">
            <a:spAutoFit/>
          </a:bodyPr>
          <a:lstStyle/>
          <a:p>
            <a:pPr algn="r">
              <a:defRPr sz="1400" b="0">
                <a:solidFill>
                  <a:srgbClr val="3D506E"/>
                </a:solidFill>
                <a:latin typeface="Calibri"/>
              </a:defRPr>
            </a:pPr>
            <a: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