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28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DEVGTM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78BFA"/>
                </a:solidFill>
              </a:rPr>
              <a:t>AI INNOVATION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920240"/>
            <a:ext cx="9418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E8EDF5"/>
                </a:solidFill>
              </a:rPr>
              <a:t>AI Use Cases in DevGTM Mesh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B7FA3"/>
                </a:solidFill>
              </a:rPr>
              <a:t>10 AI capabilities that turn 6 integrations into one intelligent GTM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389120"/>
            <a:ext cx="2194560" cy="457200"/>
          </a:xfrm>
          <a:prstGeom prst="rect">
            <a:avLst/>
          </a:prstGeom>
          <a:solidFill>
            <a:srgbClr val="131929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407408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78BFA"/>
                </a:solidFill>
              </a:rPr>
              <a:t>Intelligence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4389120"/>
            <a:ext cx="2194560" cy="457200"/>
          </a:xfrm>
          <a:prstGeom prst="rect">
            <a:avLst/>
          </a:prstGeom>
          <a:solidFill>
            <a:srgbClr val="131929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4407408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D4BF"/>
                </a:solidFill>
              </a:rPr>
              <a:t>Conversation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4389120"/>
            <a:ext cx="2194560" cy="457200"/>
          </a:xfrm>
          <a:prstGeom prst="rect">
            <a:avLst/>
          </a:prstGeom>
          <a:solidFill>
            <a:srgbClr val="131929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4407408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</a:rPr>
              <a:t>Prioritization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4389120"/>
            <a:ext cx="2194560" cy="457200"/>
          </a:xfrm>
          <a:prstGeom prst="rect">
            <a:avLst/>
          </a:prstGeom>
          <a:solidFill>
            <a:srgbClr val="131929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4407408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0A5FA"/>
                </a:solidFill>
              </a:rPr>
              <a:t>Data Foundation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FA3"/>
                </a:solidFill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28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DEVGTM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8EDF5"/>
                </a:solidFill>
              </a:rPr>
              <a:t>Six integrations, one AI-unified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459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B7FA3"/>
                </a:solidFill>
              </a:rPr>
              <a:t>DevGTM Mesh targets developer-led GTM motions. AI is the normalization and reasoning layer across all six sources.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94560"/>
            <a:ext cx="3749039" cy="1600200"/>
          </a:xfrm>
          <a:prstGeom prst="rect">
            <a:avLst/>
          </a:prstGeom>
          <a:solidFill>
            <a:srgbClr val="131929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331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78BFA"/>
                </a:solidFill>
              </a:rPr>
              <a:t>HubSpot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974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FA3"/>
                </a:solidFill>
              </a:rPr>
              <a:t>CRM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175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DD4"/>
                </a:solidFill>
              </a:rPr>
              <a:t>Companies, contacts, deals — baseline account record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194560"/>
            <a:ext cx="3749039" cy="1600200"/>
          </a:xfrm>
          <a:prstGeom prst="rect">
            <a:avLst/>
          </a:prstGeom>
          <a:solidFill>
            <a:srgbClr val="131929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331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DD4BF"/>
                </a:solidFill>
              </a:rPr>
              <a:t>Reo.Dev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6974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FA3"/>
                </a:solidFill>
              </a:rPr>
              <a:t>DEVELOPER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0175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DD4"/>
                </a:solidFill>
              </a:rPr>
              <a:t>Accounts, developers, buyers, product-usage signals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194560"/>
            <a:ext cx="3749039" cy="1600200"/>
          </a:xfrm>
          <a:prstGeom prst="rect">
            <a:avLst/>
          </a:prstGeom>
          <a:solidFill>
            <a:srgbClr val="131929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331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</a:rPr>
              <a:t>Fireflies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6974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FA3"/>
                </a:solidFill>
              </a:rPr>
              <a:t>MEETING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0175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DD4"/>
                </a:solidFill>
              </a:rPr>
              <a:t>Transcripts, summaries, action items, sentiment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023360"/>
            <a:ext cx="3749039" cy="1600200"/>
          </a:xfrm>
          <a:prstGeom prst="rect">
            <a:avLst/>
          </a:prstGeom>
          <a:solidFill>
            <a:srgbClr val="131929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160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0A5FA"/>
                </a:solidFill>
              </a:rPr>
              <a:t>Instantly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526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FA3"/>
                </a:solidFill>
              </a:rPr>
              <a:t>EMAIL OUTREACH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463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DD4"/>
                </a:solidFill>
              </a:rPr>
              <a:t>Campaign stats and email engagement 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4023360"/>
            <a:ext cx="3749039" cy="1600200"/>
          </a:xfrm>
          <a:prstGeom prst="rect">
            <a:avLst/>
          </a:prstGeom>
          <a:solidFill>
            <a:srgbClr val="131929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4160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472B6"/>
                </a:solidFill>
              </a:rPr>
              <a:t>HeyReach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526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FA3"/>
                </a:solidFill>
              </a:rPr>
              <a:t>LINKEDIN OUTREACH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8463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DD4"/>
                </a:solidFill>
              </a:rPr>
              <a:t>Campaign stats and LinkedIn lead lists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4023360"/>
            <a:ext cx="3749039" cy="1600200"/>
          </a:xfrm>
          <a:prstGeom prst="rect">
            <a:avLst/>
          </a:prstGeom>
          <a:solidFill>
            <a:srgbClr val="13192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4160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4D399"/>
                </a:solidFill>
              </a:rPr>
              <a:t>Firecrawl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526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FA3"/>
                </a:solidFill>
              </a:rPr>
              <a:t>WEB EXTRACTION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8463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DD4"/>
                </a:solidFill>
              </a:rPr>
              <a:t>Domain content extraction for research and enrichment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FA3"/>
                </a:solidFill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28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DEVGTM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AI USE CASE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EDF5"/>
                </a:solidFill>
              </a:rPr>
              <a:t>10 use cases · 4 categories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00200"/>
            <a:ext cx="2788920" cy="502920"/>
          </a:xfrm>
          <a:prstGeom prst="rect">
            <a:avLst/>
          </a:prstGeom>
          <a:solidFill>
            <a:srgbClr val="131929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18488"/>
            <a:ext cx="27889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78BFA"/>
                </a:solidFill>
              </a:rPr>
              <a:t>INTELLIGENCE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40280"/>
            <a:ext cx="2788920" cy="132588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2377440"/>
            <a:ext cx="411480" cy="411480"/>
          </a:xfrm>
          <a:prstGeom prst="rect">
            <a:avLst/>
          </a:prstGeom>
          <a:solidFill>
            <a:srgbClr val="131929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240487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78BFA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50008"/>
            <a:ext cx="2130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DF5"/>
                </a:solidFill>
              </a:rPr>
              <a:t>AI Research 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34640"/>
            <a:ext cx="2130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FA3"/>
                </a:solidFill>
              </a:rPr>
              <a:t>Claude reasoning + web context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703320"/>
            <a:ext cx="2788920" cy="132588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3840480"/>
            <a:ext cx="411480" cy="411480"/>
          </a:xfrm>
          <a:prstGeom prst="rect">
            <a:avLst/>
          </a:prstGeom>
          <a:solidFill>
            <a:srgbClr val="131929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386791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78BFA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13048"/>
            <a:ext cx="2130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DF5"/>
                </a:solidFill>
              </a:rPr>
              <a:t>AI Pitch Generator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297680"/>
            <a:ext cx="2130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FA3"/>
                </a:solidFill>
              </a:rPr>
              <a:t>LLM personalization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166360"/>
            <a:ext cx="2788920" cy="132588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5303520"/>
            <a:ext cx="411480" cy="411480"/>
          </a:xfrm>
          <a:prstGeom prst="rect">
            <a:avLst/>
          </a:prstGeom>
          <a:solidFill>
            <a:srgbClr val="131929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533095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78BFA"/>
                </a:solidFill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76088"/>
            <a:ext cx="2130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DF5"/>
                </a:solidFill>
              </a:rPr>
              <a:t>Enrichment Intelligence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760720"/>
            <a:ext cx="2130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FA3"/>
                </a:solidFill>
              </a:rPr>
              <a:t>LLM-driven firmographics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64408" y="1600200"/>
            <a:ext cx="2788920" cy="502920"/>
          </a:xfrm>
          <a:prstGeom prst="rect">
            <a:avLst/>
          </a:prstGeom>
          <a:solidFill>
            <a:srgbClr val="131929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64408" y="1618488"/>
            <a:ext cx="27889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DD4BF"/>
                </a:solidFill>
              </a:rPr>
              <a:t>CONVERSATION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64408" y="2240280"/>
            <a:ext cx="2788920" cy="132588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74136" y="2377440"/>
            <a:ext cx="411480" cy="411480"/>
          </a:xfrm>
          <a:prstGeom prst="rect">
            <a:avLst/>
          </a:prstGeom>
          <a:solidFill>
            <a:srgbClr val="131929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74136" y="240487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D4BF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58768" y="2350008"/>
            <a:ext cx="2130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DF5"/>
                </a:solidFill>
              </a:rPr>
              <a:t>Streaming Chat Interface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58768" y="2834640"/>
            <a:ext cx="2130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FA3"/>
                </a:solidFill>
              </a:rPr>
              <a:t>Claude streaming API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64408" y="3703320"/>
            <a:ext cx="2788920" cy="132588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74136" y="3840480"/>
            <a:ext cx="411480" cy="411480"/>
          </a:xfrm>
          <a:prstGeom prst="rect">
            <a:avLst/>
          </a:prstGeom>
          <a:solidFill>
            <a:srgbClr val="131929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74136" y="386791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D4BF"/>
                </a:solidFill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58768" y="3813048"/>
            <a:ext cx="2130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DF5"/>
                </a:solidFill>
              </a:rPr>
              <a:t>Meeting Intelligence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58768" y="4297680"/>
            <a:ext cx="2130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FA3"/>
                </a:solidFill>
              </a:rPr>
              <a:t>Speech-to-text + summarization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64408" y="5166360"/>
            <a:ext cx="2788920" cy="132588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74136" y="5303520"/>
            <a:ext cx="411480" cy="411480"/>
          </a:xfrm>
          <a:prstGeom prst="rect">
            <a:avLst/>
          </a:prstGeom>
          <a:solidFill>
            <a:srgbClr val="131929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74136" y="533095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D4BF"/>
                </a:solidFill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58768" y="5276088"/>
            <a:ext cx="2130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DF5"/>
                </a:solidFill>
              </a:rPr>
              <a:t>AI-First Dashboard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58768" y="5760720"/>
            <a:ext cx="2130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FA3"/>
                </a:solidFill>
              </a:rPr>
              <a:t>Agentic UI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54496" y="1600200"/>
            <a:ext cx="2788920" cy="502920"/>
          </a:xfrm>
          <a:prstGeom prst="rect">
            <a:avLst/>
          </a:prstGeom>
          <a:solidFill>
            <a:srgbClr val="131929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54496" y="1618488"/>
            <a:ext cx="27889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PRIORITIZATION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54496" y="2240280"/>
            <a:ext cx="2788920" cy="132588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64224" y="2377440"/>
            <a:ext cx="411480" cy="411480"/>
          </a:xfrm>
          <a:prstGeom prst="rect">
            <a:avLst/>
          </a:prstGeom>
          <a:solidFill>
            <a:srgbClr val="131929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64224" y="240487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48856" y="2350008"/>
            <a:ext cx="2130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DF5"/>
                </a:solidFill>
              </a:rPr>
              <a:t>Intent Scoring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48856" y="2834640"/>
            <a:ext cx="2130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FA3"/>
                </a:solidFill>
              </a:rPr>
              <a:t>Weighted signal aggregation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54496" y="3703320"/>
            <a:ext cx="2788920" cy="132588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64224" y="3840480"/>
            <a:ext cx="411480" cy="411480"/>
          </a:xfrm>
          <a:prstGeom prst="rect">
            <a:avLst/>
          </a:prstGeom>
          <a:solidFill>
            <a:srgbClr val="131929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64224" y="386791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48856" y="3813048"/>
            <a:ext cx="2130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DF5"/>
                </a:solidFill>
              </a:rPr>
              <a:t>SDR Auto-Assignment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48856" y="4297680"/>
            <a:ext cx="2130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FA3"/>
                </a:solidFill>
              </a:rPr>
              <a:t>Rule + AI scoring hybrid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44584" y="1600200"/>
            <a:ext cx="2788920" cy="502920"/>
          </a:xfrm>
          <a:prstGeom prst="rect">
            <a:avLst/>
          </a:prstGeom>
          <a:solidFill>
            <a:srgbClr val="131929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44584" y="1618488"/>
            <a:ext cx="27889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0A5FA"/>
                </a:solidFill>
              </a:rPr>
              <a:t>DATA FOUNDATION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44584" y="2240280"/>
            <a:ext cx="2788920" cy="132588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354312" y="2377440"/>
            <a:ext cx="411480" cy="411480"/>
          </a:xfrm>
          <a:prstGeom prst="rect">
            <a:avLst/>
          </a:prstGeom>
          <a:solidFill>
            <a:srgbClr val="131929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54312" y="240487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0A5FA"/>
                </a:solidFill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38944" y="2350008"/>
            <a:ext cx="2130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DF5"/>
                </a:solidFill>
              </a:rPr>
              <a:t>Cross-Source Normalization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38944" y="2834640"/>
            <a:ext cx="2130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FA3"/>
                </a:solidFill>
              </a:rPr>
              <a:t>Domain-match entity resolution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244584" y="3703320"/>
            <a:ext cx="2788920" cy="132588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354312" y="3840480"/>
            <a:ext cx="411480" cy="411480"/>
          </a:xfrm>
          <a:prstGeom prst="rect">
            <a:avLst/>
          </a:prstGeom>
          <a:solidFill>
            <a:srgbClr val="131929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54312" y="386791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0A5FA"/>
                </a:solidFill>
              </a:rPr>
              <a:t>10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38944" y="3813048"/>
            <a:ext cx="2130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DF5"/>
                </a:solidFill>
              </a:rPr>
              <a:t>Web Extraction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38944" y="4297680"/>
            <a:ext cx="2130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FA3"/>
                </a:solidFill>
              </a:rPr>
              <a:t>LLM-guided scraping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FA3"/>
                </a:solidFill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28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DEVGTM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A78BFA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DF5"/>
                </a:solidFill>
              </a:rPr>
              <a:t>AI Research 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5176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BDD4"/>
                </a:solidFill>
              </a:rPr>
              <a:t>Automates manual prospect research. Firecrawl scrapes the company domain; Claude synthesizes a structured research brief and streams it into the account panel.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7490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FA3"/>
                </a:solidFill>
              </a:rPr>
              <a:t>AI TECHNIQUE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1605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▸  Firecrawl extracts unstructured web content from target domain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6634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▸  Claude reasoning synthesizes raw text into structured brief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1663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▸  Streaming API delivers output token-by-token in real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669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▸  Replaces 15–30 min of manual SDR research per account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97880" y="548640"/>
            <a:ext cx="18288" cy="6080760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685800"/>
            <a:ext cx="5852160" cy="4389120"/>
          </a:xfrm>
          <a:prstGeom prst="rect">
            <a:avLst/>
          </a:prstGeom>
          <a:solidFill>
            <a:srgbClr val="131929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84124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Account Research Agent — stripe.com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1298448"/>
            <a:ext cx="5852160" cy="18288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417320"/>
            <a:ext cx="55778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DD4"/>
                </a:solidFill>
              </a:rPr>
              <a:t>Stripe — Payment Infrastructure (2010)
HQ: San Francisco · 8,000+ employees
Tech stack: Ruby, Go, React, AWS, Kubernetes
Recent: Series I at $95B valuation, EU expansion
Key contacts: CEO Patrick Collison, CTO David Singleton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5212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FA3"/>
                </a:solidFill>
              </a:rPr>
              <a:t>DATA SOURCES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5577840"/>
            <a:ext cx="2121408" cy="36576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5596128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Firecrawl scrape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39328" y="5577840"/>
            <a:ext cx="2999232" cy="36576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0768" y="5596128"/>
            <a:ext cx="2816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Claude claude-3-5-sonnet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75720" y="5577840"/>
            <a:ext cx="2670048" cy="36576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567160" y="5596128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enrichment_data table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FA3"/>
                </a:solidFill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28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DEVGTM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A78BFA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DF5"/>
                </a:solidFill>
              </a:rPr>
              <a:t>AI Pitch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5176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BDD4"/>
                </a:solidFill>
              </a:rPr>
              <a:t>Generates a personalized outreach pitch from account signals and research context. Output saved as a shareable slug-based page — contextually justified, not template-merged.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7490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FA3"/>
                </a:solidFill>
              </a:rPr>
              <a:t>AI TECHNIQUE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1605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▸  LLM reads normalized account data + research brief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6634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▸  Reasons about why this account should care right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1663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▸  Generates pitch + saves to pitch_pages with unique slug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669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▸  SDR sends URL — not a generic templated email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97880" y="548640"/>
            <a:ext cx="18288" cy="6080760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685800"/>
            <a:ext cx="5852160" cy="4389120"/>
          </a:xfrm>
          <a:prstGeom prst="rect">
            <a:avLst/>
          </a:prstGeom>
          <a:solidFill>
            <a:srgbClr val="131929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84124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Pitch Generator — Stripe (intent score: 87)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1298448"/>
            <a:ext cx="5852160" cy="18288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417320"/>
            <a:ext cx="55778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DD4"/>
                </a:solidFill>
              </a:rPr>
              <a:t>Hi Patrick — noticed Stripe's developer relations
team grew 40% this quarter and you're expanding EU.
[Product] helps teams track developer adoption
signals before they appear in usage data.
pitch.devgtm.io/stripe-q1-2025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5212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FA3"/>
                </a:solidFill>
              </a:rPr>
              <a:t>DATA SOURCES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5577840"/>
            <a:ext cx="1901952" cy="36576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5596128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accounts table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19872" y="5577840"/>
            <a:ext cx="2011679" cy="36576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2" y="5596128"/>
            <a:ext cx="18287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enrichment_data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68711" y="5577840"/>
            <a:ext cx="1682495" cy="36576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60151" y="5596128"/>
            <a:ext cx="14996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signal_score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088366" y="5577840"/>
            <a:ext cx="2231136" cy="36576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179806" y="5596128"/>
            <a:ext cx="2048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pitch_pages 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FA3"/>
                </a:solidFill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28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DEVGTM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2DD4BF"/>
                </a:solidFill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</a:rPr>
              <a:t>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DF5"/>
                </a:solidFill>
              </a:rPr>
              <a:t>Streaming Chat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5176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BDD4"/>
                </a:solidFill>
              </a:rPr>
              <a:t>A Claude-powered conversational layer over the entire GTM dataset. Real-time analyst-style Q&amp;A via Server-Sent Events. Replaces static dashboards.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7490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FA3"/>
                </a:solidFill>
              </a:rPr>
              <a:t>AI TECHNIQUE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1605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▸  Claude streaming API (SSE content_block_delta events)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6634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▸  account-ai-chat edge function injects account context as system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1663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▸  Multi-turn conversation with full GTM data as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669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▸  Available globally — on account pages and dashboard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97880" y="548640"/>
            <a:ext cx="18288" cy="6080760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685800"/>
            <a:ext cx="5852160" cy="4389120"/>
          </a:xfrm>
          <a:prstGeom prst="rect">
            <a:avLst/>
          </a:prstGeom>
          <a:solidFill>
            <a:srgbClr val="131929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84124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</a:rPr>
              <a:t>DevGTM Chat — activity spike query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1298448"/>
            <a:ext cx="5852160" cy="18288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417320"/>
            <a:ext cx="55778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DD4"/>
                </a:solidFill>
              </a:rPr>
              <a:t>Q: Which accounts spiked in activity this week?
3 accounts with 2x+ activity spike:
1. Datadog (+340%) — 12 dev events, 2 new buyers
2. Vercel (+210%) — repo activity surge elevated
3. Clerk (+190%) — meeting booked, score now 91▲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5212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FA3"/>
                </a:solidFill>
              </a:rPr>
              <a:t>DATA SOURCES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5577840"/>
            <a:ext cx="2889503" cy="36576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5596128"/>
            <a:ext cx="270662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account-ai-chat edge fn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07423" y="5577840"/>
            <a:ext cx="1792224" cy="36576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3" y="5596128"/>
            <a:ext cx="16093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SSE streaming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036807" y="5577840"/>
            <a:ext cx="2121408" cy="36576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28247" y="5596128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activities table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FA3"/>
                </a:solidFill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28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DEVGTM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PRIORITIZATION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DF5"/>
                </a:solidFill>
              </a:rPr>
              <a:t>Intent Scoring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5176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BDD4"/>
                </a:solidFill>
              </a:rPr>
              <a:t>Weighted signal aggregation across all six integration sources. compute-intent-scores edge function writes a signal_score per account. AI explains the ranking.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7490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FA3"/>
                </a:solidFill>
              </a:rPr>
              <a:t>AI TECHNIQUE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1605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▸  HubSpot: deal stage, activity recency, contact 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6634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▸  Reo.Dev: developer events, buyer signals, repo 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1663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▸  Fireflies: meeting recency, sentiment, action items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669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▸  Instantly / HeyReach: email opens, replies, connection rate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97880" y="548640"/>
            <a:ext cx="18288" cy="6080760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685800"/>
            <a:ext cx="5852160" cy="4389120"/>
          </a:xfrm>
          <a:prstGeom prst="rect">
            <a:avLst/>
          </a:prstGeom>
          <a:solidFill>
            <a:srgbClr val="131929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84124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Intent Score Breakdown — Clerk.dev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1298448"/>
            <a:ext cx="5852160" cy="18288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417320"/>
            <a:ext cx="55778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DD4"/>
                </a:solidFill>
              </a:rPr>
              <a:t>Score: 91 / 100
HubSpot activity  (w: 0.25)  →  88
Reo.Dev dev sigs  (w: 0.35)  →  96
Meeting recency   (w: 0.20)  →  90
Outreach engage   (w: 0.20)  →  82
Trend: ↑ 23 pts this week
Reason: 4 new devs, deal active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5212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FA3"/>
                </a:solidFill>
              </a:rPr>
              <a:t>DATA SOURCES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5577840"/>
            <a:ext cx="2450591" cy="36576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5596128"/>
            <a:ext cx="226771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intent_score_config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68511" y="5577840"/>
            <a:ext cx="2670048" cy="36576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59951" y="5596128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compute-intent-scores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75719" y="5577840"/>
            <a:ext cx="2340864" cy="36576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567159" y="5596128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signal_score field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FA3"/>
                </a:solidFill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28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DEVGTM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60A5FA"/>
                </a:solidFill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</a:rPr>
              <a:t>DATA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DF5"/>
                </a:solidFill>
              </a:rPr>
              <a:t>Cross-Source Normalization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5176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BDD4"/>
                </a:solidFill>
              </a:rPr>
              <a:t>Domain-match entity resolution creates one canonical account record from six integration sources. The prerequisite for every other AI use case in the stack.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7490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FA3"/>
                </a:solidFill>
              </a:rPr>
              <a:t>AI TECHNIQUE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1605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▸  HubSpot 'Stripe Inc' + Reo.Dev 'stripe.com' + Fireflies '@stripe.com' → one record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6634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▸  domain_mappings table tracks source-to-canonical linkage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1663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▸  Prerequisite for intent scoring, research, and pitch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669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▸  Manual override layer handles subsidiaries and rebrand cases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97880" y="548640"/>
            <a:ext cx="18288" cy="6080760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685800"/>
            <a:ext cx="5852160" cy="4389120"/>
          </a:xfrm>
          <a:prstGeom prst="rect">
            <a:avLst/>
          </a:prstGeom>
          <a:solidFill>
            <a:srgbClr val="131929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84124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</a:rPr>
              <a:t>normalize-sync-data — stripe.com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1298448"/>
            <a:ext cx="5852160" cy="18288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417320"/>
            <a:ext cx="55778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DD4"/>
                </a:solidFill>
              </a:rPr>
              <a:t>HubSpot  → 'Stripe Inc'       ✓ matched
Reo.Dev  → 'stripe.com'       ✓ matched
Fireflies→ '@stripe.com'      ✓ matched
Instantly→ 'stripe.com'       ✓ matched
HeyReach → 'Stripe'           ✓ matched
Canonical account: stripe.com
5 sources merged → 1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5212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FA3"/>
                </a:solidFill>
              </a:rPr>
              <a:t>DATA SOURCES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5577840"/>
            <a:ext cx="1901952" cy="36576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5596128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accounts table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19872" y="5577840"/>
            <a:ext cx="2011679" cy="36576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2" y="5596128"/>
            <a:ext cx="18287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domain_mappings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68711" y="5577840"/>
            <a:ext cx="3328415" cy="36576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60151" y="5596128"/>
            <a:ext cx="31455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normalize-sync-data edge fn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FA3"/>
                </a:solidFill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28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DEVGTM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2DD4BF"/>
                </a:solidFill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</a:rPr>
              <a:t>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DF5"/>
                </a:solidFill>
              </a:rPr>
              <a:t>AI-First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5176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BDD4"/>
                </a:solidFill>
              </a:rPr>
              <a:t>Replaces the traditional metrics grid with an intent-driven interface. Global Claude chat panel with context-aware suggested prompts. Dashboard as agent.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7490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FA3"/>
                </a:solidFill>
              </a:rPr>
              <a:t>AI TECHNIQUE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1605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▸  Surfaces what matters — ranked by intent score, not recency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6634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▸  Suggested prompts adapt to current account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1663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▸  Dashboard as agent — surfaces, suggests, executes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669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▸  Integration health displayed without switching tools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97880" y="548640"/>
            <a:ext cx="18288" cy="6080760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685800"/>
            <a:ext cx="5852160" cy="4389120"/>
          </a:xfrm>
          <a:prstGeom prst="rect">
            <a:avLst/>
          </a:prstGeom>
          <a:solidFill>
            <a:srgbClr val="131929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84124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</a:rPr>
              <a:t>DevGTM Dashboard — Top Accounts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1298448"/>
            <a:ext cx="5852160" cy="18288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417320"/>
            <a:ext cx="55778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DD4"/>
                </a:solidFill>
              </a:rPr>
              <a:t>Top Accounts by Intent Score:
1. Clerk.dev    ▪ Score: 91  ↑ HOT
2. Datadog      ▪ Score: 87  ↑
3. Vercel       ▪ Score: 84  →
4. Linear       ▪ Score: 78  →
Suggested: 'Why did Clerk spike?'
Suggested: 'Draft pitch for Datadog'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5212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FA3"/>
                </a:solidFill>
              </a:rPr>
              <a:t>DATA SOURCES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5577840"/>
            <a:ext cx="2560320" cy="36576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559612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signal_score ranking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0" y="5577840"/>
            <a:ext cx="2231136" cy="36576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0" y="5596128"/>
            <a:ext cx="2048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integration stats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146536" y="5577840"/>
            <a:ext cx="2231136" cy="36576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37976" y="5596128"/>
            <a:ext cx="2048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global chat panel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FA3"/>
                </a:solidFill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28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DEVGTM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2DD4BF"/>
                </a:solidFill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</a:rPr>
              <a:t>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DF5"/>
                </a:solidFill>
              </a:rPr>
              <a:t>Meeting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5176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BDD4"/>
                </a:solidFill>
              </a:rPr>
              <a:t>Fireflies transcripts matched to accounts by participant email domain. Meeting summaries and sentiment scores surface on the account page.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7490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FA3"/>
                </a:solidFill>
              </a:rPr>
              <a:t>AI TECHNIQUE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1605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▸  Fireflies GraphQL API pulls transcript, summary, sentiment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6634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▸  Participant email domains matched to canonical accounts 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1663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▸  Speech-to-text + summarization creates structured meeting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669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▸  SDR sees every prior call context before entering a meeting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97880" y="548640"/>
            <a:ext cx="18288" cy="6080760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685800"/>
            <a:ext cx="5852160" cy="4389120"/>
          </a:xfrm>
          <a:prstGeom prst="rect">
            <a:avLst/>
          </a:prstGeom>
          <a:solidFill>
            <a:srgbClr val="131929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84124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</a:rPr>
              <a:t>Fireflies — Clerk.dev meeting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1298448"/>
            <a:ext cx="5852160" cy="18288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417320"/>
            <a:ext cx="55778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DD4"/>
                </a:solidFill>
              </a:rPr>
              <a:t>Meeting: 2025-04-22 · 34 min
Participants: sarah@clerk.dev, alex@yourco.com
Summary: Discussed auth SDK roadmap, interest in
team plan upgrade. Sarah asked about SOC2 timeline.
Sentiment: Positive (0.78)
Action: Send SOC2 report by Friday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5212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FA3"/>
                </a:solidFill>
              </a:rPr>
              <a:t>DATA SOURCES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5577840"/>
            <a:ext cx="2779775" cy="36576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5596128"/>
            <a:ext cx="25968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sync-fireflies edge fn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97695" y="5577840"/>
            <a:ext cx="2231136" cy="36576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89135" y="5596128"/>
            <a:ext cx="2048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Fireflies GraphQL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365991" y="5577840"/>
            <a:ext cx="2889503" cy="36576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57431" y="5596128"/>
            <a:ext cx="270662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domain match → accounts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FA3"/>
                </a:solidFill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28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DEVGTM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A78BFA"/>
                </a:solidFill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DF5"/>
                </a:solidFill>
              </a:rPr>
              <a:t>Enrichment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5176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BDD4"/>
                </a:solidFill>
              </a:rPr>
              <a:t>LLM-driven firmographic enrichment fills the gaps that CRM records leave empty. Firecrawl + Claude infers industry, tech stack, funding stage, and social profiles.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7490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FA3"/>
                </a:solidFill>
              </a:rPr>
              <a:t>AI TECHNIQUE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1605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▸  Firecrawl scrapes company domain on account creation or sync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6634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▸  Claude structured output: industry, tech stack, funding, 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1663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▸  Live inference from company's own web presence — not static 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669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▸  Results written to enrichment_data, surfaced on account page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97880" y="548640"/>
            <a:ext cx="18288" cy="6080760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685800"/>
            <a:ext cx="5852160" cy="4389120"/>
          </a:xfrm>
          <a:prstGeom prst="rect">
            <a:avLst/>
          </a:prstGeom>
          <a:solidFill>
            <a:srgbClr val="131929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84124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Enrichment Output — linear.app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1298448"/>
            <a:ext cx="5852160" cy="18288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417320"/>
            <a:ext cx="55778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DD4"/>
                </a:solidFill>
              </a:rPr>
              <a:t>Industry: Developer Tools / PM Software
Tech stack: TypeScript, React, Electron,
  GraphQL, Cloudflare Workers
Funding: Series B ($35M, 2021)
HQ: San Francisco, CA
GitHub: linear · 8,400 stars
Jobs: Hiring Sr. Eng (4 roles open)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5212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FA3"/>
                </a:solidFill>
              </a:rPr>
              <a:t>DATA SOURCES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5577840"/>
            <a:ext cx="2670048" cy="36576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5596128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enrichment_data table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87968" y="5577840"/>
            <a:ext cx="2231136" cy="36576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9408" y="5596128"/>
            <a:ext cx="2048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Firecrawl extract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256264" y="5577840"/>
            <a:ext cx="2999232" cy="36576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47704" y="5596128"/>
            <a:ext cx="2816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Claude structured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FA3"/>
                </a:solidFill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28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DEVGTM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59E0B"/>
                </a:solidFill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PRIORITIZATION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DF5"/>
                </a:solidFill>
              </a:rPr>
              <a:t>SDR Auto-Assignment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5176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BDD4"/>
                </a:solidFill>
              </a:rPr>
              <a:t>Routes accounts to sales reps using a hybrid of rule-based logic and AI scoring. Human manager confirms or overrides AI recommendations.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7490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FA3"/>
                </a:solidFill>
              </a:rPr>
              <a:t>AI TECHNIQUE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1605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▸  Rule layer: territory, industry, employee count filters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6634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▸  AI layer: intent score sorts priority within each rep's territory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1663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▸  Assignment modal surfaces AI recommendations for manager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669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▸  account_assignments table tracks SDR, notes, and override reason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97880" y="548640"/>
            <a:ext cx="18288" cy="6080760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685800"/>
            <a:ext cx="5852160" cy="4389120"/>
          </a:xfrm>
          <a:prstGeom prst="rect">
            <a:avLst/>
          </a:prstGeom>
          <a:solidFill>
            <a:srgbClr val="131929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84124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SDR Assignment Modal — Clerk.dev (score: 91)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1298448"/>
            <a:ext cx="5852160" cy="18288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417320"/>
            <a:ext cx="55778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DD4"/>
                </a:solidFill>
              </a:rPr>
              <a:t>Recommended: Sarah Chen (West Coast)
Reason: Territory match + highest capacity
  + 3 prior Clerk touchpoints
Alternatives:
• Marcus Webb  (East) — at capacity
• Priya Sharma (EMEA) — wrong region
[ Assign to Sarah ]  [ Override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5212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FA3"/>
                </a:solidFill>
              </a:rPr>
              <a:t>DATA SOURCES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5577840"/>
            <a:ext cx="2450591" cy="36576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5596128"/>
            <a:ext cx="226771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account_assignments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68511" y="5577840"/>
            <a:ext cx="1682495" cy="36576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59951" y="5596128"/>
            <a:ext cx="14996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signal_score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88166" y="5577840"/>
            <a:ext cx="2121408" cy="36576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79606" y="5596128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rule + AI hybrid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FA3"/>
                </a:solidFill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28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DEVGTM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60A5FA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</a:rPr>
              <a:t>DATA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DF5"/>
                </a:solidFill>
              </a:rPr>
              <a:t>Web Extraction (Firecrawl)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5176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BDD4"/>
                </a:solidFill>
              </a:rPr>
              <a:t>LLM-guided scraping pulls structured data from any company website. Extraction logic expressed as a prompt — adapts automatically to site changes.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7490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FA3"/>
                </a:solidFill>
              </a:rPr>
              <a:t>AI TECHNIQUE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1605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▸  Firecrawl handles JS rendering and bot protection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6634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▸  Claude interprets unstructured HTML → structured JSON fields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1663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▸  Prompt-driven extraction adapts to site changes — no brittle selectors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669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▸  Feeds enrichment_data, research bot, and pitch generator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97880" y="548640"/>
            <a:ext cx="18288" cy="6080760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685800"/>
            <a:ext cx="5852160" cy="4389120"/>
          </a:xfrm>
          <a:prstGeom prst="rect">
            <a:avLst/>
          </a:prstGeom>
          <a:solidFill>
            <a:srgbClr val="131929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84124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</a:rPr>
              <a:t>Firecrawl Extraction — resend.com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1298448"/>
            <a:ext cx="5852160" cy="18288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417320"/>
            <a:ext cx="55778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DD4"/>
                </a:solidFill>
              </a:rPr>
              <a:t>Product: Transactional email API for developers
Tech: Next.js, TypeScript, React
Open roles: 6 (3x engineering)
Pricing: Free → Pro → Scale
Blog: 'Why we rebuilt on Cloudflare Workers'
Hiring signal: Strong (6 open roles)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5212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FA3"/>
                </a:solidFill>
              </a:rPr>
              <a:t>DATA SOURCES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5577840"/>
            <a:ext cx="1792224" cy="36576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5596128"/>
            <a:ext cx="16093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Firecrawl API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10144" y="5577840"/>
            <a:ext cx="2999232" cy="36576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01584" y="5596128"/>
            <a:ext cx="2816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Claude extraction prompt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146536" y="5577840"/>
            <a:ext cx="2670048" cy="36576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37976" y="5596128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enrichment_data write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FA3"/>
                </a:solidFill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28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DEVGTM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ARCHITECTURE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8EDF5"/>
                </a:solidFill>
              </a:rPr>
              <a:t>Normalize  →  Score  →  Reason  →  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459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B7FA3"/>
                </a:solidFill>
              </a:rPr>
              <a:t>Each layer depends on the one below it. You cannot reason well about data that is not normalized.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40280"/>
            <a:ext cx="11430000" cy="960120"/>
          </a:xfrm>
          <a:prstGeom prst="rect">
            <a:avLst/>
          </a:prstGeom>
          <a:solidFill>
            <a:srgbClr val="131929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29514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2432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0A5FA"/>
                </a:solidFill>
              </a:rPr>
              <a:t>Normalize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295144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EDF5"/>
                </a:solidFill>
              </a:rPr>
              <a:t>Domain-match entity resolution — one account from six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660904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FA3"/>
                </a:solidFill>
              </a:rPr>
              <a:t>normalize-sync-data edge fn · domain_mappings table · prerequisite for all layers above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916936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</a:rPr>
              <a:t>UC 5: Cross-Source Normalization · UC 10: Web Extraction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91840"/>
            <a:ext cx="11430000" cy="960120"/>
          </a:xfrm>
          <a:prstGeom prst="rect">
            <a:avLst/>
          </a:prstGeom>
          <a:solidFill>
            <a:srgbClr val="131929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4670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7588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</a:rPr>
              <a:t>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346704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EDF5"/>
                </a:solidFill>
              </a:rPr>
              <a:t>Weighted signal aggregation — surfaces in-market accounts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712464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FA3"/>
                </a:solidFill>
              </a:rPr>
              <a:t>compute-intent-scores · configurable weights · signal_score written to accounts 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968496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UC 4: Intent Scoring · UC 9: SDR Auto-Assignment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343400"/>
            <a:ext cx="11430000" cy="960120"/>
          </a:xfrm>
          <a:prstGeom prst="rect">
            <a:avLst/>
          </a:prstGeom>
          <a:solidFill>
            <a:srgbClr val="131929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39826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72744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78BFA"/>
                </a:solidFill>
              </a:rPr>
              <a:t>Reason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398264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EDF5"/>
                </a:solidFill>
              </a:rPr>
              <a:t>Claude analyzes context — research, pitches, conversational Q&amp;A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764024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FA3"/>
                </a:solidFill>
              </a:rPr>
              <a:t>Claude API (claude-3-5-sonnet) · account-ai-chat · streaming SSE · structured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5020056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UC 1: Research Bot · UC 2: Pitch Generator · UC 3: Chat Interface · UC 8: Enrichment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394960"/>
            <a:ext cx="11430000" cy="960120"/>
          </a:xfrm>
          <a:prstGeom prst="rect">
            <a:avLst/>
          </a:prstGeom>
          <a:solidFill>
            <a:srgbClr val="131929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44982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77900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DD4BF"/>
                </a:solidFill>
              </a:rPr>
              <a:t>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5449824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EDF5"/>
                </a:solidFill>
              </a:rPr>
              <a:t>SDR assignment, outreach generation, agentic UI — the outcomes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5815584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FA3"/>
                </a:solidFill>
              </a:rPr>
              <a:t>pitch_pages · account_assignments · AI-First Dashboard · automated sequences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6071616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</a:rPr>
              <a:t>UC 6: AI Dashboard · UC 7: Meeting Intelligence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FA3"/>
                </a:solidFill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28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DEVGTM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</a:rPr>
              <a:t>DESIGN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8EDF5"/>
                </a:solidFill>
              </a:rPr>
              <a:t>Why domain as the join key?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5577840" cy="1920240"/>
          </a:xfrm>
          <a:prstGeom prst="rect">
            <a:avLst/>
          </a:prstGeom>
          <a:solidFill>
            <a:srgbClr val="131929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0A5FA"/>
                </a:solidFill>
              </a:rPr>
              <a:t>The three alternatives considered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04288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7171"/>
                </a:solidFill>
              </a:rPr>
              <a:t>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0428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DD4"/>
                </a:solidFill>
              </a:rPr>
              <a:t>Company name — fails on spelling variants, subsidiaries, legal entity differences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61488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7171"/>
                </a:solidFill>
              </a:rPr>
              <a:t>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6148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DD4"/>
                </a:solidFill>
              </a:rPr>
              <a:t>D&amp;B / DUNS identifier — precise but requires paid enrichment on every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18688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1868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DD4"/>
                </a:solidFill>
              </a:rPr>
              <a:t>Company domain — covers vast majority of B2B accounts, in every integration, free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49039"/>
            <a:ext cx="5577840" cy="1463040"/>
          </a:xfrm>
          <a:prstGeom prst="rect">
            <a:avLst/>
          </a:prstGeom>
          <a:solidFill>
            <a:srgbClr val="131929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8404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0A5FA"/>
                </a:solidFill>
              </a:rPr>
              <a:t>When it works well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9768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DD4"/>
                </a:solidFill>
              </a:rPr>
              <a:t>Direct company email domains — stripe.com = stripe.com across all six sources. Covers 85–90% of typical B2B account lists without manual intervention.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737360"/>
            <a:ext cx="5577840" cy="2286000"/>
          </a:xfrm>
          <a:prstGeom prst="rect">
            <a:avLst/>
          </a:prstGeom>
          <a:solidFill>
            <a:srgbClr val="131929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8288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Known failure cases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33172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9E0B"/>
                </a:solidFill>
              </a:rPr>
              <a:t>⚠  Subsidiaries — child company email differs from parent domain in CRM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834639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9E0B"/>
                </a:solidFill>
              </a:rPr>
              <a:t>⚠  Personal emails — @gmail.com / @yahoo.com contacts cannot be matched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33756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9E0B"/>
                </a:solidFill>
              </a:rPr>
              <a:t>⚠  Rebrands — domain changed; old records don't reconcile automatically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4160520"/>
            <a:ext cx="5577840" cy="1051560"/>
          </a:xfrm>
          <a:prstGeom prst="rect">
            <a:avLst/>
          </a:prstGeom>
          <a:solidFill>
            <a:srgbClr val="131929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2519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DE80"/>
                </a:solidFill>
              </a:rPr>
              <a:t>The mitigation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6634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DD4"/>
                </a:solidFill>
              </a:rPr>
              <a:t>domain_mappings includes a manual override layer. Operators link variant domains to the canonical account. Broad coverage now, precision via override.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FA3"/>
                </a:solidFill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28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DEVGTM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STACK CHOICE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8EDF5"/>
                </a:solidFill>
              </a:rPr>
              <a:t>Deterministic plumbing + probabilistic reasoning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459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B7FA3"/>
                </a:solidFill>
              </a:rPr>
              <a:t>Built in 26 Claude prompts inside Lovable. Clean separation between what should be deterministic and what benefits from AI flexibility.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94560"/>
            <a:ext cx="5577840" cy="4206240"/>
          </a:xfrm>
          <a:prstGeom prst="rect">
            <a:avLst/>
          </a:prstGeom>
          <a:solidFill>
            <a:srgbClr val="131929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A78BFA"/>
                </a:solidFill>
              </a:rPr>
              <a:t>Lovable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992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7FA3"/>
                </a:solidFill>
              </a:rPr>
              <a:t>DETERMINISTIC PLUMBING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64992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Handles UI scaffolding, data flows, authentication, integration sync logic, and Supabase edge functions. Everything that behaves identically every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DD4"/>
                </a:solidFill>
              </a:rPr>
              <a:t>▸  Dark navy design system (hsl 232 30% 10%)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451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DD4"/>
                </a:solidFill>
              </a:rPr>
              <a:t>▸  26 discrete implementation steps, one prompt each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8406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DD4"/>
                </a:solidFill>
              </a:rPr>
              <a:t>▸  Route protection + role-based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522975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DD4"/>
                </a:solidFill>
              </a:rPr>
              <a:t>▸  Secrets via Lovable Cloud — never hardcoded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194560"/>
            <a:ext cx="5577840" cy="4206240"/>
          </a:xfrm>
          <a:prstGeom prst="rect">
            <a:avLst/>
          </a:prstGeom>
          <a:solidFill>
            <a:srgbClr val="131929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33172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DD4BF"/>
                </a:solidFill>
              </a:rPr>
              <a:t>Claude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9992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7FA3"/>
                </a:solidFill>
              </a:rPr>
              <a:t>PROBABILISTIC REASONING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364992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Handles research synthesis, pitch generation, intent explanation, and conversational Q&amp;A. Model: claude-3-5-sonnet.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2062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DD4"/>
                </a:solidFill>
              </a:rPr>
              <a:t>▸  Streaming API (SSE) for real-time chat responses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6451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DD4"/>
                </a:solidFill>
              </a:rPr>
              <a:t>▸  Structured output for enrichment fields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08406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DD4"/>
                </a:solidFill>
              </a:rPr>
              <a:t>▸  Account context as system prompt for grounded answers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5522975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DD4"/>
                </a:solidFill>
              </a:rPr>
              <a:t>▸  ANTHROPIC_API_KEY via Lovable Cloud secrets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FA3"/>
                </a:solidFill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28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DEVGTM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8EDF5"/>
                </a:solidFill>
              </a:rPr>
              <a:t>Three principles that make AI GTM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3749039" cy="4572000"/>
          </a:xfrm>
          <a:prstGeom prst="rect">
            <a:avLst/>
          </a:prstGeom>
          <a:solidFill>
            <a:srgbClr val="131929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60A5FA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0A5FA"/>
                </a:solidFill>
              </a:rPr>
              <a:t>Normalize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3756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No amount of AI reasoning compensates for fragmented, inconsistent source data. Domain-match normalization is the prerequisite for every other use case. Build the data foundation before the AI layer.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828800"/>
            <a:ext cx="3749039" cy="4572000"/>
          </a:xfrm>
          <a:prstGeom prst="rect">
            <a:avLst/>
          </a:prstGeom>
          <a:solidFill>
            <a:srgbClr val="131929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9202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A78BFA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7432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78BFA"/>
                </a:solidFill>
              </a:rPr>
              <a:t>AI as the Read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33756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The highest-leverage AI applications in DevGTM Mesh are read actions — research synthesis, pitch generation, conversational analytics. The AI reads the normalized data and surfaces insight. It does not replace the data layer; it interprets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828800"/>
            <a:ext cx="3749039" cy="4572000"/>
          </a:xfrm>
          <a:prstGeom prst="rect">
            <a:avLst/>
          </a:prstGeom>
          <a:solidFill>
            <a:srgbClr val="131929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9202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2DD4BF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432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DD4BF"/>
                </a:solidFill>
              </a:rPr>
              <a:t>Agentic UI as Endpoint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33756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The goal is not a smarter dashboard — it is a system that knows what to surface, when to surface it, and can act on it when asked. The AI-first dashboard and global chat panel are the interface expression of the Normalize → Score → Reason → Act stack.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FA3"/>
                </a:solidFill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28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DEVGTM MESH</a:t>
            </a:r>
          </a:p>
        </p:txBody>
      </p:sp>
      <p:sp>
        <p:nvSpPr>
          <p:cNvPr id="4" name="Rectangle 3"/>
          <p:cNvSpPr/>
          <p:nvPr/>
        </p:nvSpPr>
        <p:spPr>
          <a:xfrm>
            <a:off x="-914400" y="-914400"/>
            <a:ext cx="4572000" cy="4572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78BFA"/>
                </a:solidFill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8EDF5"/>
                </a:solidFill>
              </a:rPr>
              <a:t>10 AI use cases. One intelligent GTM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24612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B7FA3"/>
                </a:solidFill>
              </a:rPr>
              <a:t>DevGTM Mesh turns six developer-focused integrations into a unified, AI-powered GTM platform. Normalize. Score. Reason. Act.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114800"/>
            <a:ext cx="2560320" cy="1645920"/>
          </a:xfrm>
          <a:prstGeom prst="rect">
            <a:avLst/>
          </a:prstGeom>
          <a:solidFill>
            <a:srgbClr val="131929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422452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SOURCE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4617720"/>
            <a:ext cx="2194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EDF5"/>
                </a:solidFill>
              </a:rPr>
              <a:t>getreo.dev/resources/
devgtm-mesh-build-guide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4114800"/>
            <a:ext cx="2560320" cy="1645920"/>
          </a:xfrm>
          <a:prstGeom prst="rect">
            <a:avLst/>
          </a:prstGeom>
          <a:solidFill>
            <a:srgbClr val="131929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422452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</a:rPr>
              <a:t>AI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4617720"/>
            <a:ext cx="2194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EDF5"/>
                </a:solidFill>
              </a:rPr>
              <a:t>Anthropic Claude
claude-3-5-sonnet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4114800"/>
            <a:ext cx="2560320" cy="1645920"/>
          </a:xfrm>
          <a:prstGeom prst="rect">
            <a:avLst/>
          </a:prstGeom>
          <a:solidFill>
            <a:srgbClr val="131929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422452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</a:rPr>
              <a:t>PLATFORM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4617720"/>
            <a:ext cx="2194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EDF5"/>
                </a:solidFill>
              </a:rPr>
              <a:t>Lovable + Supabase
+ 6 integrations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4114800"/>
            <a:ext cx="2560320" cy="1645920"/>
          </a:xfrm>
          <a:prstGeom prst="rect">
            <a:avLst/>
          </a:prstGeom>
          <a:solidFill>
            <a:srgbClr val="131929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4272" y="422452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BUILD METHOD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4272" y="4617720"/>
            <a:ext cx="2194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EDF5"/>
                </a:solidFill>
              </a:rPr>
              <a:t>26 prompts in Lovable
One step per prompt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FA3"/>
                </a:solidFill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